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6858000" cy="9144000"/>
  <p:embeddedFontLst>
    <p:embeddedFont>
      <p:font typeface="Raleway"/>
      <p:regular r:id="rId16"/>
      <p:bold r:id="rId17"/>
      <p:italic r:id="rId18"/>
      <p:boldItalic r:id="rId19"/>
    </p:embeddedFont>
    <p:embeddedFont>
      <p:font typeface="La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Lato-regular.fntdata"/><Relationship Id="rId11" Type="http://schemas.openxmlformats.org/officeDocument/2006/relationships/slide" Target="slides/slide7.xml"/><Relationship Id="rId22" Type="http://schemas.openxmlformats.org/officeDocument/2006/relationships/font" Target="fonts/Lato-italic.fntdata"/><Relationship Id="rId10" Type="http://schemas.openxmlformats.org/officeDocument/2006/relationships/slide" Target="slides/slide6.xml"/><Relationship Id="rId21" Type="http://schemas.openxmlformats.org/officeDocument/2006/relationships/font" Target="fonts/Lato-bold.fntdata"/><Relationship Id="rId13" Type="http://schemas.openxmlformats.org/officeDocument/2006/relationships/slide" Target="slides/slide9.xml"/><Relationship Id="rId12" Type="http://schemas.openxmlformats.org/officeDocument/2006/relationships/slide" Target="slides/slide8.xml"/><Relationship Id="rId23" Type="http://schemas.openxmlformats.org/officeDocument/2006/relationships/font" Target="fonts/Lato-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Raleway-bold.fntdata"/><Relationship Id="rId16" Type="http://schemas.openxmlformats.org/officeDocument/2006/relationships/font" Target="fonts/Raleway-regular.fntdata"/><Relationship Id="rId5" Type="http://schemas.openxmlformats.org/officeDocument/2006/relationships/slide" Target="slides/slide1.xml"/><Relationship Id="rId19" Type="http://schemas.openxmlformats.org/officeDocument/2006/relationships/font" Target="fonts/Raleway-boldItalic.fntdata"/><Relationship Id="rId6" Type="http://schemas.openxmlformats.org/officeDocument/2006/relationships/slide" Target="slides/slide2.xml"/><Relationship Id="rId18" Type="http://schemas.openxmlformats.org/officeDocument/2006/relationships/font" Target="fonts/Raleway-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4af0c25c95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4af0c25c95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4af0c25c95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4af0c25c95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4db74ffe2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4db74ffe2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4af0c25c95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4af0c25c95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4db74ffe2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4db74ffe2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4db74ffe2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4db74ffe2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4db74ffe2d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4db74ffe2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4db74ffe2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4db74ffe2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4dc5a627a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4dc5a627a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4dc5a627a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4dc5a627a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www.youtube.com/watch?v=rO2SScF6rrM" TargetMode="External"/><Relationship Id="rId4"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bbc.com/news/technology-18419691"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www.youtube.com/watch?v=ZiLrF46ypSg" TargetMode="External"/><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3600"/>
              <a:t>The First Electronic Computers</a:t>
            </a:r>
            <a:endParaRPr sz="3600"/>
          </a:p>
          <a:p>
            <a:pPr indent="0" lvl="0" marL="0" rtl="0" algn="l">
              <a:spcBef>
                <a:spcPts val="0"/>
              </a:spcBef>
              <a:spcAft>
                <a:spcPts val="0"/>
              </a:spcAft>
              <a:buNone/>
            </a:pPr>
            <a:r>
              <a:rPr lang="en-GB" sz="3000"/>
              <a:t>Colossus and ENIAC</a:t>
            </a:r>
            <a:endParaRPr sz="3000"/>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1942-1946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What constitutes a Computer?</a:t>
            </a:r>
            <a:endParaRPr/>
          </a:p>
        </p:txBody>
      </p:sp>
      <p:sp>
        <p:nvSpPr>
          <p:cNvPr id="93" name="Google Shape;93;p1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GB"/>
              <a:t>Charles Babbage designed a mechanical computing </a:t>
            </a:r>
            <a:r>
              <a:rPr lang="en-GB"/>
              <a:t>machine</a:t>
            </a:r>
            <a:r>
              <a:rPr lang="en-GB"/>
              <a:t> called the Difference Engine in 1822.</a:t>
            </a:r>
            <a:endParaRPr/>
          </a:p>
          <a:p>
            <a:pPr indent="-311150" lvl="0" marL="457200" rtl="0" algn="l">
              <a:spcBef>
                <a:spcPts val="0"/>
              </a:spcBef>
              <a:spcAft>
                <a:spcPts val="0"/>
              </a:spcAft>
              <a:buSzPts val="1300"/>
              <a:buChar char="●"/>
            </a:pPr>
            <a:r>
              <a:rPr lang="en-GB"/>
              <a:t>His later concept for an Analytical Engine is considered the first general mechanical computer comprising a basic processing and storage of data.</a:t>
            </a:r>
            <a:endParaRPr/>
          </a:p>
          <a:p>
            <a:pPr indent="-311150" lvl="0" marL="457200" rtl="0" algn="l">
              <a:spcBef>
                <a:spcPts val="0"/>
              </a:spcBef>
              <a:spcAft>
                <a:spcPts val="0"/>
              </a:spcAft>
              <a:buSzPts val="1300"/>
              <a:buChar char="●"/>
            </a:pPr>
            <a:r>
              <a:rPr lang="en-GB"/>
              <a:t>Ada Lovelace published an algorithm for the machine and showed it could be programmed by punch cards.</a:t>
            </a:r>
            <a:endParaRPr/>
          </a:p>
          <a:p>
            <a:pPr indent="-311150" lvl="0" marL="457200" rtl="0" algn="l">
              <a:spcBef>
                <a:spcPts val="0"/>
              </a:spcBef>
              <a:spcAft>
                <a:spcPts val="0"/>
              </a:spcAft>
              <a:buSzPts val="1300"/>
              <a:buChar char="●"/>
            </a:pPr>
            <a:r>
              <a:rPr lang="en-GB"/>
              <a:t>Konrad Zuse designed the Z1 in the late 1930’s, an electro mechanical programmable computer.</a:t>
            </a:r>
            <a:endParaRPr/>
          </a:p>
          <a:p>
            <a:pPr indent="-311150" lvl="0" marL="457200" rtl="0" algn="l">
              <a:spcBef>
                <a:spcPts val="0"/>
              </a:spcBef>
              <a:spcAft>
                <a:spcPts val="0"/>
              </a:spcAft>
              <a:buSzPts val="1300"/>
              <a:buChar char="●"/>
            </a:pPr>
            <a:r>
              <a:rPr lang="en-GB"/>
              <a:t>The Harvard Mark 1 was a more sophisticated version which was first programmed by John von Neumann at the end of WWII.</a:t>
            </a:r>
            <a:endParaRPr/>
          </a:p>
          <a:p>
            <a:pPr indent="-311150" lvl="0" marL="457200" rtl="0" algn="l">
              <a:spcBef>
                <a:spcPts val="0"/>
              </a:spcBef>
              <a:spcAft>
                <a:spcPts val="0"/>
              </a:spcAft>
              <a:buSzPts val="1300"/>
              <a:buChar char="●"/>
            </a:pPr>
            <a:r>
              <a:rPr lang="en-GB"/>
              <a:t>The Colossus was the first fully programmable </a:t>
            </a:r>
            <a:r>
              <a:rPr lang="en-GB"/>
              <a:t>electronic</a:t>
            </a:r>
            <a:r>
              <a:rPr lang="en-GB"/>
              <a:t> computer.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Colossus and ENIAC</a:t>
            </a:r>
            <a:endParaRPr/>
          </a:p>
        </p:txBody>
      </p:sp>
      <p:sp>
        <p:nvSpPr>
          <p:cNvPr id="99" name="Google Shape;99;p1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Colossus was the first fully programmable electronic computer.</a:t>
            </a:r>
            <a:endParaRPr/>
          </a:p>
          <a:p>
            <a:pPr indent="0" lvl="0" marL="0" rtl="0" algn="l">
              <a:spcBef>
                <a:spcPts val="1600"/>
              </a:spcBef>
              <a:spcAft>
                <a:spcPts val="0"/>
              </a:spcAft>
              <a:buNone/>
            </a:pPr>
            <a:r>
              <a:rPr lang="en-GB"/>
              <a:t>It was invented and designed by Tommy Flowers and Alan Turing.</a:t>
            </a:r>
            <a:endParaRPr/>
          </a:p>
          <a:p>
            <a:pPr indent="0" lvl="0" marL="0" rtl="0" algn="l">
              <a:spcBef>
                <a:spcPts val="1600"/>
              </a:spcBef>
              <a:spcAft>
                <a:spcPts val="0"/>
              </a:spcAft>
              <a:buNone/>
            </a:pPr>
            <a:r>
              <a:rPr lang="en-GB"/>
              <a:t>It made a major contribution to ending World War II when it helped to crack the codes of Nazi encryption machines.</a:t>
            </a:r>
            <a:endParaRPr/>
          </a:p>
          <a:p>
            <a:pPr indent="0" lvl="0" marL="0" rtl="0" algn="l">
              <a:spcBef>
                <a:spcPts val="1600"/>
              </a:spcBef>
              <a:spcAft>
                <a:spcPts val="1600"/>
              </a:spcAft>
              <a:buNone/>
            </a:pPr>
            <a:r>
              <a:rPr lang="en-GB"/>
              <a:t>Simultaneously in the USA, Eckert and Mauchly built the ENIAC (Electronic Numerical Integrator and Computer) which is often considered to be the first example of a general purpose digital computer.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descr="A documentary about the history of the computer. In this first part, the Colossus computer was created out of the necessity to solve the Enigma and win the second world war. The Colossus was very limited as a decoder of the Enigma.The first electronic general-purpose computer was the ENIAC, designed by John Mauchly and J. Presper Eckert. The need for processing more data led to the creation of the UNIVAC.&#10;&#10;&#10;Subscribe - never miss a video!&#10;https://www.youtube.com/channel/UC_S8ZlDCRkMMgc7ciw8X-hg&#10;&#10;The 20th Century Time Machine takes you back in time to the most important historical events of the past century. Watch documentaries, discussions and real footage of major events that shaped the world we live in today.&#10;https://www.youtube.com/watch?v=EHAZA5h5cmo" id="106" name="Google Shape;106;p16" title="Computer History, Part 1: From Enigma to ENIAC and the UNIVAC.">
            <a:hlinkClick r:id="rId3"/>
          </p:cNvPr>
          <p:cNvPicPr preferRelativeResize="0"/>
          <p:nvPr/>
        </p:nvPicPr>
        <p:blipFill>
          <a:blip r:embed="rId4">
            <a:alphaModFix/>
          </a:blip>
          <a:stretch>
            <a:fillRect/>
          </a:stretch>
        </p:blipFill>
        <p:spPr>
          <a:xfrm>
            <a:off x="2286000" y="857250"/>
            <a:ext cx="4572000" cy="3429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Components of first programmable computers</a:t>
            </a:r>
            <a:endParaRPr/>
          </a:p>
        </p:txBody>
      </p:sp>
      <p:sp>
        <p:nvSpPr>
          <p:cNvPr id="112" name="Google Shape;112;p17"/>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first electronic computers, Colossus and ENIAC, weighed tonnes, occupied large rooms and before the invention of </a:t>
            </a:r>
            <a:r>
              <a:rPr lang="en-GB"/>
              <a:t>semiconducting</a:t>
            </a:r>
            <a:r>
              <a:rPr lang="en-GB"/>
              <a:t> transistors, switching was executed by vacuum tubes.</a:t>
            </a:r>
            <a:endParaRPr/>
          </a:p>
          <a:p>
            <a:pPr indent="0" lvl="0" marL="0" rtl="0" algn="l">
              <a:spcBef>
                <a:spcPts val="1600"/>
              </a:spcBef>
              <a:spcAft>
                <a:spcPts val="0"/>
              </a:spcAft>
              <a:buNone/>
            </a:pPr>
            <a:r>
              <a:rPr lang="en-GB"/>
              <a:t>Military advances during WWII spurred innovation and fast tracked the invention of ENIAC.</a:t>
            </a:r>
            <a:endParaRPr/>
          </a:p>
          <a:p>
            <a:pPr indent="0" lvl="0" marL="0" rtl="0" algn="l">
              <a:spcBef>
                <a:spcPts val="1600"/>
              </a:spcBef>
              <a:spcAft>
                <a:spcPts val="0"/>
              </a:spcAft>
              <a:buNone/>
            </a:pPr>
            <a:r>
              <a:rPr lang="en-GB"/>
              <a:t>The Colossus was rebuilt in Bletchley Park, the top secret British site of WWII decryption.  </a:t>
            </a:r>
            <a:endParaRPr/>
          </a:p>
          <a:p>
            <a:pPr indent="0" lvl="0" marL="0" rtl="0" algn="l">
              <a:spcBef>
                <a:spcPts val="1600"/>
              </a:spcBef>
              <a:spcAft>
                <a:spcPts val="0"/>
              </a:spcAft>
              <a:buNone/>
            </a:pPr>
            <a:r>
              <a:rPr lang="en-GB"/>
              <a:t>The Babbage analytical machine had 4 revolutionary features - input, storage, processing and output components.</a:t>
            </a:r>
            <a:endParaRPr/>
          </a:p>
          <a:p>
            <a:pPr indent="0" lvl="0" marL="0" rtl="0" algn="l">
              <a:spcBef>
                <a:spcPts val="1600"/>
              </a:spcBef>
              <a:spcAft>
                <a:spcPts val="1600"/>
              </a:spcAft>
              <a:buNone/>
            </a:pPr>
            <a:r>
              <a:rPr lang="en-GB"/>
              <a:t>Sequential flow control and looping operations were fundamental to his concept.  Today, the inside of modern computers are not that different.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8"/>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19" name="Google Shape;119;p18"/>
          <p:cNvPicPr preferRelativeResize="0"/>
          <p:nvPr/>
        </p:nvPicPr>
        <p:blipFill>
          <a:blip r:embed="rId3">
            <a:alphaModFix/>
          </a:blip>
          <a:stretch>
            <a:fillRect/>
          </a:stretch>
        </p:blipFill>
        <p:spPr>
          <a:xfrm>
            <a:off x="522638" y="1272925"/>
            <a:ext cx="4848225" cy="3067050"/>
          </a:xfrm>
          <a:prstGeom prst="rect">
            <a:avLst/>
          </a:prstGeom>
          <a:noFill/>
          <a:ln>
            <a:noFill/>
          </a:ln>
        </p:spPr>
      </p:pic>
      <p:sp>
        <p:nvSpPr>
          <p:cNvPr id="120" name="Google Shape;120;p18"/>
          <p:cNvSpPr txBox="1"/>
          <p:nvPr/>
        </p:nvSpPr>
        <p:spPr>
          <a:xfrm>
            <a:off x="5545025" y="1556425"/>
            <a:ext cx="3049800" cy="213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Lato"/>
                <a:ea typeface="Lato"/>
                <a:cs typeface="Lato"/>
                <a:sym typeface="Lato"/>
              </a:rPr>
              <a:t>The Arithmetic Logic Unit (ALU) where instructions are actually carried out is probably the only functional unit that is extra to the original concept.</a:t>
            </a:r>
            <a:endParaRPr>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9"/>
          <p:cNvSpPr txBox="1"/>
          <p:nvPr>
            <p:ph idx="1" type="body"/>
          </p:nvPr>
        </p:nvSpPr>
        <p:spPr>
          <a:xfrm>
            <a:off x="633850" y="1027250"/>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complex relationship between society and computing technology is demonstrated clearly through the invention of the Colossus and ENIAC.</a:t>
            </a:r>
            <a:endParaRPr/>
          </a:p>
          <a:p>
            <a:pPr indent="0" lvl="0" marL="0" rtl="0" algn="l">
              <a:spcBef>
                <a:spcPts val="1600"/>
              </a:spcBef>
              <a:spcAft>
                <a:spcPts val="0"/>
              </a:spcAft>
              <a:buNone/>
            </a:pPr>
            <a:r>
              <a:rPr lang="en-GB"/>
              <a:t>The Colossus had a real impact on the war, shortening it by 2 or 3 years. </a:t>
            </a:r>
            <a:r>
              <a:rPr lang="en-GB" sz="800"/>
              <a:t>(</a:t>
            </a:r>
            <a:r>
              <a:rPr b="1" lang="en-GB" sz="800" u="sng">
                <a:solidFill>
                  <a:schemeClr val="hlink"/>
                </a:solidFill>
                <a:hlinkClick r:id="rId3"/>
              </a:rPr>
              <a:t>https://www.bbc.com/news/technology-18419691</a:t>
            </a:r>
            <a:r>
              <a:rPr b="1" lang="en-GB" sz="800"/>
              <a:t>)</a:t>
            </a:r>
            <a:endParaRPr b="1" sz="800"/>
          </a:p>
          <a:p>
            <a:pPr indent="0" lvl="0" marL="0" rtl="0" algn="l">
              <a:spcBef>
                <a:spcPts val="1600"/>
              </a:spcBef>
              <a:spcAft>
                <a:spcPts val="0"/>
              </a:spcAft>
              <a:buNone/>
            </a:pPr>
            <a:r>
              <a:rPr lang="en-GB"/>
              <a:t>Processing data, encrypting and deciphering codes and crunching numbers became key factors in deciding the outcome of WWII.</a:t>
            </a:r>
            <a:endParaRPr/>
          </a:p>
          <a:p>
            <a:pPr indent="0" lvl="0" marL="0" rtl="0" algn="l">
              <a:spcBef>
                <a:spcPts val="1600"/>
              </a:spcBef>
              <a:spcAft>
                <a:spcPts val="1600"/>
              </a:spcAft>
              <a:buNone/>
            </a:pPr>
            <a:r>
              <a:rPr lang="en-GB"/>
              <a:t>Many military innovations become mainstream technologies.  The US Defence Advanced Research Projects Agency (DARPA) developed the Arpanet in the late 1960’s.  It connected 4 nodes in the USA, developed IP addresses and invented TCP and UDP networking protocols.  In the 1980’ s it evolved into the Internet.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DARPA</a:t>
            </a:r>
            <a:endParaRPr/>
          </a:p>
        </p:txBody>
      </p:sp>
      <p:sp>
        <p:nvSpPr>
          <p:cNvPr id="132" name="Google Shape;132;p20"/>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descr="A lot of things you use on a daily basis have their roots in DARPA projects that were intended for military purposes. Sharon Weinberger, the author of the book &quot;The Imagineers of War,&quot; describes a few of these inventions that you might not have been aware of, like the Roomba.&#10;&#10;Follow Tech Insider: On Facebook&#10;&#10;Following is a transcript of the video:&#10;&#10;So many of the things we use every day is linked to DARPA.&#10;&#10;Sort of the more common example today is the Siri app on the iPhone. That grew directly out of a DARPA-funded project that wasn't picked up by the military. The people working on it spun it off as an independent company, and it was bought by Apple and incorporated into the iPhone.&#10;&#10;I think, sort of, what made DARPA’s reputation was computer networking. DARPA created the ARPANET, which was the first network of computers, which was later transitioned to the civilian internet. And that really cemented DARPA’s reputation as sort of an innovation agency or genius factory.&#10;&#10;Other things that can be linked back to DARPA: GPS. So this is a tricky one. There’s a lot of times that DARPA claims GPS as its invention. It's a little bit more complicated than that. DARPA, for a while, funded the predecessor to GPS called the Transit satellite. But DARPA did not invent GPS. But it gets a little bit of credit there.&#10;&#10;iRobot, the company that makes the Roomba, the robotic vacuum cleaner, basically exists today, and its underlying technology exists because of DARPA funding. So DARPA didn't specifically fund the Roomba, but it funded the company and its military work, which then eventually became the Roomba. What DARPA was interested in, and one of the things that got military funding, was the PackBot, which is made by iRobot, the same people who make Roomba, which was used for bomb disposal.&#10;&#10;I think the most important commercial innovation that is emerging today are autonomous cars, self-driving cars that we’re just now seeing come into their own. That's linked directly back, not just to decades of DARPA funding in robotics, which DARPA did, but also, most importantly, or at least importantly to the mid-2000s, when DARPA started a series of robotic car races called the Grand Challenge. And that really is what jump-started the autonomous care industry.&#10;&#10;DARPA doesn’t make money off of the products it funds. It’s a little bit complicated, especially when dealing with patents and intellectual property. What DARPA gets, and what DARPA hopes to get, is products that will serve the military, that can be used by the military. But if a company wants to spin it off into the commercial realm, it it can and it does.&#10;&#10;Read more: http://www.businessinsider.com/sai&#10;&#10;FACEBOOK: https://www.facebook.com/techinsider&#10;TWITTER: https://twitter.com/techinsider&#10;INSTAGRAM: https://www.instagram.com/businessinsider/&#10;TUMBLR: http://businessinsider.tumblr.com/" id="133" name="Google Shape;133;p20" title="5 Everyday Inventions You Didn’t Know Came From DARPA">
            <a:hlinkClick r:id="rId3"/>
          </p:cNvPr>
          <p:cNvPicPr preferRelativeResize="0"/>
          <p:nvPr/>
        </p:nvPicPr>
        <p:blipFill>
          <a:blip r:embed="rId4">
            <a:alphaModFix/>
          </a:blip>
          <a:stretch>
            <a:fillRect/>
          </a:stretch>
        </p:blipFill>
        <p:spPr>
          <a:xfrm>
            <a:off x="2286000" y="857250"/>
            <a:ext cx="4572000" cy="3429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1"/>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Positive and negative impacts of military innovations on society and on technology</a:t>
            </a:r>
            <a:endParaRPr/>
          </a:p>
        </p:txBody>
      </p:sp>
      <p:sp>
        <p:nvSpPr>
          <p:cNvPr id="139" name="Google Shape;139;p21"/>
          <p:cNvSpPr txBox="1"/>
          <p:nvPr>
            <p:ph idx="1" type="body"/>
          </p:nvPr>
        </p:nvSpPr>
        <p:spPr>
          <a:xfrm>
            <a:off x="729450" y="2522025"/>
            <a:ext cx="7688700" cy="181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000000"/>
                </a:solidFill>
              </a:rPr>
              <a:t>Homework:</a:t>
            </a:r>
            <a:endParaRPr b="1">
              <a:solidFill>
                <a:srgbClr val="000000"/>
              </a:solidFill>
            </a:endParaRPr>
          </a:p>
          <a:p>
            <a:pPr indent="0" lvl="0" marL="0" rtl="0" algn="l">
              <a:spcBef>
                <a:spcPts val="1600"/>
              </a:spcBef>
              <a:spcAft>
                <a:spcPts val="0"/>
              </a:spcAft>
              <a:buNone/>
            </a:pPr>
            <a:r>
              <a:rPr lang="en-GB">
                <a:solidFill>
                  <a:srgbClr val="000000"/>
                </a:solidFill>
              </a:rPr>
              <a:t>Write your thoughts on the positive and negative impacts of military innovations on society and technology.  (10 sentences)</a:t>
            </a:r>
            <a:endParaRPr>
              <a:solidFill>
                <a:srgbClr val="000000"/>
              </a:solidFill>
            </a:endParaRPr>
          </a:p>
          <a:p>
            <a:pPr indent="0" lvl="0" marL="0" rtl="0" algn="l">
              <a:spcBef>
                <a:spcPts val="1600"/>
              </a:spcBef>
              <a:spcAft>
                <a:spcPts val="0"/>
              </a:spcAft>
              <a:buNone/>
            </a:pPr>
            <a:r>
              <a:rPr lang="en-GB">
                <a:solidFill>
                  <a:srgbClr val="000000"/>
                </a:solidFill>
              </a:rPr>
              <a:t>Do you think that the positives have outweighed the negatives and why? </a:t>
            </a:r>
            <a:endParaRPr>
              <a:solidFill>
                <a:srgbClr val="000000"/>
              </a:solidFill>
            </a:endParaRPr>
          </a:p>
          <a:p>
            <a:pPr indent="0" lvl="0" marL="0" rtl="0" algn="l">
              <a:spcBef>
                <a:spcPts val="1600"/>
              </a:spcBef>
              <a:spcAft>
                <a:spcPts val="0"/>
              </a:spcAft>
              <a:buNone/>
            </a:pPr>
            <a:r>
              <a:t/>
            </a:r>
            <a:endParaRPr>
              <a:solidFill>
                <a:srgbClr val="000000"/>
              </a:solidFill>
            </a:endParaRPr>
          </a:p>
          <a:p>
            <a:pPr indent="0" lvl="0" marL="0" rtl="0" algn="l">
              <a:spcBef>
                <a:spcPts val="1600"/>
              </a:spcBef>
              <a:spcAft>
                <a:spcPts val="0"/>
              </a:spcAft>
              <a:buNone/>
            </a:pPr>
            <a:r>
              <a:t/>
            </a:r>
            <a:endParaRPr>
              <a:solidFill>
                <a:srgbClr val="000000"/>
              </a:solidFill>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txBox="1"/>
          <p:nvPr>
            <p:ph idx="1" type="body"/>
          </p:nvPr>
        </p:nvSpPr>
        <p:spPr>
          <a:xfrm>
            <a:off x="231050" y="603600"/>
            <a:ext cx="8690400" cy="438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400">
                <a:solidFill>
                  <a:srgbClr val="000000"/>
                </a:solidFill>
              </a:rPr>
              <a:t>Military innovations, including wartime inventions, have an overall positive impact on society and technology</a:t>
            </a:r>
            <a:endParaRPr b="1" sz="1400">
              <a:solidFill>
                <a:srgbClr val="000000"/>
              </a:solidFill>
            </a:endParaRPr>
          </a:p>
          <a:p>
            <a:pPr indent="0" lvl="0" marL="0" rtl="0" algn="l">
              <a:spcBef>
                <a:spcPts val="1600"/>
              </a:spcBef>
              <a:spcAft>
                <a:spcPts val="0"/>
              </a:spcAft>
              <a:buNone/>
            </a:pPr>
            <a:r>
              <a:t/>
            </a:r>
            <a:endParaRPr b="1" sz="1400">
              <a:solidFill>
                <a:srgbClr val="000000"/>
              </a:solidFill>
            </a:endParaRPr>
          </a:p>
          <a:p>
            <a:pPr indent="0" lvl="0" marL="0" rtl="0" algn="l">
              <a:spcBef>
                <a:spcPts val="1600"/>
              </a:spcBef>
              <a:spcAft>
                <a:spcPts val="0"/>
              </a:spcAft>
              <a:buNone/>
            </a:pPr>
            <a:r>
              <a:rPr b="1" lang="en-GB" sz="1400">
                <a:solidFill>
                  <a:srgbClr val="000000"/>
                </a:solidFill>
              </a:rPr>
              <a:t>________________________________________________________________________________________________________________________</a:t>
            </a:r>
            <a:endParaRPr b="1" sz="1400">
              <a:solidFill>
                <a:srgbClr val="000000"/>
              </a:solidFill>
            </a:endParaRPr>
          </a:p>
          <a:p>
            <a:pPr indent="0" lvl="0" marL="0" rtl="0" algn="l">
              <a:spcBef>
                <a:spcPts val="1600"/>
              </a:spcBef>
              <a:spcAft>
                <a:spcPts val="0"/>
              </a:spcAft>
              <a:buNone/>
            </a:pPr>
            <a:r>
              <a:t/>
            </a:r>
            <a:endParaRPr b="1" sz="1400">
              <a:solidFill>
                <a:srgbClr val="000000"/>
              </a:solidFill>
            </a:endParaRPr>
          </a:p>
          <a:p>
            <a:pPr indent="0" lvl="0" marL="0" rtl="0" algn="l">
              <a:spcBef>
                <a:spcPts val="1600"/>
              </a:spcBef>
              <a:spcAft>
                <a:spcPts val="0"/>
              </a:spcAft>
              <a:buNone/>
            </a:pPr>
            <a:r>
              <a:rPr b="1" lang="en-GB" sz="1400">
                <a:solidFill>
                  <a:srgbClr val="000000"/>
                </a:solidFill>
              </a:rPr>
              <a:t>Societies advance rapidly, from  a technological point of view, when there is a strong military and especially during wartime.</a:t>
            </a:r>
            <a:endParaRPr b="1" sz="1400">
              <a:solidFill>
                <a:srgbClr val="000000"/>
              </a:solidFill>
            </a:endParaRPr>
          </a:p>
          <a:p>
            <a:pPr indent="0" lvl="0" marL="0" rtl="0" algn="l">
              <a:spcBef>
                <a:spcPts val="1600"/>
              </a:spcBef>
              <a:spcAft>
                <a:spcPts val="0"/>
              </a:spcAft>
              <a:buNone/>
            </a:pPr>
            <a:r>
              <a:t/>
            </a:r>
            <a:endParaRPr b="1" sz="1400">
              <a:solidFill>
                <a:srgbClr val="000000"/>
              </a:solidFill>
            </a:endParaRPr>
          </a:p>
          <a:p>
            <a:pPr indent="0" lvl="0" marL="0" rtl="0" algn="l">
              <a:spcBef>
                <a:spcPts val="1600"/>
              </a:spcBef>
              <a:spcAft>
                <a:spcPts val="0"/>
              </a:spcAft>
              <a:buNone/>
            </a:pPr>
            <a:r>
              <a:rPr b="1" lang="en-GB" sz="1400">
                <a:solidFill>
                  <a:srgbClr val="000000"/>
                </a:solidFill>
              </a:rPr>
              <a:t>_________________________________________________________________________________________________________________________</a:t>
            </a:r>
            <a:endParaRPr b="1" sz="1400">
              <a:solidFill>
                <a:srgbClr val="000000"/>
              </a:solidFill>
            </a:endParaRPr>
          </a:p>
          <a:p>
            <a:pPr indent="0" lvl="0" marL="0" rtl="0" algn="l">
              <a:spcBef>
                <a:spcPts val="1600"/>
              </a:spcBef>
              <a:spcAft>
                <a:spcPts val="0"/>
              </a:spcAft>
              <a:buNone/>
            </a:pPr>
            <a:r>
              <a:t/>
            </a:r>
            <a:endParaRPr b="1" sz="1400">
              <a:solidFill>
                <a:srgbClr val="000000"/>
              </a:solidFill>
            </a:endParaRPr>
          </a:p>
          <a:p>
            <a:pPr indent="0" lvl="0" marL="0" rtl="0" algn="l">
              <a:spcBef>
                <a:spcPts val="1600"/>
              </a:spcBef>
              <a:spcAft>
                <a:spcPts val="1600"/>
              </a:spcAft>
              <a:buNone/>
            </a:pPr>
            <a:r>
              <a:t/>
            </a:r>
            <a:endParaRPr b="1" sz="1400">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Group Assignment</a:t>
            </a:r>
            <a:endParaRPr/>
          </a:p>
        </p:txBody>
      </p:sp>
      <p:sp>
        <p:nvSpPr>
          <p:cNvPr id="150" name="Google Shape;150;p23"/>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Clr>
                <a:srgbClr val="000000"/>
              </a:buClr>
              <a:buSzPts val="1300"/>
              <a:buAutoNum type="arabicPeriod"/>
            </a:pPr>
            <a:r>
              <a:rPr lang="en-GB">
                <a:solidFill>
                  <a:srgbClr val="000000"/>
                </a:solidFill>
              </a:rPr>
              <a:t>Military innovations, including wartime inventions, have an overall positive impact on society and technology</a:t>
            </a:r>
            <a:endParaRPr>
              <a:solidFill>
                <a:srgbClr val="000000"/>
              </a:solidFill>
            </a:endParaRPr>
          </a:p>
          <a:p>
            <a:pPr indent="-311150" lvl="0" marL="457200" rtl="0" algn="l">
              <a:spcBef>
                <a:spcPts val="1600"/>
              </a:spcBef>
              <a:spcAft>
                <a:spcPts val="0"/>
              </a:spcAft>
              <a:buClr>
                <a:srgbClr val="000000"/>
              </a:buClr>
              <a:buSzPts val="1300"/>
              <a:buAutoNum type="arabicPeriod"/>
            </a:pPr>
            <a:r>
              <a:rPr lang="en-GB">
                <a:solidFill>
                  <a:srgbClr val="000000"/>
                </a:solidFill>
              </a:rPr>
              <a:t>Military innovations, including wartime inventions, have an overall negative impact on society and technology</a:t>
            </a:r>
            <a:endParaRPr>
              <a:solidFill>
                <a:srgbClr val="000000"/>
              </a:solidFill>
            </a:endParaRPr>
          </a:p>
          <a:p>
            <a:pPr indent="0" lvl="0" marL="457200" rtl="0" algn="l">
              <a:spcBef>
                <a:spcPts val="1600"/>
              </a:spcBef>
              <a:spcAft>
                <a:spcPts val="0"/>
              </a:spcAft>
              <a:buNone/>
            </a:pPr>
            <a:r>
              <a:t/>
            </a:r>
            <a:endParaRPr>
              <a:solidFill>
                <a:srgbClr val="000000"/>
              </a:solidFill>
            </a:endParaRPr>
          </a:p>
          <a:p>
            <a:pPr indent="-311150" lvl="0" marL="457200" rtl="0" algn="l">
              <a:spcBef>
                <a:spcPts val="1600"/>
              </a:spcBef>
              <a:spcAft>
                <a:spcPts val="0"/>
              </a:spcAft>
              <a:buClr>
                <a:srgbClr val="000000"/>
              </a:buClr>
              <a:buSzPts val="1300"/>
              <a:buAutoNum type="arabicPeriod"/>
            </a:pPr>
            <a:r>
              <a:rPr lang="en-GB">
                <a:solidFill>
                  <a:srgbClr val="000000"/>
                </a:solidFill>
              </a:rPr>
              <a:t>Societies advance rapidly, from  a technological point of view, when there is a strong military and especially during wartime.</a:t>
            </a:r>
            <a:endParaRPr>
              <a:solidFill>
                <a:srgbClr val="000000"/>
              </a:solidFill>
            </a:endParaRPr>
          </a:p>
          <a:p>
            <a:pPr indent="-311150" lvl="0" marL="457200" rtl="0" algn="l">
              <a:spcBef>
                <a:spcPts val="1600"/>
              </a:spcBef>
              <a:spcAft>
                <a:spcPts val="0"/>
              </a:spcAft>
              <a:buClr>
                <a:srgbClr val="000000"/>
              </a:buClr>
              <a:buSzPts val="1300"/>
              <a:buAutoNum type="arabicPeriod"/>
            </a:pPr>
            <a:r>
              <a:rPr lang="en-GB">
                <a:solidFill>
                  <a:srgbClr val="000000"/>
                </a:solidFill>
              </a:rPr>
              <a:t>Societies advance slowly or not at all, from a technological point of view, when there is a weak military or no military at all.</a:t>
            </a:r>
            <a:endParaRPr>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