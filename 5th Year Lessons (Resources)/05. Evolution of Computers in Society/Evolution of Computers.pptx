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Lato" panose="020F0502020204030203" pitchFamily="34" charset="0"/>
      <p:regular r:id="rId27"/>
      <p:bold r:id="rId28"/>
      <p:italic r:id="rId29"/>
      <p:boldItalic r:id="rId30"/>
    </p:embeddedFont>
    <p:embeddedFont>
      <p:font typeface="Raleway"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99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b64ca1c3f8_2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b64ca1c3f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b64ca1c3f8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b64ca1c3f8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b64ca1c3f8_2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b64ca1c3f8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b64ca1c3f8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b64ca1c3f8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b64ca1c3f8_2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b64ca1c3f8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b64ca1c3f8_2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b64ca1c3f8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b64ca1c3f8_2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b64ca1c3f8_2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b64ca1c3f8_2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b64ca1c3f8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b64ca1c3f8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b64ca1c3f8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b64ca1c3f8_2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b64ca1c3f8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b64ca1c3f8_2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b64ca1c3f8_2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b64ca1c3f8_2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b64ca1c3f8_2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b64ca1c3f8_2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b64ca1c3f8_2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b64ca1c3f8_2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b64ca1c3f8_2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b64ca1c3f8_2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b64ca1c3f8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b64ca1c3f8_2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b64ca1c3f8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b64ca1c3f8_2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b64ca1c3f8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b64ca1c3f8_2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b64ca1c3f8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b64ca1c3f8_2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b64ca1c3f8_2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b64ca1c3f8_2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b64ca1c3f8_2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b64ca1c3f8_2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b64ca1c3f8_2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b64ca1c3f8_2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b64ca1c3f8_2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b64ca1c3f8_2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b64ca1c3f8_2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b64ca1c3f8_2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b64ca1c3f8_2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O5nskjZ_GoI"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Hb44bGY2KdU"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knXWMjIA59c"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bbc.com/news/technology-18419691"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www.youtube.com/watch?v=ZiLrF46ypSg"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www.youtube.com/watch?v=ul7NkLGtD84"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Evolution of Computers</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What is a Computer?</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Before we look at the evolution,  we  will look briefly at what we mean by the word computer.</a:t>
            </a:r>
            <a:endParaRPr sz="1600">
              <a:solidFill>
                <a:schemeClr val="dk2"/>
              </a:solidFill>
            </a:endParaRPr>
          </a:p>
          <a:p>
            <a:pPr marL="0" lvl="0" indent="0" algn="l" rtl="0">
              <a:spcBef>
                <a:spcPts val="1600"/>
              </a:spcBef>
              <a:spcAft>
                <a:spcPts val="0"/>
              </a:spcAft>
              <a:buNone/>
            </a:pPr>
            <a:r>
              <a:rPr lang="en-GB" sz="1600">
                <a:solidFill>
                  <a:schemeClr val="dk2"/>
                </a:solidFill>
              </a:rPr>
              <a:t>Today a computer is defined as a device that can be programmed to carry out general purpose mathematical and/or logical computations.</a:t>
            </a:r>
            <a:endParaRPr sz="1600">
              <a:solidFill>
                <a:schemeClr val="dk2"/>
              </a:solidFill>
            </a:endParaRPr>
          </a:p>
          <a:p>
            <a:pPr marL="0" lvl="0" indent="0" algn="l" rtl="0">
              <a:spcBef>
                <a:spcPts val="1600"/>
              </a:spcBef>
              <a:spcAft>
                <a:spcPts val="0"/>
              </a:spcAft>
              <a:buNone/>
            </a:pPr>
            <a:r>
              <a:rPr lang="en-GB" sz="1600">
                <a:solidFill>
                  <a:schemeClr val="dk2"/>
                </a:solidFill>
              </a:rPr>
              <a:t>A </a:t>
            </a:r>
            <a:r>
              <a:rPr lang="en-GB" sz="1600" b="1">
                <a:solidFill>
                  <a:schemeClr val="dk2"/>
                </a:solidFill>
              </a:rPr>
              <a:t>programmable computer </a:t>
            </a:r>
            <a:r>
              <a:rPr lang="en-GB" sz="1600">
                <a:solidFill>
                  <a:schemeClr val="dk2"/>
                </a:solidFill>
              </a:rPr>
              <a:t>is one that can carry out a large  number of instructions given to it by the program that it is running.  </a:t>
            </a:r>
            <a:endParaRPr sz="1600">
              <a:solidFill>
                <a:schemeClr val="dk2"/>
              </a:solidFill>
            </a:endParaRPr>
          </a:p>
          <a:p>
            <a:pPr marL="0" lvl="0" indent="0" algn="l" rtl="0">
              <a:spcBef>
                <a:spcPts val="1600"/>
              </a:spcBef>
              <a:spcAft>
                <a:spcPts val="1600"/>
              </a:spcAft>
              <a:buNone/>
            </a:pPr>
            <a:r>
              <a:rPr lang="en-GB" sz="1600">
                <a:solidFill>
                  <a:schemeClr val="dk2"/>
                </a:solidFill>
              </a:rPr>
              <a:t>It can also be reprogrammed so solutions to problems can be improved upon, or adapted.</a:t>
            </a:r>
            <a:endParaRPr sz="16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What is a Computer?</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A </a:t>
            </a:r>
            <a:r>
              <a:rPr lang="en-GB" sz="1600" b="1">
                <a:solidFill>
                  <a:schemeClr val="dk2"/>
                </a:solidFill>
              </a:rPr>
              <a:t>general purpose</a:t>
            </a:r>
            <a:r>
              <a:rPr lang="en-GB" sz="1600">
                <a:solidFill>
                  <a:schemeClr val="dk2"/>
                </a:solidFill>
              </a:rPr>
              <a:t> machine is a machine that can carry out a wide range of tasks to achieve a specific purpose.</a:t>
            </a:r>
            <a:endParaRPr sz="1600">
              <a:solidFill>
                <a:schemeClr val="dk2"/>
              </a:solidFill>
            </a:endParaRPr>
          </a:p>
          <a:p>
            <a:pPr marL="0" lvl="0" indent="0" algn="l" rtl="0">
              <a:spcBef>
                <a:spcPts val="1600"/>
              </a:spcBef>
              <a:spcAft>
                <a:spcPts val="0"/>
              </a:spcAft>
              <a:buNone/>
            </a:pPr>
            <a:r>
              <a:rPr lang="en-GB" sz="1600">
                <a:solidFill>
                  <a:schemeClr val="dk2"/>
                </a:solidFill>
              </a:rPr>
              <a:t>A </a:t>
            </a:r>
            <a:r>
              <a:rPr lang="en-GB" sz="1600" b="1">
                <a:solidFill>
                  <a:schemeClr val="dk2"/>
                </a:solidFill>
              </a:rPr>
              <a:t>digital computer</a:t>
            </a:r>
            <a:r>
              <a:rPr lang="en-GB" sz="1600">
                <a:solidFill>
                  <a:schemeClr val="dk2"/>
                </a:solidFill>
              </a:rPr>
              <a:t> is one that operates using digital signals to transmit information. The digital signals have a value of 0 or 1.</a:t>
            </a:r>
            <a:endParaRPr sz="1600">
              <a:solidFill>
                <a:schemeClr val="dk2"/>
              </a:solidFill>
            </a:endParaRPr>
          </a:p>
          <a:p>
            <a:pPr marL="0" lvl="0" indent="0" algn="l" rtl="0">
              <a:spcBef>
                <a:spcPts val="1600"/>
              </a:spcBef>
              <a:spcAft>
                <a:spcPts val="0"/>
              </a:spcAft>
              <a:buNone/>
            </a:pPr>
            <a:r>
              <a:rPr lang="en-GB" sz="1600">
                <a:solidFill>
                  <a:schemeClr val="dk2"/>
                </a:solidFill>
              </a:rPr>
              <a:t>An </a:t>
            </a:r>
            <a:r>
              <a:rPr lang="en-GB" sz="1600" b="1">
                <a:solidFill>
                  <a:schemeClr val="dk2"/>
                </a:solidFill>
              </a:rPr>
              <a:t>electronic computer</a:t>
            </a:r>
            <a:r>
              <a:rPr lang="en-GB" sz="1600">
                <a:solidFill>
                  <a:schemeClr val="dk2"/>
                </a:solidFill>
              </a:rPr>
              <a:t> is one that operates using electricity ie the movement of electrons through material. This material is typically a semiconductor.</a:t>
            </a:r>
            <a:endParaRPr sz="1600">
              <a:solidFill>
                <a:schemeClr val="dk2"/>
              </a:solidFill>
            </a:endParaRPr>
          </a:p>
          <a:p>
            <a:pPr marL="0" lvl="0" indent="0" algn="l" rtl="0">
              <a:spcBef>
                <a:spcPts val="1600"/>
              </a:spcBef>
              <a:spcAft>
                <a:spcPts val="1600"/>
              </a:spcAft>
              <a:buNone/>
            </a:pPr>
            <a:r>
              <a:rPr lang="en-GB" sz="1600" b="1">
                <a:solidFill>
                  <a:schemeClr val="dk2"/>
                </a:solidFill>
              </a:rPr>
              <a:t>Today’s computers are programmable, digital, electronic computers.</a:t>
            </a:r>
            <a:endParaRPr sz="1600" b="1">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Early Computing</a:t>
            </a:r>
            <a:endParaRPr b="1"/>
          </a:p>
        </p:txBody>
      </p:sp>
      <p:sp>
        <p:nvSpPr>
          <p:cNvPr id="105" name="Google Shape;105;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06" name="Google Shape;106;p16" descr="Hello, world! Welcome to Crash Course Computer Science! So today, we’re going to take a look at computing’s origins, because even though our digital computers are relatively new, the need for computation is not. Since the start of civilization itself, humans have had an increasing need for special devices to help manage laborious tasks, and as the scale of society continued to grow, these computational devices began to play a crucial role in amplifying our mental abilities. From the abacus and astrolabe to the difference engine and tabulating machine, we’ve come a long way to satisfying this increasing need, and in the process completely transformed commerce, government, and daily life. &#10;&#10;Produced in collaboration with PBS Digital Studios: http://youtube.com/pbsdigitalstudios&#10;&#10;Want to know more about Carrie Anne?&#10;https://about.me/carrieannephilbin&#10;&#10;Want more Crash Course in person? We'll be at NerdCon: Nerdfighteria in Boston on February 25th and 26th! For more information, go to http://www.nerdconnerdfighteria.com/&#10;&#10;The Latest from PBS Digital Studios: https://www.youtube.com/playlist?list...&#10;&#10;Want to find Crash Course elsewhere on the internet?&#10;Facebook - http://www.facebook.com/YouTubeCrashC...&#10;Twitter - http://www.twitter.com/TheCrashCourse&#10;Tumblr - http://thecrashcourse.tumblr.com &#10;Support Crash Course on Patreon: http://patreon.com/crashcourse&#10;&#10;CC Kids: http://www.youtube.com/crashcoursekids" title="Early Computing: Crash Course Computer Science #1">
            <a:hlinkClick r:id="rId3"/>
          </p:cNvPr>
          <p:cNvPicPr preferRelativeResize="0"/>
          <p:nvPr/>
        </p:nvPicPr>
        <p:blipFill>
          <a:blip r:embed="rId4">
            <a:alphaModFix/>
          </a:blip>
          <a:stretch>
            <a:fillRect/>
          </a:stretch>
        </p:blipFill>
        <p:spPr>
          <a:xfrm>
            <a:off x="3925800" y="1569375"/>
            <a:ext cx="4572000" cy="342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Early Computing</a:t>
            </a:r>
            <a:endParaRPr/>
          </a:p>
        </p:txBody>
      </p:sp>
      <p:sp>
        <p:nvSpPr>
          <p:cNvPr id="112" name="Google Shape;112;p17"/>
          <p:cNvSpPr txBox="1">
            <a:spLocks noGrp="1"/>
          </p:cNvSpPr>
          <p:nvPr>
            <p:ph type="body" idx="1"/>
          </p:nvPr>
        </p:nvSpPr>
        <p:spPr>
          <a:xfrm>
            <a:off x="729450" y="2078875"/>
            <a:ext cx="5432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Humans have been calculating and computing for thousands of years.  It is likely that they starting by using fingers, leading to the development of our base 10 number system.</a:t>
            </a:r>
            <a:endParaRPr sz="1600">
              <a:solidFill>
                <a:schemeClr val="dk2"/>
              </a:solidFill>
            </a:endParaRPr>
          </a:p>
          <a:p>
            <a:pPr marL="0" lvl="0" indent="0" algn="l" rtl="0">
              <a:spcBef>
                <a:spcPts val="1600"/>
              </a:spcBef>
              <a:spcAft>
                <a:spcPts val="0"/>
              </a:spcAft>
              <a:buNone/>
            </a:pPr>
            <a:r>
              <a:rPr lang="en-GB" sz="1600">
                <a:solidFill>
                  <a:schemeClr val="dk2"/>
                </a:solidFill>
              </a:rPr>
              <a:t>Devices were invented to help calculations.  The most famous of these is probably the Abacus.  The abacus helped people to perform more advanced calculations.  However, it was not a computing device, but an aid to the person who was doing the computing.</a:t>
            </a:r>
            <a:endParaRPr sz="1600">
              <a:solidFill>
                <a:schemeClr val="dk2"/>
              </a:solidFill>
            </a:endParaRPr>
          </a:p>
          <a:p>
            <a:pPr marL="0" lvl="0" indent="0" algn="l" rtl="0">
              <a:spcBef>
                <a:spcPts val="1600"/>
              </a:spcBef>
              <a:spcAft>
                <a:spcPts val="1600"/>
              </a:spcAft>
              <a:buNone/>
            </a:pPr>
            <a:endParaRPr/>
          </a:p>
        </p:txBody>
      </p:sp>
      <p:pic>
        <p:nvPicPr>
          <p:cNvPr id="113" name="Google Shape;113;p17"/>
          <p:cNvPicPr preferRelativeResize="0"/>
          <p:nvPr/>
        </p:nvPicPr>
        <p:blipFill>
          <a:blip r:embed="rId3">
            <a:alphaModFix/>
          </a:blip>
          <a:stretch>
            <a:fillRect/>
          </a:stretch>
        </p:blipFill>
        <p:spPr>
          <a:xfrm>
            <a:off x="6479949" y="2366925"/>
            <a:ext cx="2533550" cy="1866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First Computers</a:t>
            </a:r>
            <a:endParaRPr/>
          </a:p>
        </p:txBody>
      </p:sp>
      <p:sp>
        <p:nvSpPr>
          <p:cNvPr id="119" name="Google Shape;119;p18"/>
          <p:cNvSpPr txBox="1">
            <a:spLocks noGrp="1"/>
          </p:cNvSpPr>
          <p:nvPr>
            <p:ph type="body" idx="1"/>
          </p:nvPr>
        </p:nvSpPr>
        <p:spPr>
          <a:xfrm>
            <a:off x="614500" y="1919677"/>
            <a:ext cx="7688700" cy="26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first computers were actually people.  As early as the 17th century, the term computer was used to mean a person who performed mathematical calculations.</a:t>
            </a:r>
            <a:endParaRPr sz="1600">
              <a:solidFill>
                <a:schemeClr val="dk2"/>
              </a:solidFill>
            </a:endParaRPr>
          </a:p>
          <a:p>
            <a:pPr marL="0" lvl="0" indent="0" algn="l" rtl="0">
              <a:spcBef>
                <a:spcPts val="1600"/>
              </a:spcBef>
              <a:spcAft>
                <a:spcPts val="0"/>
              </a:spcAft>
              <a:buNone/>
            </a:pPr>
            <a:r>
              <a:rPr lang="en-GB" sz="1600">
                <a:solidFill>
                  <a:schemeClr val="dk2"/>
                </a:solidFill>
              </a:rPr>
              <a:t>In the early 1600’s a mechanical, analog computing device called a slide rule was invented.</a:t>
            </a:r>
            <a:endParaRPr sz="1600">
              <a:solidFill>
                <a:schemeClr val="dk2"/>
              </a:solidFill>
            </a:endParaRPr>
          </a:p>
          <a:p>
            <a:pPr marL="0" lvl="0" indent="0" algn="l" rtl="0">
              <a:spcBef>
                <a:spcPts val="1600"/>
              </a:spcBef>
              <a:spcAft>
                <a:spcPts val="0"/>
              </a:spcAft>
              <a:buNone/>
            </a:pPr>
            <a:r>
              <a:rPr lang="en-GB" sz="1600">
                <a:solidFill>
                  <a:schemeClr val="dk2"/>
                </a:solidFill>
              </a:rPr>
              <a:t>Slide rules were continually improved and were able to calculate logarithms, trigonometric functions, squares, cubes and other complicated functions.</a:t>
            </a:r>
            <a:endParaRPr sz="1600">
              <a:solidFill>
                <a:schemeClr val="dk2"/>
              </a:solidFill>
            </a:endParaRPr>
          </a:p>
          <a:p>
            <a:pPr marL="0" lvl="0" indent="0" algn="l" rtl="0">
              <a:spcBef>
                <a:spcPts val="1600"/>
              </a:spcBef>
              <a:spcAft>
                <a:spcPts val="1600"/>
              </a:spcAft>
              <a:buNone/>
            </a:pPr>
            <a:r>
              <a:rPr lang="en-GB" sz="1600">
                <a:solidFill>
                  <a:schemeClr val="dk2"/>
                </a:solidFill>
              </a:rPr>
              <a:t>Slide rules were used by scientists and engineers until the 1970’s when they were replaced by pocket calculators.</a:t>
            </a:r>
            <a:endParaRPr sz="1600">
              <a:solidFill>
                <a:schemeClr val="dk2"/>
              </a:solidFill>
            </a:endParaRPr>
          </a:p>
        </p:txBody>
      </p:sp>
      <p:pic>
        <p:nvPicPr>
          <p:cNvPr id="120" name="Google Shape;120;p18"/>
          <p:cNvPicPr preferRelativeResize="0"/>
          <p:nvPr/>
        </p:nvPicPr>
        <p:blipFill>
          <a:blip r:embed="rId3">
            <a:alphaModFix/>
          </a:blip>
          <a:stretch>
            <a:fillRect/>
          </a:stretch>
        </p:blipFill>
        <p:spPr>
          <a:xfrm>
            <a:off x="4356075" y="648480"/>
            <a:ext cx="4465600" cy="11433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Difference Engine</a:t>
            </a:r>
            <a:endParaRPr/>
          </a:p>
        </p:txBody>
      </p:sp>
      <p:sp>
        <p:nvSpPr>
          <p:cNvPr id="126" name="Google Shape;126;p19"/>
          <p:cNvSpPr txBox="1">
            <a:spLocks noGrp="1"/>
          </p:cNvSpPr>
          <p:nvPr>
            <p:ph type="body" idx="1"/>
          </p:nvPr>
        </p:nvSpPr>
        <p:spPr>
          <a:xfrm>
            <a:off x="729450" y="1945125"/>
            <a:ext cx="4856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Eventually, mechanical devices using pulley, gears, levers and many moving parts were developed to deal with more advanced calculations.  </a:t>
            </a:r>
            <a:endParaRPr sz="1600">
              <a:solidFill>
                <a:schemeClr val="dk2"/>
              </a:solidFill>
            </a:endParaRPr>
          </a:p>
          <a:p>
            <a:pPr marL="0" lvl="0" indent="0" algn="l" rtl="0">
              <a:spcBef>
                <a:spcPts val="1600"/>
              </a:spcBef>
              <a:spcAft>
                <a:spcPts val="0"/>
              </a:spcAft>
              <a:buNone/>
            </a:pPr>
            <a:r>
              <a:rPr lang="en-GB" sz="1600">
                <a:solidFill>
                  <a:schemeClr val="dk2"/>
                </a:solidFill>
              </a:rPr>
              <a:t>In 1822 Charles Babbage designed the Difference Engine, a mechanical calculator that could solve polynomial functions.</a:t>
            </a:r>
            <a:endParaRPr sz="1600">
              <a:solidFill>
                <a:schemeClr val="dk2"/>
              </a:solidFill>
            </a:endParaRPr>
          </a:p>
          <a:p>
            <a:pPr marL="0" lvl="0" indent="0" algn="l" rtl="0">
              <a:spcBef>
                <a:spcPts val="1600"/>
              </a:spcBef>
              <a:spcAft>
                <a:spcPts val="1600"/>
              </a:spcAft>
              <a:buNone/>
            </a:pPr>
            <a:r>
              <a:rPr lang="en-GB" sz="1600">
                <a:solidFill>
                  <a:schemeClr val="dk2"/>
                </a:solidFill>
              </a:rPr>
              <a:t>The Difference Engine was about the size of a car and very complicated with thousands of moving parts.</a:t>
            </a:r>
            <a:endParaRPr sz="1600">
              <a:solidFill>
                <a:schemeClr val="dk2"/>
              </a:solidFill>
            </a:endParaRPr>
          </a:p>
        </p:txBody>
      </p:sp>
      <p:pic>
        <p:nvPicPr>
          <p:cNvPr id="127" name="Google Shape;127;p19"/>
          <p:cNvPicPr preferRelativeResize="0"/>
          <p:nvPr/>
        </p:nvPicPr>
        <p:blipFill>
          <a:blip r:embed="rId3">
            <a:alphaModFix/>
          </a:blip>
          <a:stretch>
            <a:fillRect/>
          </a:stretch>
        </p:blipFill>
        <p:spPr>
          <a:xfrm>
            <a:off x="5774075" y="2008453"/>
            <a:ext cx="3225900" cy="2478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Analytical Engine</a:t>
            </a:r>
            <a:endParaRPr/>
          </a:p>
        </p:txBody>
      </p:sp>
      <p:sp>
        <p:nvSpPr>
          <p:cNvPr id="133" name="Google Shape;133;p20"/>
          <p:cNvSpPr txBox="1">
            <a:spLocks noGrp="1"/>
          </p:cNvSpPr>
          <p:nvPr>
            <p:ph type="body" idx="1"/>
          </p:nvPr>
        </p:nvSpPr>
        <p:spPr>
          <a:xfrm>
            <a:off x="729450" y="19560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In the 1830’s, Babbage started working on the Analytical Engine.</a:t>
            </a:r>
            <a:endParaRPr sz="1600">
              <a:solidFill>
                <a:schemeClr val="dk2"/>
              </a:solidFill>
            </a:endParaRPr>
          </a:p>
          <a:p>
            <a:pPr marL="0" lvl="0" indent="0" algn="l" rtl="0">
              <a:spcBef>
                <a:spcPts val="1600"/>
              </a:spcBef>
              <a:spcAft>
                <a:spcPts val="0"/>
              </a:spcAft>
              <a:buNone/>
            </a:pPr>
            <a:r>
              <a:rPr lang="en-GB" sz="1600">
                <a:solidFill>
                  <a:schemeClr val="dk2"/>
                </a:solidFill>
              </a:rPr>
              <a:t>It was a machine designed to carry out general purpose computations on data stored on punched cards.</a:t>
            </a:r>
            <a:endParaRPr sz="1600">
              <a:solidFill>
                <a:schemeClr val="dk2"/>
              </a:solidFill>
            </a:endParaRPr>
          </a:p>
          <a:p>
            <a:pPr marL="0" lvl="0" indent="0" algn="l" rtl="0">
              <a:spcBef>
                <a:spcPts val="1600"/>
              </a:spcBef>
              <a:spcAft>
                <a:spcPts val="0"/>
              </a:spcAft>
              <a:buNone/>
            </a:pPr>
            <a:r>
              <a:rPr lang="en-GB" sz="1600">
                <a:solidFill>
                  <a:schemeClr val="dk2"/>
                </a:solidFill>
              </a:rPr>
              <a:t>The computations were specified by programs, also stored on punched cards.  Designs for the Analytical Engine included mechanical memory and the equivalent of a CPU to carry out programmed instructions.</a:t>
            </a:r>
            <a:endParaRPr sz="1600">
              <a:solidFill>
                <a:schemeClr val="dk2"/>
              </a:solidFill>
            </a:endParaRPr>
          </a:p>
          <a:p>
            <a:pPr marL="0" lvl="0" indent="0" algn="l" rtl="0">
              <a:spcBef>
                <a:spcPts val="1600"/>
              </a:spcBef>
              <a:spcAft>
                <a:spcPts val="1600"/>
              </a:spcAft>
              <a:buNone/>
            </a:pPr>
            <a:r>
              <a:rPr lang="en-GB" sz="1600">
                <a:solidFill>
                  <a:schemeClr val="dk2"/>
                </a:solidFill>
              </a:rPr>
              <a:t>Due to lack of funding, the Analytical Engine was never completely built, but the designs that Babbage left behind were enough to demonstrate that the machine was programmable and arguably the first computer.</a:t>
            </a:r>
            <a:endParaRPr sz="16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first Computer Programmer</a:t>
            </a:r>
            <a:endParaRPr/>
          </a:p>
        </p:txBody>
      </p:sp>
      <p:sp>
        <p:nvSpPr>
          <p:cNvPr id="139" name="Google Shape;139;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Ada Lovelace (1815 - 1852) is considered to have been the first computer programmer.</a:t>
            </a:r>
            <a:endParaRPr sz="1600">
              <a:solidFill>
                <a:schemeClr val="dk2"/>
              </a:solidFill>
            </a:endParaRPr>
          </a:p>
          <a:p>
            <a:pPr marL="0" lvl="0" indent="0" algn="l" rtl="0">
              <a:spcBef>
                <a:spcPts val="1600"/>
              </a:spcBef>
              <a:spcAft>
                <a:spcPts val="0"/>
              </a:spcAft>
              <a:buNone/>
            </a:pPr>
            <a:r>
              <a:rPr lang="en-GB" sz="1600">
                <a:solidFill>
                  <a:schemeClr val="dk2"/>
                </a:solidFill>
              </a:rPr>
              <a:t>She became interested in Babbage’s Analytical Engine when she realised that it could be used for more than calculations but could also do general purpose computing.</a:t>
            </a:r>
            <a:endParaRPr sz="1600">
              <a:solidFill>
                <a:schemeClr val="dk2"/>
              </a:solidFill>
            </a:endParaRPr>
          </a:p>
          <a:p>
            <a:pPr marL="0" lvl="0" indent="0" algn="l" rtl="0">
              <a:spcBef>
                <a:spcPts val="1600"/>
              </a:spcBef>
              <a:spcAft>
                <a:spcPts val="1600"/>
              </a:spcAft>
              <a:buNone/>
            </a:pPr>
            <a:r>
              <a:rPr lang="en-GB" sz="1600">
                <a:solidFill>
                  <a:schemeClr val="dk2"/>
                </a:solidFill>
              </a:rPr>
              <a:t>Lovelace wrote programs for the Analytical Engine.  She also wrote and published the first Algorithm designed to be executed by a machine.</a:t>
            </a:r>
            <a:endParaRPr sz="16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Mechanical to Electronic</a:t>
            </a:r>
            <a:endParaRPr/>
          </a:p>
        </p:txBody>
      </p:sp>
      <p:sp>
        <p:nvSpPr>
          <p:cNvPr id="145" name="Google Shape;145;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By the turn of the 20th century, many types of computers were devised, using mechanical, hydraulic and pneumatic means.  They were all very large, complex and heavy. They were too expensive to produce in large quantities.</a:t>
            </a:r>
            <a:endParaRPr sz="1600">
              <a:solidFill>
                <a:schemeClr val="dk2"/>
              </a:solidFill>
            </a:endParaRPr>
          </a:p>
          <a:p>
            <a:pPr marL="0" lvl="0" indent="0" algn="l" rtl="0">
              <a:spcBef>
                <a:spcPts val="1600"/>
              </a:spcBef>
              <a:spcAft>
                <a:spcPts val="0"/>
              </a:spcAft>
              <a:buNone/>
            </a:pPr>
            <a:r>
              <a:rPr lang="en-GB" sz="1600">
                <a:solidFill>
                  <a:schemeClr val="dk2"/>
                </a:solidFill>
              </a:rPr>
              <a:t>Soon electromechanical computers took over.  These used electric switches to move mechanical parts.</a:t>
            </a:r>
            <a:endParaRPr sz="1600">
              <a:solidFill>
                <a:schemeClr val="dk2"/>
              </a:solidFill>
            </a:endParaRPr>
          </a:p>
          <a:p>
            <a:pPr marL="0" lvl="0" indent="0" algn="l" rtl="0">
              <a:spcBef>
                <a:spcPts val="1600"/>
              </a:spcBef>
              <a:spcAft>
                <a:spcPts val="1600"/>
              </a:spcAft>
              <a:buNone/>
            </a:pPr>
            <a:r>
              <a:rPr lang="en-GB" sz="1600">
                <a:solidFill>
                  <a:schemeClr val="dk2"/>
                </a:solidFill>
              </a:rPr>
              <a:t>The electromechanical Z3, developed in Germany in 1941 was the first digital, programmable computer to be built.  The Z3  used binary numbers.</a:t>
            </a:r>
            <a:endParaRPr sz="16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727650" y="11843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Second World War - Colossus and ENIAC</a:t>
            </a:r>
            <a:endParaRPr/>
          </a:p>
        </p:txBody>
      </p:sp>
      <p:sp>
        <p:nvSpPr>
          <p:cNvPr id="151" name="Google Shape;151;p23"/>
          <p:cNvSpPr txBox="1">
            <a:spLocks noGrp="1"/>
          </p:cNvSpPr>
          <p:nvPr>
            <p:ph type="body" idx="1"/>
          </p:nvPr>
        </p:nvSpPr>
        <p:spPr>
          <a:xfrm>
            <a:off x="823450" y="16357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second world war saw an increase in government and military spending on computers.</a:t>
            </a:r>
            <a:endParaRPr sz="1600">
              <a:solidFill>
                <a:schemeClr val="dk2"/>
              </a:solidFill>
            </a:endParaRPr>
          </a:p>
          <a:p>
            <a:pPr marL="0" lvl="0" indent="0" algn="l" rtl="0">
              <a:spcBef>
                <a:spcPts val="1600"/>
              </a:spcBef>
              <a:spcAft>
                <a:spcPts val="0"/>
              </a:spcAft>
              <a:buNone/>
            </a:pPr>
            <a:r>
              <a:rPr lang="en-GB" sz="1600">
                <a:solidFill>
                  <a:schemeClr val="dk2"/>
                </a:solidFill>
              </a:rPr>
              <a:t>Colossus was the first fully programmable electronic computer.</a:t>
            </a:r>
            <a:endParaRPr sz="1600">
              <a:solidFill>
                <a:schemeClr val="dk2"/>
              </a:solidFill>
            </a:endParaRPr>
          </a:p>
          <a:p>
            <a:pPr marL="0" lvl="0" indent="0" algn="l" rtl="0">
              <a:spcBef>
                <a:spcPts val="1600"/>
              </a:spcBef>
              <a:spcAft>
                <a:spcPts val="0"/>
              </a:spcAft>
              <a:buNone/>
            </a:pPr>
            <a:r>
              <a:rPr lang="en-GB" sz="1600">
                <a:solidFill>
                  <a:schemeClr val="dk2"/>
                </a:solidFill>
              </a:rPr>
              <a:t>It was invented and designed by Tommy Flowers and Alan Turing.</a:t>
            </a:r>
            <a:endParaRPr sz="1600">
              <a:solidFill>
                <a:schemeClr val="dk2"/>
              </a:solidFill>
            </a:endParaRPr>
          </a:p>
          <a:p>
            <a:pPr marL="0" lvl="0" indent="0" algn="l" rtl="0">
              <a:spcBef>
                <a:spcPts val="1600"/>
              </a:spcBef>
              <a:spcAft>
                <a:spcPts val="0"/>
              </a:spcAft>
              <a:buNone/>
            </a:pPr>
            <a:r>
              <a:rPr lang="en-GB" sz="1600">
                <a:solidFill>
                  <a:schemeClr val="dk2"/>
                </a:solidFill>
              </a:rPr>
              <a:t>It made a major contribution to ending World War II when it helped to crack the codes of the German Enigma machines.</a:t>
            </a:r>
            <a:endParaRPr sz="1600">
              <a:solidFill>
                <a:schemeClr val="dk2"/>
              </a:solidFill>
            </a:endParaRPr>
          </a:p>
          <a:p>
            <a:pPr marL="0" lvl="0" indent="0" algn="l" rtl="0">
              <a:spcBef>
                <a:spcPts val="1600"/>
              </a:spcBef>
              <a:spcAft>
                <a:spcPts val="1600"/>
              </a:spcAft>
              <a:buNone/>
            </a:pPr>
            <a:r>
              <a:rPr lang="en-GB" sz="1600">
                <a:solidFill>
                  <a:schemeClr val="dk2"/>
                </a:solidFill>
              </a:rPr>
              <a:t>Simultaneously in the USA, Eckert and Mauchly built the ENIAC (Electronic Numerical Integrator and Computer) which is often considered to be the first example of a general purpose digital computer.</a:t>
            </a:r>
            <a:endParaRPr sz="16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58" name="Google Shape;158;p24" title="Cracking the NAZI Enigma Code Machine">
            <a:hlinkClick r:id="rId3"/>
          </p:cNvPr>
          <p:cNvPicPr preferRelativeResize="0"/>
          <p:nvPr/>
        </p:nvPicPr>
        <p:blipFill>
          <a:blip r:embed="rId4">
            <a:alphaModFix/>
          </a:blip>
          <a:stretch>
            <a:fillRect/>
          </a:stretch>
        </p:blipFill>
        <p:spPr>
          <a:xfrm>
            <a:off x="2286000" y="1156275"/>
            <a:ext cx="4572000" cy="342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2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65" name="Google Shape;165;p25" descr="A short film made by Google to celebrate Colossus and those who built it, in particular Tommy Flowers.  Colossus was the world's first electronic computer, used for code-breaking at Bletchley Park during WW2.  A working rebuilt Colossus can be seen at The National Museum of Computing in the UK.  For more information see: http://googleblog.blogspot.com/2012/03/remembering-colossus-worlds-first.html" title="Colossus: Creating a Giant">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p:nvPr>
        </p:nvSpPr>
        <p:spPr>
          <a:xfrm>
            <a:off x="727650" y="6515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Components of first programmable computers</a:t>
            </a:r>
            <a:endParaRPr/>
          </a:p>
        </p:txBody>
      </p:sp>
      <p:sp>
        <p:nvSpPr>
          <p:cNvPr id="171" name="Google Shape;171;p26"/>
          <p:cNvSpPr txBox="1">
            <a:spLocks noGrp="1"/>
          </p:cNvSpPr>
          <p:nvPr>
            <p:ph type="body" idx="1"/>
          </p:nvPr>
        </p:nvSpPr>
        <p:spPr>
          <a:xfrm>
            <a:off x="727650" y="11867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first electronic computers, Colossus and ENIAC, weighed tonnes, occupied large rooms and were programmed by plugging and unplugging cables and by controlling various switches.</a:t>
            </a:r>
            <a:endParaRPr sz="1600">
              <a:solidFill>
                <a:schemeClr val="dk2"/>
              </a:solidFill>
            </a:endParaRPr>
          </a:p>
          <a:p>
            <a:pPr marL="0" lvl="0" indent="0" algn="l" rtl="0">
              <a:spcBef>
                <a:spcPts val="1600"/>
              </a:spcBef>
              <a:spcAft>
                <a:spcPts val="0"/>
              </a:spcAft>
              <a:buNone/>
            </a:pPr>
            <a:r>
              <a:rPr lang="en-GB" sz="1600">
                <a:solidFill>
                  <a:schemeClr val="dk2"/>
                </a:solidFill>
              </a:rPr>
              <a:t>Military advances during WWII spurred innovation and fast tracked the invention of ENIAC.</a:t>
            </a:r>
            <a:endParaRPr sz="1600">
              <a:solidFill>
                <a:schemeClr val="dk2"/>
              </a:solidFill>
            </a:endParaRPr>
          </a:p>
          <a:p>
            <a:pPr marL="0" lvl="0" indent="0" algn="l" rtl="0">
              <a:spcBef>
                <a:spcPts val="1600"/>
              </a:spcBef>
              <a:spcAft>
                <a:spcPts val="0"/>
              </a:spcAft>
              <a:buNone/>
            </a:pPr>
            <a:r>
              <a:rPr lang="en-GB" sz="1600">
                <a:solidFill>
                  <a:schemeClr val="dk2"/>
                </a:solidFill>
              </a:rPr>
              <a:t>The Colossus was rebuilt in Bletchley Park, the top secret British site of WWII decryption.  </a:t>
            </a:r>
            <a:endParaRPr sz="1600">
              <a:solidFill>
                <a:schemeClr val="dk2"/>
              </a:solidFill>
            </a:endParaRPr>
          </a:p>
          <a:p>
            <a:pPr marL="0" lvl="0" indent="0" algn="l" rtl="0">
              <a:spcBef>
                <a:spcPts val="1600"/>
              </a:spcBef>
              <a:spcAft>
                <a:spcPts val="0"/>
              </a:spcAft>
              <a:buNone/>
            </a:pPr>
            <a:r>
              <a:rPr lang="en-GB" sz="1600">
                <a:solidFill>
                  <a:schemeClr val="dk2"/>
                </a:solidFill>
              </a:rPr>
              <a:t>The Babbage analytical machine had 4 revolutionary features - input, storage, processing and output components.</a:t>
            </a:r>
            <a:endParaRPr sz="1600">
              <a:solidFill>
                <a:schemeClr val="dk2"/>
              </a:solidFill>
            </a:endParaRPr>
          </a:p>
          <a:p>
            <a:pPr marL="0" lvl="0" indent="0" algn="l" rtl="0">
              <a:spcBef>
                <a:spcPts val="1600"/>
              </a:spcBef>
              <a:spcAft>
                <a:spcPts val="1600"/>
              </a:spcAft>
              <a:buNone/>
            </a:pPr>
            <a:r>
              <a:rPr lang="en-GB" sz="1600">
                <a:solidFill>
                  <a:schemeClr val="dk2"/>
                </a:solidFill>
              </a:rPr>
              <a:t>Sequential flow control and looping operations were fundamental to his concept.  Today, the inside of modern computers are not that different.</a:t>
            </a:r>
            <a:endParaRPr sz="16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8" name="Google Shape;178;p27"/>
          <p:cNvPicPr preferRelativeResize="0"/>
          <p:nvPr/>
        </p:nvPicPr>
        <p:blipFill>
          <a:blip r:embed="rId3">
            <a:alphaModFix/>
          </a:blip>
          <a:stretch>
            <a:fillRect/>
          </a:stretch>
        </p:blipFill>
        <p:spPr>
          <a:xfrm>
            <a:off x="522638" y="1272925"/>
            <a:ext cx="4848225" cy="3067050"/>
          </a:xfrm>
          <a:prstGeom prst="rect">
            <a:avLst/>
          </a:prstGeom>
          <a:noFill/>
          <a:ln>
            <a:noFill/>
          </a:ln>
        </p:spPr>
      </p:pic>
      <p:sp>
        <p:nvSpPr>
          <p:cNvPr id="179" name="Google Shape;179;p27"/>
          <p:cNvSpPr txBox="1"/>
          <p:nvPr/>
        </p:nvSpPr>
        <p:spPr>
          <a:xfrm>
            <a:off x="5545025" y="1556425"/>
            <a:ext cx="3049800" cy="213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latin typeface="Lato"/>
                <a:ea typeface="Lato"/>
                <a:cs typeface="Lato"/>
                <a:sym typeface="Lato"/>
              </a:rPr>
              <a:t>The Arithmetic Logic Unit (ALU) where instructions are actually carried out is probably the only functional unit that is extra to the original concept.</a:t>
            </a:r>
            <a:endParaRPr>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8"/>
          <p:cNvSpPr txBox="1">
            <a:spLocks noGrp="1"/>
          </p:cNvSpPr>
          <p:nvPr>
            <p:ph type="body" idx="1"/>
          </p:nvPr>
        </p:nvSpPr>
        <p:spPr>
          <a:xfrm>
            <a:off x="727650" y="159842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complex relationship between society and computing technology is demonstrated clearly through the invention of the Colossus and ENIAC.</a:t>
            </a:r>
            <a:endParaRPr sz="1600">
              <a:solidFill>
                <a:schemeClr val="dk2"/>
              </a:solidFill>
            </a:endParaRPr>
          </a:p>
          <a:p>
            <a:pPr marL="0" lvl="0" indent="0" algn="l" rtl="0">
              <a:spcBef>
                <a:spcPts val="1600"/>
              </a:spcBef>
              <a:spcAft>
                <a:spcPts val="0"/>
              </a:spcAft>
              <a:buNone/>
            </a:pPr>
            <a:r>
              <a:rPr lang="en-GB" sz="1600">
                <a:solidFill>
                  <a:schemeClr val="dk2"/>
                </a:solidFill>
              </a:rPr>
              <a:t>The Colossus had a real impact on the war, shortening it by 2 or 3 years. </a:t>
            </a:r>
            <a:r>
              <a:rPr lang="en-GB" sz="1100">
                <a:solidFill>
                  <a:schemeClr val="dk2"/>
                </a:solidFill>
              </a:rPr>
              <a:t>(</a:t>
            </a:r>
            <a:r>
              <a:rPr lang="en-GB" sz="1100" b="1" u="sng">
                <a:solidFill>
                  <a:schemeClr val="dk2"/>
                </a:solidFill>
                <a:hlinkClick r:id="rId3">
                  <a:extLst>
                    <a:ext uri="{A12FA001-AC4F-418D-AE19-62706E023703}">
                      <ahyp:hlinkClr xmlns:ahyp="http://schemas.microsoft.com/office/drawing/2018/hyperlinkcolor" val="tx"/>
                    </a:ext>
                  </a:extLst>
                </a:hlinkClick>
              </a:rPr>
              <a:t>https://www.bbc.com/news/technology-18419691</a:t>
            </a:r>
            <a:r>
              <a:rPr lang="en-GB" sz="1100" b="1">
                <a:solidFill>
                  <a:schemeClr val="dk2"/>
                </a:solidFill>
              </a:rPr>
              <a:t>)</a:t>
            </a:r>
            <a:endParaRPr sz="1100" b="1">
              <a:solidFill>
                <a:schemeClr val="dk2"/>
              </a:solidFill>
            </a:endParaRPr>
          </a:p>
          <a:p>
            <a:pPr marL="0" lvl="0" indent="0" algn="l" rtl="0">
              <a:spcBef>
                <a:spcPts val="1600"/>
              </a:spcBef>
              <a:spcAft>
                <a:spcPts val="0"/>
              </a:spcAft>
              <a:buNone/>
            </a:pPr>
            <a:r>
              <a:rPr lang="en-GB" sz="1600">
                <a:solidFill>
                  <a:schemeClr val="dk2"/>
                </a:solidFill>
              </a:rPr>
              <a:t>Processing data, encrypting and deciphering codes and crunching numbers became key factors in deciding the outcome of WWII.</a:t>
            </a:r>
            <a:endParaRPr sz="1600">
              <a:solidFill>
                <a:schemeClr val="dk2"/>
              </a:solidFill>
            </a:endParaRPr>
          </a:p>
          <a:p>
            <a:pPr marL="0" lvl="0" indent="0" algn="l" rtl="0">
              <a:spcBef>
                <a:spcPts val="1600"/>
              </a:spcBef>
              <a:spcAft>
                <a:spcPts val="1600"/>
              </a:spcAft>
              <a:buNone/>
            </a:pPr>
            <a:r>
              <a:rPr lang="en-GB" sz="1600">
                <a:solidFill>
                  <a:schemeClr val="dk2"/>
                </a:solidFill>
              </a:rPr>
              <a:t>Many military innovations become mainstream technologies.  The US Defence Advanced Research Projects Agency (DARPA) developed the Arpanet in the late 1960’s.  It connected 4 nodes in the USA, developed IP addresses and invented TCP and UDP networking protocols.  In the 1980’ s it evolved into the Internet.</a:t>
            </a:r>
            <a:endParaRPr sz="16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DARPA</a:t>
            </a:r>
            <a:endParaRPr/>
          </a:p>
        </p:txBody>
      </p:sp>
      <p:sp>
        <p:nvSpPr>
          <p:cNvPr id="190" name="Google Shape;190;p2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91" name="Google Shape;191;p29" descr="A lot of things you use on a daily basis have their roots in DARPA projects that were intended for military purposes. Sharon Weinberger, the author of the book &quot;The Imagineers of War,&quot; describes a few of these inventions that you might not have been aware of, like the Roomba.&#10;&#10;Follow Tech Insider: On Facebook&#10;&#10;Following is a transcript of the video:&#10;&#10;So many of the things we use every day is linked to DARPA.&#10;&#10;Sort of the more common example today is the Siri app on the iPhone. That grew directly out of a DARPA-funded project that wasn't picked up by the military. The people working on it spun it off as an independent company, and it was bought by Apple and incorporated into the iPhone.&#10;&#10;I think, sort of, what made DARPA’s reputation was computer networking. DARPA created the ARPANET, which was the first network of computers, which was later transitioned to the civilian internet. And that really cemented DARPA’s reputation as sort of an innovation agency or genius factory.&#10;&#10;Other things that can be linked back to DARPA: GPS. So this is a tricky one. There’s a lot of times that DARPA claims GPS as its invention. It's a little bit more complicated than that. DARPA, for a while, funded the predecessor to GPS called the Transit satellite. But DARPA did not invent GPS. But it gets a little bit of credit there.&#10;&#10;iRobot, the company that makes the Roomba, the robotic vacuum cleaner, basically exists today, and its underlying technology exists because of DARPA funding. So DARPA didn't specifically fund the Roomba, but it funded the company and its military work, which then eventually became the Roomba. What DARPA was interested in, and one of the things that got military funding, was the PackBot, which is made by iRobot, the same people who make Roomba, which was used for bomb disposal.&#10;&#10;I think the most important commercial innovation that is emerging today are autonomous cars, self-driving cars that we’re just now seeing come into their own. That's linked directly back, not just to decades of DARPA funding in robotics, which DARPA did, but also, most importantly, or at least importantly to the mid-2000s, when DARPA started a series of robotic car races called the Grand Challenge. And that really is what jump-started the autonomous care industry.&#10;&#10;DARPA doesn’t make money off of the products it funds. It’s a little bit complicated, especially when dealing with patents and intellectual property. What DARPA gets, and what DARPA hopes to get, is products that will serve the military, that can be used by the military. But if a company wants to spin it off into the commercial realm, it it can and it does.&#10;&#10;Read more: http://www.businessinsider.com/sai&#10;&#10;FACEBOOK: https://www.facebook.com/techinsider&#10;TWITTER: https://twitter.com/techinsider&#10;INSTAGRAM: https://www.instagram.com/businessinsider/&#10;TUMBLR: http://businessinsider.tumblr.com/" title="5 Everyday Inventions You Didn’t Know Came From DARPA">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Vacuum tubes and electronic computers</a:t>
            </a:r>
            <a:endParaRPr/>
          </a:p>
        </p:txBody>
      </p:sp>
      <p:sp>
        <p:nvSpPr>
          <p:cNvPr id="197" name="Google Shape;197;p30"/>
          <p:cNvSpPr txBox="1">
            <a:spLocks noGrp="1"/>
          </p:cNvSpPr>
          <p:nvPr>
            <p:ph type="body" idx="1"/>
          </p:nvPr>
        </p:nvSpPr>
        <p:spPr>
          <a:xfrm>
            <a:off x="729450" y="2078875"/>
            <a:ext cx="51291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Vacuum tubes are electrical devices that control the flow of electricity,  The development of vacuum tubes (late 1940’s)  led to the rapid growth of electronic devices including radio, television and computers.</a:t>
            </a:r>
            <a:endParaRPr sz="1600">
              <a:solidFill>
                <a:schemeClr val="dk2"/>
              </a:solidFill>
            </a:endParaRPr>
          </a:p>
          <a:p>
            <a:pPr marL="0" lvl="0" indent="0" algn="l" rtl="0">
              <a:spcBef>
                <a:spcPts val="1600"/>
              </a:spcBef>
              <a:spcAft>
                <a:spcPts val="0"/>
              </a:spcAft>
              <a:buNone/>
            </a:pPr>
            <a:r>
              <a:rPr lang="en-GB" sz="1600">
                <a:solidFill>
                  <a:schemeClr val="dk2"/>
                </a:solidFill>
              </a:rPr>
              <a:t>These were the first all electronic computers.  Their relatively small size, reliability and low cost led to them being developed at a rapid pace.</a:t>
            </a:r>
            <a:endParaRPr sz="1600">
              <a:solidFill>
                <a:schemeClr val="dk2"/>
              </a:solidFill>
            </a:endParaRPr>
          </a:p>
          <a:p>
            <a:pPr marL="0" lvl="0" indent="0" algn="l" rtl="0">
              <a:spcBef>
                <a:spcPts val="1600"/>
              </a:spcBef>
              <a:spcAft>
                <a:spcPts val="1600"/>
              </a:spcAft>
              <a:buNone/>
            </a:pPr>
            <a:r>
              <a:rPr lang="en-GB" sz="1600">
                <a:solidFill>
                  <a:schemeClr val="dk2"/>
                </a:solidFill>
              </a:rPr>
              <a:t>They became known as the first generation of computers.</a:t>
            </a:r>
            <a:endParaRPr sz="1600">
              <a:solidFill>
                <a:schemeClr val="dk2"/>
              </a:solidFill>
            </a:endParaRPr>
          </a:p>
        </p:txBody>
      </p:sp>
      <p:pic>
        <p:nvPicPr>
          <p:cNvPr id="198" name="Google Shape;198;p30"/>
          <p:cNvPicPr preferRelativeResize="0"/>
          <p:nvPr/>
        </p:nvPicPr>
        <p:blipFill>
          <a:blip r:embed="rId3">
            <a:alphaModFix/>
          </a:blip>
          <a:stretch>
            <a:fillRect/>
          </a:stretch>
        </p:blipFill>
        <p:spPr>
          <a:xfrm>
            <a:off x="5858538" y="2078863"/>
            <a:ext cx="3152775" cy="1666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Transistors</a:t>
            </a:r>
            <a:endParaRPr/>
          </a:p>
        </p:txBody>
      </p:sp>
      <p:sp>
        <p:nvSpPr>
          <p:cNvPr id="204" name="Google Shape;204;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replacement of vacuum tubes with transistors revolutionised electronics.</a:t>
            </a:r>
            <a:endParaRPr sz="1600">
              <a:solidFill>
                <a:schemeClr val="dk2"/>
              </a:solidFill>
            </a:endParaRPr>
          </a:p>
          <a:p>
            <a:pPr marL="0" lvl="0" indent="0" algn="l" rtl="0">
              <a:spcBef>
                <a:spcPts val="1600"/>
              </a:spcBef>
              <a:spcAft>
                <a:spcPts val="0"/>
              </a:spcAft>
              <a:buNone/>
            </a:pPr>
            <a:r>
              <a:rPr lang="en-GB" sz="1600">
                <a:solidFill>
                  <a:schemeClr val="dk2"/>
                </a:solidFill>
              </a:rPr>
              <a:t>Transistors are tiny electronic switches.  They could perform the same tasks as vacuum tubes but were much smaller as well as more reliable and cheaper.</a:t>
            </a:r>
            <a:endParaRPr sz="1600">
              <a:solidFill>
                <a:schemeClr val="dk2"/>
              </a:solidFill>
            </a:endParaRPr>
          </a:p>
          <a:p>
            <a:pPr marL="0" lvl="0" indent="0" algn="l" rtl="0">
              <a:spcBef>
                <a:spcPts val="1600"/>
              </a:spcBef>
              <a:spcAft>
                <a:spcPts val="0"/>
              </a:spcAft>
              <a:buNone/>
            </a:pPr>
            <a:r>
              <a:rPr lang="en-GB" sz="1600">
                <a:solidFill>
                  <a:schemeClr val="dk2"/>
                </a:solidFill>
              </a:rPr>
              <a:t>The transistor was developed over many years but by the late  1950’s the technology had been perfected enough  to change the electronics industry.  </a:t>
            </a:r>
            <a:endParaRPr sz="1600">
              <a:solidFill>
                <a:schemeClr val="dk2"/>
              </a:solidFill>
            </a:endParaRPr>
          </a:p>
          <a:p>
            <a:pPr marL="0" lvl="0" indent="0" algn="l" rtl="0">
              <a:spcBef>
                <a:spcPts val="1600"/>
              </a:spcBef>
              <a:spcAft>
                <a:spcPts val="1600"/>
              </a:spcAft>
              <a:buNone/>
            </a:pPr>
            <a:r>
              <a:rPr lang="en-GB" sz="1600">
                <a:solidFill>
                  <a:schemeClr val="dk2"/>
                </a:solidFill>
              </a:rPr>
              <a:t>The computers based on transistors instead of vacuum tubes were the second generation of computers.</a:t>
            </a:r>
            <a:endParaRPr sz="16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Integrated Circuits</a:t>
            </a:r>
            <a:endParaRPr/>
          </a:p>
        </p:txBody>
      </p:sp>
      <p:sp>
        <p:nvSpPr>
          <p:cNvPr id="210" name="Google Shape;210;p32"/>
          <p:cNvSpPr txBox="1">
            <a:spLocks noGrp="1"/>
          </p:cNvSpPr>
          <p:nvPr>
            <p:ph type="body" idx="1"/>
          </p:nvPr>
        </p:nvSpPr>
        <p:spPr>
          <a:xfrm>
            <a:off x="729450" y="185385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500">
                <a:solidFill>
                  <a:schemeClr val="dk2"/>
                </a:solidFill>
              </a:rPr>
              <a:t>The third generation of computers came about in the 1960’s.  These computers were based on integrated circuits.</a:t>
            </a:r>
            <a:endParaRPr sz="1500">
              <a:solidFill>
                <a:schemeClr val="dk2"/>
              </a:solidFill>
            </a:endParaRPr>
          </a:p>
          <a:p>
            <a:pPr marL="0" lvl="0" indent="0" algn="l" rtl="0">
              <a:spcBef>
                <a:spcPts val="1600"/>
              </a:spcBef>
              <a:spcAft>
                <a:spcPts val="0"/>
              </a:spcAft>
              <a:buNone/>
            </a:pPr>
            <a:r>
              <a:rPr lang="en-GB" sz="1500">
                <a:solidFill>
                  <a:schemeClr val="dk2"/>
                </a:solidFill>
              </a:rPr>
              <a:t>An integrated circuit consists of a number of electronic circuits all on a single semiconductor or “chip”.</a:t>
            </a:r>
            <a:endParaRPr sz="1500">
              <a:solidFill>
                <a:schemeClr val="dk2"/>
              </a:solidFill>
            </a:endParaRPr>
          </a:p>
          <a:p>
            <a:pPr marL="0" lvl="0" indent="0" algn="l" rtl="0">
              <a:spcBef>
                <a:spcPts val="1600"/>
              </a:spcBef>
              <a:spcAft>
                <a:spcPts val="0"/>
              </a:spcAft>
              <a:buNone/>
            </a:pPr>
            <a:r>
              <a:rPr lang="en-GB" sz="1500">
                <a:solidFill>
                  <a:schemeClr val="dk2"/>
                </a:solidFill>
              </a:rPr>
              <a:t>The most famous 3rd generation computer was the Apollo Guidance Computer (AGC) designed at MIT.  This computer helped to make the 1969 moon landing possible.</a:t>
            </a:r>
            <a:endParaRPr sz="1500">
              <a:solidFill>
                <a:schemeClr val="dk2"/>
              </a:solidFill>
            </a:endParaRPr>
          </a:p>
          <a:p>
            <a:pPr marL="0" lvl="0" indent="0" algn="l" rtl="0">
              <a:spcBef>
                <a:spcPts val="1600"/>
              </a:spcBef>
              <a:spcAft>
                <a:spcPts val="1600"/>
              </a:spcAft>
              <a:buNone/>
            </a:pPr>
            <a:r>
              <a:rPr lang="en-GB" sz="1500">
                <a:solidFill>
                  <a:schemeClr val="dk2"/>
                </a:solidFill>
              </a:rPr>
              <a:t>During the 1960’s and 1970’s third generation computers allowed the development of “minicomputers”. These were computers that were small enough to be moved between different locations easily.</a:t>
            </a:r>
            <a:endParaRPr sz="15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p:nvPr>
        </p:nvSpPr>
        <p:spPr>
          <a:xfrm>
            <a:off x="729450" y="10635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Microprocessors</a:t>
            </a:r>
            <a:endParaRPr/>
          </a:p>
        </p:txBody>
      </p:sp>
      <p:sp>
        <p:nvSpPr>
          <p:cNvPr id="216" name="Google Shape;216;p33"/>
          <p:cNvSpPr txBox="1">
            <a:spLocks noGrp="1"/>
          </p:cNvSpPr>
          <p:nvPr>
            <p:ph type="body" idx="1"/>
          </p:nvPr>
        </p:nvSpPr>
        <p:spPr>
          <a:xfrm>
            <a:off x="727650" y="15987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fourth generation of computers is based on microprocessors.  A microprocessor is what we now call a CPU (Central Processing Unit).</a:t>
            </a:r>
            <a:endParaRPr sz="1600">
              <a:solidFill>
                <a:schemeClr val="dk2"/>
              </a:solidFill>
            </a:endParaRPr>
          </a:p>
          <a:p>
            <a:pPr marL="0" lvl="0" indent="0" algn="l" rtl="0">
              <a:spcBef>
                <a:spcPts val="1600"/>
              </a:spcBef>
              <a:spcAft>
                <a:spcPts val="0"/>
              </a:spcAft>
              <a:buNone/>
            </a:pPr>
            <a:r>
              <a:rPr lang="en-GB" sz="1600">
                <a:solidFill>
                  <a:schemeClr val="dk2"/>
                </a:solidFill>
              </a:rPr>
              <a:t>It is a device that takes binary input data and performs operations on that data from instructions stored in its memory, providing results as output.  Most of today’s computers are of this generation.</a:t>
            </a:r>
            <a:endParaRPr sz="1600">
              <a:solidFill>
                <a:schemeClr val="dk2"/>
              </a:solidFill>
            </a:endParaRPr>
          </a:p>
          <a:p>
            <a:pPr marL="0" lvl="0" indent="0" algn="l" rtl="0">
              <a:spcBef>
                <a:spcPts val="1600"/>
              </a:spcBef>
              <a:spcAft>
                <a:spcPts val="0"/>
              </a:spcAft>
              <a:buNone/>
            </a:pPr>
            <a:r>
              <a:rPr lang="en-GB" sz="1600">
                <a:solidFill>
                  <a:schemeClr val="dk2"/>
                </a:solidFill>
              </a:rPr>
              <a:t>The first microprocessor was developed in 1971 and was known as the Intel 4004.  Today’s microprocessors contain billions of transistors on a single chip less than the size of your hand.</a:t>
            </a:r>
            <a:endParaRPr sz="1600">
              <a:solidFill>
                <a:schemeClr val="dk2"/>
              </a:solidFill>
            </a:endParaRPr>
          </a:p>
          <a:p>
            <a:pPr marL="0" lvl="0" indent="0" algn="l" rtl="0">
              <a:spcBef>
                <a:spcPts val="1600"/>
              </a:spcBef>
              <a:spcAft>
                <a:spcPts val="1600"/>
              </a:spcAft>
              <a:buNone/>
            </a:pPr>
            <a:r>
              <a:rPr lang="en-GB" sz="1600">
                <a:solidFill>
                  <a:schemeClr val="dk2"/>
                </a:solidFill>
              </a:rPr>
              <a:t>This allowed personal computers to become practical and affordable in the late 1970’s and early 1980’s.</a:t>
            </a:r>
            <a:endParaRPr sz="16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Personal Computers</a:t>
            </a:r>
            <a:endParaRPr/>
          </a:p>
        </p:txBody>
      </p:sp>
      <p:sp>
        <p:nvSpPr>
          <p:cNvPr id="222" name="Google Shape;222;p34"/>
          <p:cNvSpPr txBox="1">
            <a:spLocks noGrp="1"/>
          </p:cNvSpPr>
          <p:nvPr>
            <p:ph type="body" idx="1"/>
          </p:nvPr>
        </p:nvSpPr>
        <p:spPr>
          <a:xfrm>
            <a:off x="729450" y="2078875"/>
            <a:ext cx="48579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The first personal computers or PC’s came in the late 1970’s/ early 1980’s from Commodore, Apple and IBM.</a:t>
            </a:r>
            <a:endParaRPr sz="1600">
              <a:solidFill>
                <a:schemeClr val="dk2"/>
              </a:solidFill>
            </a:endParaRPr>
          </a:p>
          <a:p>
            <a:pPr marL="0" lvl="0" indent="0" algn="l" rtl="0">
              <a:spcBef>
                <a:spcPts val="1600"/>
              </a:spcBef>
              <a:spcAft>
                <a:spcPts val="1600"/>
              </a:spcAft>
              <a:buNone/>
            </a:pPr>
            <a:r>
              <a:rPr lang="en-GB" sz="1600">
                <a:solidFill>
                  <a:schemeClr val="dk2"/>
                </a:solidFill>
              </a:rPr>
              <a:t>PC’s required computers to be usable by non experts.  This led to the creation of user interfaces such as Microsoft Windows and hardware devices such as keyboards and mice.</a:t>
            </a:r>
            <a:endParaRPr sz="1600">
              <a:solidFill>
                <a:schemeClr val="dk2"/>
              </a:solidFill>
            </a:endParaRPr>
          </a:p>
        </p:txBody>
      </p:sp>
      <p:pic>
        <p:nvPicPr>
          <p:cNvPr id="223" name="Google Shape;223;p34"/>
          <p:cNvPicPr preferRelativeResize="0"/>
          <p:nvPr/>
        </p:nvPicPr>
        <p:blipFill>
          <a:blip r:embed="rId3">
            <a:alphaModFix/>
          </a:blip>
          <a:stretch>
            <a:fillRect/>
          </a:stretch>
        </p:blipFill>
        <p:spPr>
          <a:xfrm>
            <a:off x="5734325" y="1730500"/>
            <a:ext cx="3098752" cy="26094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30" name="Google Shape;230;p35" descr="Steve Wozniak, the inventor of the personal computer, provides us with a tour of historical Apple II products. An absolutely classic video clip from my video collection. This was on my Apple IIc rollout VHS tape, from 1984.  &#10; &#10;Please visit www.woz.org for more information on the incredible Steve Wozniak. Also, make sure you check out his new book, &quot;iWoz&quot;. &#10; &#10;And don't forget to watch past the end credits. More to come! - Alfred &#10; &#10;PS: This segment was posted with permission by Steve Wozniak." title="Woz Presents the Apple Historical Museum">
            <a:hlinkClick r:id="rId3"/>
          </p:cNvPr>
          <p:cNvPicPr preferRelativeResize="0"/>
          <p:nvPr/>
        </p:nvPicPr>
        <p:blipFill>
          <a:blip r:embed="rId4">
            <a:alphaModFix/>
          </a:blip>
          <a:stretch>
            <a:fillRect/>
          </a:stretch>
        </p:blipFill>
        <p:spPr>
          <a:xfrm>
            <a:off x="2224775" y="1277150"/>
            <a:ext cx="4572000" cy="3429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Modern Computers</a:t>
            </a:r>
            <a:endParaRPr/>
          </a:p>
        </p:txBody>
      </p:sp>
      <p:sp>
        <p:nvSpPr>
          <p:cNvPr id="236" name="Google Shape;236;p3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rPr>
              <a:t>Today’s computers include laptops, tablets, PC’s and smart phones.  </a:t>
            </a:r>
            <a:endParaRPr sz="1600">
              <a:solidFill>
                <a:schemeClr val="dk2"/>
              </a:solidFill>
            </a:endParaRPr>
          </a:p>
          <a:p>
            <a:pPr marL="0" lvl="0" indent="0" algn="l" rtl="0">
              <a:spcBef>
                <a:spcPts val="1600"/>
              </a:spcBef>
              <a:spcAft>
                <a:spcPts val="0"/>
              </a:spcAft>
              <a:buNone/>
            </a:pPr>
            <a:r>
              <a:rPr lang="en-GB" sz="1600">
                <a:solidFill>
                  <a:schemeClr val="dk2"/>
                </a:solidFill>
              </a:rPr>
              <a:t>PC’s today cost hundreds of euro and have memory capacities and chips that operate at speeds that would have cost millions at the turn of the last century.</a:t>
            </a:r>
            <a:endParaRPr sz="1600">
              <a:solidFill>
                <a:schemeClr val="dk2"/>
              </a:solidFill>
            </a:endParaRPr>
          </a:p>
          <a:p>
            <a:pPr marL="0" lvl="0" indent="0" algn="l" rtl="0">
              <a:spcBef>
                <a:spcPts val="1600"/>
              </a:spcBef>
              <a:spcAft>
                <a:spcPts val="0"/>
              </a:spcAft>
              <a:buNone/>
            </a:pPr>
            <a:r>
              <a:rPr lang="en-GB" sz="1600">
                <a:solidFill>
                  <a:schemeClr val="dk2"/>
                </a:solidFill>
              </a:rPr>
              <a:t>They are connected to the internet allowing them to access vast quantities of data.</a:t>
            </a:r>
            <a:endParaRPr sz="1600">
              <a:solidFill>
                <a:schemeClr val="dk2"/>
              </a:solidFill>
            </a:endParaRPr>
          </a:p>
          <a:p>
            <a:pPr marL="0" lvl="0" indent="0" algn="l" rtl="0">
              <a:spcBef>
                <a:spcPts val="1600"/>
              </a:spcBef>
              <a:spcAft>
                <a:spcPts val="1600"/>
              </a:spcAft>
              <a:buNone/>
            </a:pPr>
            <a:r>
              <a:rPr lang="en-GB" sz="1600">
                <a:solidFill>
                  <a:schemeClr val="dk2"/>
                </a:solidFill>
              </a:rPr>
              <a:t>The fastest computer today is approximately 5 million times faster than a normal laptop and 66 billion times faster than the CDC 6600, the first supercomputer from about 50 years ago.</a:t>
            </a:r>
            <a:endParaRPr sz="1600">
              <a:solidFill>
                <a:schemeClr val="dk2"/>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1550</Words>
  <Application>Microsoft Office PowerPoint</Application>
  <PresentationFormat>On-screen Show (16:9)</PresentationFormat>
  <Paragraphs>82</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Lato</vt:lpstr>
      <vt:lpstr>Arial</vt:lpstr>
      <vt:lpstr>Raleway</vt:lpstr>
      <vt:lpstr>Streamline</vt:lpstr>
      <vt:lpstr>Evolution of Computers</vt:lpstr>
      <vt:lpstr>What is a Computer?</vt:lpstr>
      <vt:lpstr>What is a Computer?</vt:lpstr>
      <vt:lpstr>Early Computing</vt:lpstr>
      <vt:lpstr>Early Computing</vt:lpstr>
      <vt:lpstr>The First Computers</vt:lpstr>
      <vt:lpstr>The Difference Engine</vt:lpstr>
      <vt:lpstr>The Analytical Engine</vt:lpstr>
      <vt:lpstr>The first Computer Programmer</vt:lpstr>
      <vt:lpstr>Mechanical to Electronic</vt:lpstr>
      <vt:lpstr>Second World War - Colossus and ENIAC</vt:lpstr>
      <vt:lpstr>PowerPoint Presentation</vt:lpstr>
      <vt:lpstr>PowerPoint Presentation</vt:lpstr>
      <vt:lpstr>Components of first programmable computers</vt:lpstr>
      <vt:lpstr>PowerPoint Presentation</vt:lpstr>
      <vt:lpstr>PowerPoint Presentation</vt:lpstr>
      <vt:lpstr>DARPA</vt:lpstr>
      <vt:lpstr>Vacuum tubes and electronic computers</vt:lpstr>
      <vt:lpstr>Transistors</vt:lpstr>
      <vt:lpstr>Integrated Circuits</vt:lpstr>
      <vt:lpstr>Microprocessors</vt:lpstr>
      <vt:lpstr>Personal Computers</vt:lpstr>
      <vt:lpstr>PowerPoint Presentation</vt:lpstr>
      <vt:lpstr>Modern Computers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Jim Finn (Adamstown CC)</cp:lastModifiedBy>
  <cp:revision>1</cp:revision>
  <dcterms:modified xsi:type="dcterms:W3CDTF">2026-01-05T07:35:36Z</dcterms:modified>
</cp:coreProperties>
</file>