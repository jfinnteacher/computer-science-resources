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67" roundtripDataSignature="AMtx7mi63dw6xpOYPE0RtpxFPjiA4BHz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6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6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6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6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6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6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7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7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7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7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7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7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7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repl.it/@suzannelinnane/CleaningData-from-a-text-file" TargetMode="External"/><Relationship Id="rId4" Type="http://schemas.openxmlformats.org/officeDocument/2006/relationships/hyperlink" Target="https://repl.it/@suzannelinnane/Cleaning-Data-from-a-csv-fil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8.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8.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2.png"/><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5.png"/><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1.png"/><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8.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GB"/>
              <a:t>Analytics</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a:t>Chapter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Analytics</a:t>
            </a:r>
            <a:endParaRPr b="1"/>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Analytics or data analytics is the computer science discipline of analysing and interpreting data.</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Most computer science applications amass a lot of data over time.</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For example a medical system could store millions of instances of data in seconds.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The goal of Analytics is to process and transform the data, present the data in a meaningful way and finally interpret the data.</a:t>
            </a:r>
            <a:endParaRPr>
              <a:solidFill>
                <a:srgbClr val="000000"/>
              </a:solidFill>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Data Analytics</a:t>
            </a:r>
            <a:endParaRPr/>
          </a:p>
        </p:txBody>
      </p:sp>
      <p:sp>
        <p:nvSpPr>
          <p:cNvPr id="67" name="Google Shape;6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Terms that are similar:</a:t>
            </a:r>
            <a:endParaRPr>
              <a:solidFill>
                <a:srgbClr val="000000"/>
              </a:solidFill>
            </a:endParaRPr>
          </a:p>
          <a:p>
            <a:pPr indent="-342900" lvl="0" marL="457200" rtl="0" algn="l">
              <a:lnSpc>
                <a:spcPct val="115000"/>
              </a:lnSpc>
              <a:spcBef>
                <a:spcPts val="1600"/>
              </a:spcBef>
              <a:spcAft>
                <a:spcPts val="0"/>
              </a:spcAft>
              <a:buClr>
                <a:srgbClr val="000000"/>
              </a:buClr>
              <a:buSzPts val="1800"/>
              <a:buChar char="●"/>
            </a:pPr>
            <a:r>
              <a:rPr lang="en-GB">
                <a:solidFill>
                  <a:srgbClr val="000000"/>
                </a:solidFill>
              </a:rPr>
              <a:t>Data Analytics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Data Analysis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Data Mining</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Data Science</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Data</a:t>
            </a:r>
            <a:endParaRPr b="1"/>
          </a:p>
        </p:txBody>
      </p:sp>
      <p:sp>
        <p:nvSpPr>
          <p:cNvPr id="73" name="Google Shape;73;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Data is the term used to typically represent raw data, from sources such as a CSV file, a List or data from a database.</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It is typically in a form that is of no use to a computer scientist.</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Pre-processing is usually the next step.</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Pre processing</a:t>
            </a:r>
            <a:endParaRPr b="1"/>
          </a:p>
        </p:txBody>
      </p:sp>
      <p:sp>
        <p:nvSpPr>
          <p:cNvPr id="79" name="Google Shape;7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One of the first things that computer scientists exam are outliers - for example someone could have accidently typed an extra zero when entering an age resulting in 200 and not 20.</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A simple method is to remove that value.</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Another pre processing method is to sort the data.  </a:t>
            </a:r>
            <a:endParaRPr>
              <a:solidFill>
                <a:srgbClr val="000000"/>
              </a:solidFill>
            </a:endParaRPr>
          </a:p>
          <a:p>
            <a:pPr indent="0" lvl="0" marL="0" rtl="0" algn="l">
              <a:lnSpc>
                <a:spcPct val="115000"/>
              </a:lnSpc>
              <a:spcBef>
                <a:spcPts val="1600"/>
              </a:spcBef>
              <a:spcAft>
                <a:spcPts val="1600"/>
              </a:spcAft>
              <a:buSzPts val="1800"/>
              <a:buNone/>
            </a:pPr>
            <a:r>
              <a:rPr lang="en-GB">
                <a:solidFill>
                  <a:srgbClr val="000000"/>
                </a:solidFill>
              </a:rPr>
              <a:t>This is useful to get the max and min values or getting ready to count frequency.</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Information</a:t>
            </a:r>
            <a:endParaRPr b="1"/>
          </a:p>
        </p:txBody>
      </p:sp>
      <p:sp>
        <p:nvSpPr>
          <p:cNvPr id="85" name="Google Shape;85;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Information usually refers to gathering or presenting the data for the user.</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This typically requires presenting the data visually such as a graph or a figure.</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Analysis</a:t>
            </a:r>
            <a:endParaRPr b="1"/>
          </a:p>
        </p:txBody>
      </p:sp>
      <p:sp>
        <p:nvSpPr>
          <p:cNvPr id="91" name="Google Shape;91;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Even with information the fine details are not always obvious.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Information is a great aid for presenting your findings, but algorithms can be more accurate when interpreting the data.</a:t>
            </a:r>
            <a:endParaRPr>
              <a:solidFill>
                <a:srgbClr val="000000"/>
              </a:solidFill>
            </a:endParaRPr>
          </a:p>
          <a:p>
            <a:pPr indent="0" lvl="0" marL="0" rtl="0" algn="l">
              <a:lnSpc>
                <a:spcPct val="115000"/>
              </a:lnSpc>
              <a:spcBef>
                <a:spcPts val="1600"/>
              </a:spcBef>
              <a:spcAft>
                <a:spcPts val="1600"/>
              </a:spcAft>
              <a:buSzPts val="1800"/>
              <a:buNone/>
            </a:pPr>
            <a:r>
              <a:rPr lang="en-GB">
                <a:solidFill>
                  <a:srgbClr val="000000"/>
                </a:solidFill>
              </a:rPr>
              <a:t>Algorithms such as frequency, mean, median, minimum, maximum and mode of data can really add clarity and help interpret the data.</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Data - Python Lists</a:t>
            </a:r>
            <a:endParaRPr b="1"/>
          </a:p>
        </p:txBody>
      </p:sp>
      <p:sp>
        <p:nvSpPr>
          <p:cNvPr id="97" name="Google Shape;9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Lists in Python are fundamental in analytics.  Even if our data is stored in a 2D list (like a database), most algorithms such as frequency, mean, median and mode can be calculated on a 1D list.</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Text Files</a:t>
            </a:r>
            <a:endParaRPr b="1"/>
          </a:p>
        </p:txBody>
      </p:sp>
      <p:sp>
        <p:nvSpPr>
          <p:cNvPr id="103" name="Google Shape;103;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Text files are one of the most versatile files for computer scientists.  </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Example of creating a text file and entering data.</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file = open(“myFirstTextFile.txt”,”w”)</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file.write(“Test text”)</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1600"/>
              </a:spcAft>
              <a:buSzPts val="1800"/>
              <a:buNone/>
            </a:pPr>
            <a:r>
              <a:rPr lang="en-GB">
                <a:solidFill>
                  <a:srgbClr val="000000"/>
                </a:solidFill>
                <a:latin typeface="Consolas"/>
                <a:ea typeface="Consolas"/>
                <a:cs typeface="Consolas"/>
                <a:sym typeface="Consolas"/>
              </a:rPr>
              <a:t>file.close()</a:t>
            </a:r>
            <a:endParaRPr>
              <a:solidFill>
                <a:srgbClr val="000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0"/>
          <p:cNvSpPr txBox="1"/>
          <p:nvPr>
            <p:ph idx="1" type="body"/>
          </p:nvPr>
        </p:nvSpPr>
        <p:spPr>
          <a:xfrm>
            <a:off x="311700" y="135275"/>
            <a:ext cx="8520600" cy="443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onsolas"/>
                <a:ea typeface="Consolas"/>
                <a:cs typeface="Consolas"/>
                <a:sym typeface="Consolas"/>
              </a:rPr>
              <a:t>file = open(“myFirstTextFile.txt”,”w”)</a:t>
            </a:r>
            <a:endParaRPr b="1">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rPr>
              <a:t>The first line allows access to the file.  If the file does not exist, Python automatically creates it for you.</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File</a:t>
            </a:r>
            <a:r>
              <a:rPr lang="en-GB">
                <a:solidFill>
                  <a:srgbClr val="000000"/>
                </a:solidFill>
              </a:rPr>
              <a:t> (on the first line)  is just a variable name.  The </a:t>
            </a:r>
            <a:r>
              <a:rPr lang="en-GB">
                <a:solidFill>
                  <a:srgbClr val="000000"/>
                </a:solidFill>
                <a:latin typeface="Consolas"/>
                <a:ea typeface="Consolas"/>
                <a:cs typeface="Consolas"/>
                <a:sym typeface="Consolas"/>
              </a:rPr>
              <a:t>open </a:t>
            </a:r>
            <a:r>
              <a:rPr lang="en-GB">
                <a:solidFill>
                  <a:srgbClr val="000000"/>
                </a:solidFill>
              </a:rPr>
              <a:t>method takes two arguments: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The first argument is a string that is the file name.  You also need the file extension.  For a text file, this is .txt.</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The second argument is what you are doing with the file.  There are three options: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“w” - write.  This will overwrite any previous contents.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“a” - append.  This adds the text to the end of the current contents.</a:t>
            </a:r>
            <a:endParaRPr>
              <a:solidFill>
                <a:srgbClr val="000000"/>
              </a:solidFill>
            </a:endParaRPr>
          </a:p>
          <a:p>
            <a:pPr indent="0" lvl="0" marL="0" rtl="0" algn="l">
              <a:lnSpc>
                <a:spcPct val="115000"/>
              </a:lnSpc>
              <a:spcBef>
                <a:spcPts val="1600"/>
              </a:spcBef>
              <a:spcAft>
                <a:spcPts val="1600"/>
              </a:spcAft>
              <a:buSzPts val="1800"/>
              <a:buNone/>
            </a:pPr>
            <a:r>
              <a:rPr lang="en-GB">
                <a:solidFill>
                  <a:srgbClr val="000000"/>
                </a:solidFill>
              </a:rPr>
              <a:t>“r” - read.  This read the contents of the file as a string.</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1"/>
          <p:cNvSpPr txBox="1"/>
          <p:nvPr>
            <p:ph idx="1" type="body"/>
          </p:nvPr>
        </p:nvSpPr>
        <p:spPr>
          <a:xfrm>
            <a:off x="311700" y="148800"/>
            <a:ext cx="8520600" cy="442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chemeClr val="dk1"/>
                </a:solidFill>
                <a:latin typeface="Consolas"/>
                <a:ea typeface="Consolas"/>
                <a:cs typeface="Consolas"/>
                <a:sym typeface="Consolas"/>
              </a:rPr>
              <a:t>file.write(“Test text”)</a:t>
            </a:r>
            <a:endParaRPr b="1">
              <a:solidFill>
                <a:schemeClr val="dk1"/>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chemeClr val="dk1"/>
                </a:solidFill>
              </a:rPr>
              <a:t>The second line of code, we pass a string in as an argument to be written to the file.</a:t>
            </a:r>
            <a:endParaRPr>
              <a:solidFill>
                <a:schemeClr val="dk1"/>
              </a:solidFill>
            </a:endParaRPr>
          </a:p>
          <a:p>
            <a:pPr indent="0" lvl="0" marL="0" rtl="0" algn="l">
              <a:lnSpc>
                <a:spcPct val="115000"/>
              </a:lnSpc>
              <a:spcBef>
                <a:spcPts val="1600"/>
              </a:spcBef>
              <a:spcAft>
                <a:spcPts val="0"/>
              </a:spcAft>
              <a:buSzPts val="1800"/>
              <a:buNone/>
            </a:pPr>
            <a:r>
              <a:t/>
            </a:r>
            <a:endParaRPr>
              <a:solidFill>
                <a:schemeClr val="dk1"/>
              </a:solidFill>
            </a:endParaRPr>
          </a:p>
          <a:p>
            <a:pPr indent="0" lvl="0" marL="0" rtl="0" algn="l">
              <a:lnSpc>
                <a:spcPct val="115000"/>
              </a:lnSpc>
              <a:spcBef>
                <a:spcPts val="1600"/>
              </a:spcBef>
              <a:spcAft>
                <a:spcPts val="0"/>
              </a:spcAft>
              <a:buSzPts val="1800"/>
              <a:buNone/>
            </a:pPr>
            <a:r>
              <a:rPr b="1" lang="en-GB">
                <a:solidFill>
                  <a:schemeClr val="dk1"/>
                </a:solidFill>
                <a:latin typeface="Consolas"/>
                <a:ea typeface="Consolas"/>
                <a:cs typeface="Consolas"/>
                <a:sym typeface="Consolas"/>
              </a:rPr>
              <a:t>file.close()</a:t>
            </a:r>
            <a:endParaRPr b="1">
              <a:solidFill>
                <a:schemeClr val="dk1"/>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chemeClr val="dk1"/>
                </a:solidFill>
              </a:rPr>
              <a:t>The third line of code closes the connection to the file.</a:t>
            </a:r>
            <a:endParaRPr>
              <a:solidFill>
                <a:schemeClr val="dk1"/>
              </a:solidFill>
            </a:endParaRPr>
          </a:p>
          <a:p>
            <a:pPr indent="0" lvl="0" marL="0" rtl="0" algn="l">
              <a:lnSpc>
                <a:spcPct val="115000"/>
              </a:lnSpc>
              <a:spcBef>
                <a:spcPts val="1600"/>
              </a:spcBef>
              <a:spcAft>
                <a:spcPts val="0"/>
              </a:spcAft>
              <a:buSzPts val="1800"/>
              <a:buNone/>
            </a:pPr>
            <a:r>
              <a:rPr lang="en-GB">
                <a:solidFill>
                  <a:schemeClr val="dk1"/>
                </a:solidFill>
              </a:rPr>
              <a:t>Python must request to open a file, it must also say when it is complete and release the file.  If you don’t then you may get an error when trying to use this file again.</a:t>
            </a:r>
            <a:endParaRPr>
              <a:solidFill>
                <a:schemeClr val="dk1"/>
              </a:solidFill>
            </a:endParaRPr>
          </a:p>
          <a:p>
            <a:pPr indent="0" lvl="0" marL="0" rtl="0" algn="l">
              <a:lnSpc>
                <a:spcPct val="115000"/>
              </a:lnSpc>
              <a:spcBef>
                <a:spcPts val="1600"/>
              </a:spcBef>
              <a:spcAft>
                <a:spcPts val="1600"/>
              </a:spcAft>
              <a:buClr>
                <a:schemeClr val="dk1"/>
              </a:buClr>
              <a:buSzPts val="1100"/>
              <a:buFont typeface="Arial"/>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Reading the file</a:t>
            </a:r>
            <a:endParaRPr b="1"/>
          </a:p>
        </p:txBody>
      </p:sp>
      <p:sp>
        <p:nvSpPr>
          <p:cNvPr id="119" name="Google Shape;119;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To read in the same file we just created, we could do the following:</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file = open(“myFirstTextFile.txt”, “r”)</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dataIn = file.read()</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file.close()</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1600"/>
              </a:spcAft>
              <a:buSzPts val="1800"/>
              <a:buNone/>
            </a:pPr>
            <a:r>
              <a:rPr lang="en-GB">
                <a:solidFill>
                  <a:srgbClr val="000000"/>
                </a:solidFill>
                <a:latin typeface="Consolas"/>
                <a:ea typeface="Consolas"/>
                <a:cs typeface="Consolas"/>
                <a:sym typeface="Consolas"/>
              </a:rPr>
              <a:t>print(dataIn)</a:t>
            </a:r>
            <a:endParaRPr>
              <a:solidFill>
                <a:srgbClr val="000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CSV files</a:t>
            </a:r>
            <a:endParaRPr b="1"/>
          </a:p>
        </p:txBody>
      </p:sp>
      <p:sp>
        <p:nvSpPr>
          <p:cNvPr id="125" name="Google Shape;125;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While text files have their uses, they are not the most suitable for storing data, especially large amounts of data.</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A CSV file is essentially like a .txt file.  It uses the same Unicode/ASCII structure.</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CSV stands for “comma separated values”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Computer Scientists like this format for the following reasons:</a:t>
            </a:r>
            <a:endParaRPr>
              <a:solidFill>
                <a:srgbClr val="000000"/>
              </a:solidFill>
            </a:endParaRPr>
          </a:p>
          <a:p>
            <a:pPr indent="-342900" lvl="0" marL="457200" rtl="0" algn="l">
              <a:lnSpc>
                <a:spcPct val="115000"/>
              </a:lnSpc>
              <a:spcBef>
                <a:spcPts val="1600"/>
              </a:spcBef>
              <a:spcAft>
                <a:spcPts val="0"/>
              </a:spcAft>
              <a:buClr>
                <a:srgbClr val="000000"/>
              </a:buClr>
              <a:buSzPts val="1800"/>
              <a:buChar char="●"/>
            </a:pPr>
            <a:r>
              <a:rPr lang="en-GB">
                <a:solidFill>
                  <a:srgbClr val="000000"/>
                </a:solidFill>
              </a:rPr>
              <a:t>Quick to read and write to in Python</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Excel has a row limit of 1,048,576 rows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The file can be used even if you do not have excel on your computer.</a:t>
            </a:r>
            <a:endParaRPr>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CSV Structure</a:t>
            </a:r>
            <a:endParaRPr b="1"/>
          </a:p>
        </p:txBody>
      </p:sp>
      <p:sp>
        <p:nvSpPr>
          <p:cNvPr id="131" name="Google Shape;131;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The structure of a CSV file is relatively simple but the format can cause some issues:</a:t>
            </a:r>
            <a:endParaRPr>
              <a:solidFill>
                <a:srgbClr val="000000"/>
              </a:solidFill>
            </a:endParaRPr>
          </a:p>
          <a:p>
            <a:pPr indent="-342900" lvl="0" marL="457200" rtl="0" algn="l">
              <a:lnSpc>
                <a:spcPct val="115000"/>
              </a:lnSpc>
              <a:spcBef>
                <a:spcPts val="1600"/>
              </a:spcBef>
              <a:spcAft>
                <a:spcPts val="0"/>
              </a:spcAft>
              <a:buClr>
                <a:srgbClr val="000000"/>
              </a:buClr>
              <a:buSzPts val="1800"/>
              <a:buChar char="●"/>
            </a:pPr>
            <a:r>
              <a:rPr lang="en-GB">
                <a:solidFill>
                  <a:srgbClr val="000000"/>
                </a:solidFill>
              </a:rPr>
              <a:t>Commas separate elements on a row.  These are called delimiters.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A new line special character “\n” represents the end of a row and the start of a new row.</a:t>
            </a:r>
            <a:endParaRPr>
              <a:solidFill>
                <a:srgbClr val="000000"/>
              </a:solidFill>
            </a:endParaRPr>
          </a:p>
          <a:p>
            <a:pPr indent="0" lvl="0" marL="457200" rtl="0" algn="l">
              <a:lnSpc>
                <a:spcPct val="115000"/>
              </a:lnSpc>
              <a:spcBef>
                <a:spcPts val="1600"/>
              </a:spcBef>
              <a:spcAft>
                <a:spcPts val="1600"/>
              </a:spcAft>
              <a:buSzPts val="1800"/>
              <a:buNone/>
            </a:pPr>
            <a:r>
              <a:t/>
            </a:r>
            <a:endParaRPr>
              <a:solidFill>
                <a:srgbClr val="000000"/>
              </a:solidFill>
            </a:endParaRPr>
          </a:p>
        </p:txBody>
      </p:sp>
      <p:pic>
        <p:nvPicPr>
          <p:cNvPr id="132" name="Google Shape;132;p14"/>
          <p:cNvPicPr preferRelativeResize="0"/>
          <p:nvPr/>
        </p:nvPicPr>
        <p:blipFill rotWithShape="1">
          <a:blip r:embed="rId3">
            <a:alphaModFix/>
          </a:blip>
          <a:srcRect b="0" l="0" r="0" t="0"/>
          <a:stretch/>
        </p:blipFill>
        <p:spPr>
          <a:xfrm>
            <a:off x="2824150" y="2728375"/>
            <a:ext cx="3495675" cy="2076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Reading and Writing to CSV file</a:t>
            </a:r>
            <a:endParaRPr b="1"/>
          </a:p>
        </p:txBody>
      </p:sp>
      <p:sp>
        <p:nvSpPr>
          <p:cNvPr id="138" name="Google Shape;138;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Reading and Writing to a csv file can be done the same way as for a text file.  You just need to change the file extension.</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pic>
        <p:nvPicPr>
          <p:cNvPr id="139" name="Google Shape;139;p15"/>
          <p:cNvPicPr preferRelativeResize="0"/>
          <p:nvPr/>
        </p:nvPicPr>
        <p:blipFill rotWithShape="1">
          <a:blip r:embed="rId3">
            <a:alphaModFix/>
          </a:blip>
          <a:srcRect b="0" l="0" r="0" t="0"/>
          <a:stretch/>
        </p:blipFill>
        <p:spPr>
          <a:xfrm>
            <a:off x="311700" y="1948882"/>
            <a:ext cx="4679800" cy="1261100"/>
          </a:xfrm>
          <a:prstGeom prst="rect">
            <a:avLst/>
          </a:prstGeom>
          <a:noFill/>
          <a:ln>
            <a:noFill/>
          </a:ln>
        </p:spPr>
      </p:pic>
      <p:pic>
        <p:nvPicPr>
          <p:cNvPr id="140" name="Google Shape;140;p15"/>
          <p:cNvPicPr preferRelativeResize="0"/>
          <p:nvPr/>
        </p:nvPicPr>
        <p:blipFill rotWithShape="1">
          <a:blip r:embed="rId4">
            <a:alphaModFix/>
          </a:blip>
          <a:srcRect b="0" l="0" r="0" t="0"/>
          <a:stretch/>
        </p:blipFill>
        <p:spPr>
          <a:xfrm>
            <a:off x="482650" y="3084801"/>
            <a:ext cx="4211475" cy="1620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146" name="Google Shape;146;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The code in the previous slide prints a string for us.  This is not really useful if we want to find a total or an average etc.</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We know that every element is separated by a comma in a csv file.</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We can use this to our advantage and write a loop to go through the string and take out elements with a comma in between them.</a:t>
            </a:r>
            <a:endParaRPr>
              <a:solidFill>
                <a:srgbClr val="000000"/>
              </a:solidFill>
            </a:endParaRPr>
          </a:p>
          <a:p>
            <a:pPr indent="0" lvl="0" marL="0" rtl="0" algn="l">
              <a:lnSpc>
                <a:spcPct val="115000"/>
              </a:lnSpc>
              <a:spcBef>
                <a:spcPts val="1600"/>
              </a:spcBef>
              <a:spcAft>
                <a:spcPts val="1600"/>
              </a:spcAft>
              <a:buSzPts val="1800"/>
              <a:buNone/>
            </a:pPr>
            <a:r>
              <a:rPr lang="en-GB">
                <a:solidFill>
                  <a:srgbClr val="000000"/>
                </a:solidFill>
              </a:rPr>
              <a:t>This sounds complicated but Python has a method for doing this - it can separate a string into a list based on any specified delimiter (in our case it’s a comma)</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152" name="Google Shape;152;p17"/>
          <p:cNvSpPr txBox="1"/>
          <p:nvPr>
            <p:ph idx="1" type="body"/>
          </p:nvPr>
        </p:nvSpPr>
        <p:spPr>
          <a:xfrm>
            <a:off x="311700" y="1786575"/>
            <a:ext cx="8520600" cy="278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The .split() method takes the delimiter as an argument.</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Notice that all the elements in the list are strings.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We can convert each element to an int so that we can do calculations on them.  Python has an easy way to do this.</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pic>
        <p:nvPicPr>
          <p:cNvPr id="153" name="Google Shape;153;p17"/>
          <p:cNvPicPr preferRelativeResize="0"/>
          <p:nvPr/>
        </p:nvPicPr>
        <p:blipFill rotWithShape="1">
          <a:blip r:embed="rId3">
            <a:alphaModFix/>
          </a:blip>
          <a:srcRect b="0" l="0" r="0" t="0"/>
          <a:stretch/>
        </p:blipFill>
        <p:spPr>
          <a:xfrm>
            <a:off x="163575" y="283325"/>
            <a:ext cx="4267125" cy="1400825"/>
          </a:xfrm>
          <a:prstGeom prst="rect">
            <a:avLst/>
          </a:prstGeom>
          <a:noFill/>
          <a:ln>
            <a:noFill/>
          </a:ln>
        </p:spPr>
      </p:pic>
      <p:pic>
        <p:nvPicPr>
          <p:cNvPr id="154" name="Google Shape;154;p17"/>
          <p:cNvPicPr preferRelativeResize="0"/>
          <p:nvPr/>
        </p:nvPicPr>
        <p:blipFill rotWithShape="1">
          <a:blip r:embed="rId4">
            <a:alphaModFix/>
          </a:blip>
          <a:srcRect b="0" l="0" r="0" t="0"/>
          <a:stretch/>
        </p:blipFill>
        <p:spPr>
          <a:xfrm>
            <a:off x="4350850" y="3343263"/>
            <a:ext cx="3714750" cy="1800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Pre-Processing and Transforming Data</a:t>
            </a:r>
            <a:endParaRPr b="1"/>
          </a:p>
        </p:txBody>
      </p:sp>
      <p:sp>
        <p:nvSpPr>
          <p:cNvPr id="160" name="Google Shape;160;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Pre-Processing allows to apply techniques to ensure the data is of good quality.  </a:t>
            </a:r>
            <a:endParaRPr/>
          </a:p>
          <a:p>
            <a:pPr indent="0" lvl="0" marL="0" rtl="0" algn="l">
              <a:lnSpc>
                <a:spcPct val="115000"/>
              </a:lnSpc>
              <a:spcBef>
                <a:spcPts val="1600"/>
              </a:spcBef>
              <a:spcAft>
                <a:spcPts val="0"/>
              </a:spcAft>
              <a:buSzPts val="1800"/>
              <a:buNone/>
            </a:pPr>
            <a:r>
              <a:rPr lang="en-GB"/>
              <a:t>Typical errors in data that require pre-processing are:</a:t>
            </a:r>
            <a:endParaRPr/>
          </a:p>
          <a:p>
            <a:pPr indent="-342900" lvl="0" marL="457200" rtl="0" algn="l">
              <a:lnSpc>
                <a:spcPct val="115000"/>
              </a:lnSpc>
              <a:spcBef>
                <a:spcPts val="1600"/>
              </a:spcBef>
              <a:spcAft>
                <a:spcPts val="0"/>
              </a:spcAft>
              <a:buSzPts val="1800"/>
              <a:buChar char="●"/>
            </a:pPr>
            <a:r>
              <a:rPr lang="en-GB"/>
              <a:t>Missing data</a:t>
            </a:r>
            <a:endParaRPr/>
          </a:p>
          <a:p>
            <a:pPr indent="-342900" lvl="0" marL="457200" rtl="0" algn="l">
              <a:lnSpc>
                <a:spcPct val="115000"/>
              </a:lnSpc>
              <a:spcBef>
                <a:spcPts val="0"/>
              </a:spcBef>
              <a:spcAft>
                <a:spcPts val="0"/>
              </a:spcAft>
              <a:buSzPts val="1800"/>
              <a:buChar char="●"/>
            </a:pPr>
            <a:r>
              <a:rPr lang="en-GB"/>
              <a:t>Data out of range</a:t>
            </a:r>
            <a:endParaRPr/>
          </a:p>
          <a:p>
            <a:pPr indent="-342900" lvl="0" marL="457200" rtl="0" algn="l">
              <a:lnSpc>
                <a:spcPct val="115000"/>
              </a:lnSpc>
              <a:spcBef>
                <a:spcPts val="0"/>
              </a:spcBef>
              <a:spcAft>
                <a:spcPts val="0"/>
              </a:spcAft>
              <a:buSzPts val="1800"/>
              <a:buChar char="●"/>
            </a:pPr>
            <a:r>
              <a:rPr lang="en-GB"/>
              <a:t>Non validated data</a:t>
            </a:r>
            <a:endParaRPr/>
          </a:p>
          <a:p>
            <a:pPr indent="-342900" lvl="0" marL="457200" rtl="0" algn="l">
              <a:lnSpc>
                <a:spcPct val="115000"/>
              </a:lnSpc>
              <a:spcBef>
                <a:spcPts val="0"/>
              </a:spcBef>
              <a:spcAft>
                <a:spcPts val="0"/>
              </a:spcAft>
              <a:buSzPts val="1800"/>
              <a:buChar char="●"/>
            </a:pPr>
            <a:r>
              <a:rPr lang="en-GB"/>
              <a:t>Data structure incorrect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Sorting	</a:t>
            </a:r>
            <a:endParaRPr b="1"/>
          </a:p>
        </p:txBody>
      </p:sp>
      <p:sp>
        <p:nvSpPr>
          <p:cNvPr id="166" name="Google Shape;166;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Sorting is useful for many reasons.  If you sort, you will know the largest and the smallest are the first and the last value of the list.</a:t>
            </a:r>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myList = [1,19,27,8,5,9]</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myList.sort()</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print(“Sorted Ascending:” myList)</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SzPts val="1800"/>
              <a:buNone/>
            </a:pPr>
            <a:r>
              <a:rPr lang="en-GB">
                <a:solidFill>
                  <a:srgbClr val="000000"/>
                </a:solidFill>
                <a:latin typeface="Consolas"/>
                <a:ea typeface="Consolas"/>
                <a:cs typeface="Consolas"/>
                <a:sym typeface="Consolas"/>
              </a:rPr>
              <a:t>myList.sort(reverse = True)</a:t>
            </a:r>
            <a:endParaRPr>
              <a:solidFill>
                <a:srgbClr val="000000"/>
              </a:solidFill>
              <a:latin typeface="Consolas"/>
              <a:ea typeface="Consolas"/>
              <a:cs typeface="Consolas"/>
              <a:sym typeface="Consolas"/>
            </a:endParaRPr>
          </a:p>
          <a:p>
            <a:pPr indent="0" lvl="0" marL="0" rtl="0" algn="l">
              <a:lnSpc>
                <a:spcPct val="115000"/>
              </a:lnSpc>
              <a:spcBef>
                <a:spcPts val="1600"/>
              </a:spcBef>
              <a:spcAft>
                <a:spcPts val="0"/>
              </a:spcAft>
              <a:buClr>
                <a:schemeClr val="dk1"/>
              </a:buClr>
              <a:buSzPts val="1100"/>
              <a:buFont typeface="Arial"/>
              <a:buNone/>
            </a:pPr>
            <a:r>
              <a:rPr lang="en-GB">
                <a:solidFill>
                  <a:schemeClr val="dk1"/>
                </a:solidFill>
                <a:latin typeface="Consolas"/>
                <a:ea typeface="Consolas"/>
                <a:cs typeface="Consolas"/>
                <a:sym typeface="Consolas"/>
              </a:rPr>
              <a:t>print(“Sorted Descending:” myList)</a:t>
            </a:r>
            <a:endParaRPr>
              <a:solidFill>
                <a:schemeClr val="dk1"/>
              </a:solidFill>
              <a:latin typeface="Consolas"/>
              <a:ea typeface="Consolas"/>
              <a:cs typeface="Consolas"/>
              <a:sym typeface="Consolas"/>
            </a:endParaRPr>
          </a:p>
          <a:p>
            <a:pPr indent="0" lvl="0" marL="0" rtl="0" algn="l">
              <a:lnSpc>
                <a:spcPct val="115000"/>
              </a:lnSpc>
              <a:spcBef>
                <a:spcPts val="1600"/>
              </a:spcBef>
              <a:spcAft>
                <a:spcPts val="1600"/>
              </a:spcAft>
              <a:buSzPts val="1800"/>
              <a:buNone/>
            </a:pPr>
            <a:r>
              <a:t/>
            </a:r>
            <a:endParaRPr>
              <a:solidFill>
                <a:srgbClr val="000000"/>
              </a:solidFill>
              <a:latin typeface="Consolas"/>
              <a:ea typeface="Consolas"/>
              <a:cs typeface="Consolas"/>
              <a:sym typeface="Consolas"/>
            </a:endParaRPr>
          </a:p>
        </p:txBody>
      </p:sp>
      <p:pic>
        <p:nvPicPr>
          <p:cNvPr id="167" name="Google Shape;167;p19"/>
          <p:cNvPicPr preferRelativeResize="0"/>
          <p:nvPr/>
        </p:nvPicPr>
        <p:blipFill rotWithShape="1">
          <a:blip r:embed="rId3">
            <a:alphaModFix/>
          </a:blip>
          <a:srcRect b="0" l="0" r="0" t="0"/>
          <a:stretch/>
        </p:blipFill>
        <p:spPr>
          <a:xfrm>
            <a:off x="4618225" y="4265226"/>
            <a:ext cx="4525775" cy="878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Removing Missing Data</a:t>
            </a:r>
            <a:endParaRPr b="1"/>
          </a:p>
        </p:txBody>
      </p:sp>
      <p:sp>
        <p:nvSpPr>
          <p:cNvPr id="173" name="Google Shape;173;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Sometimes data in a list could be identified as an error and may need to be removed.</a:t>
            </a:r>
            <a:endParaRPr/>
          </a:p>
          <a:p>
            <a:pPr indent="0" lvl="0" marL="0" rtl="0" algn="l">
              <a:lnSpc>
                <a:spcPct val="115000"/>
              </a:lnSpc>
              <a:spcBef>
                <a:spcPts val="1600"/>
              </a:spcBef>
              <a:spcAft>
                <a:spcPts val="0"/>
              </a:spcAft>
              <a:buSzPts val="1800"/>
              <a:buNone/>
            </a:pPr>
            <a:r>
              <a:rPr lang="en-GB"/>
              <a:t>For example if a list should only contain positive numbers and a negative number is present.</a:t>
            </a:r>
            <a:endParaRPr/>
          </a:p>
          <a:p>
            <a:pPr indent="0" lvl="0" marL="0" rtl="0" algn="l">
              <a:lnSpc>
                <a:spcPct val="115000"/>
              </a:lnSpc>
              <a:spcBef>
                <a:spcPts val="1600"/>
              </a:spcBef>
              <a:spcAft>
                <a:spcPts val="0"/>
              </a:spcAft>
              <a:buSzPts val="1800"/>
              <a:buNone/>
            </a:pPr>
            <a:r>
              <a:rPr lang="en-GB"/>
              <a:t>A pre-processing step could be to remove all negative numbers</a:t>
            </a:r>
            <a:endParaRPr/>
          </a:p>
          <a:p>
            <a:pPr indent="0" lvl="0" marL="0" rtl="0" algn="l">
              <a:lnSpc>
                <a:spcPct val="100000"/>
              </a:lnSpc>
              <a:spcBef>
                <a:spcPts val="1600"/>
              </a:spcBef>
              <a:spcAft>
                <a:spcPts val="0"/>
              </a:spcAft>
              <a:buSzPts val="1800"/>
              <a:buNone/>
            </a:pPr>
            <a:r>
              <a:rPr lang="en-GB">
                <a:solidFill>
                  <a:srgbClr val="000000"/>
                </a:solidFill>
                <a:latin typeface="Consolas"/>
                <a:ea typeface="Consolas"/>
                <a:cs typeface="Consolas"/>
                <a:sym typeface="Consolas"/>
              </a:rPr>
              <a:t>myList = [1,-19,27,8,-5,9]</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SzPts val="1800"/>
              <a:buNone/>
            </a:pPr>
            <a:r>
              <a:rPr lang="en-GB">
                <a:solidFill>
                  <a:srgbClr val="000000"/>
                </a:solidFill>
                <a:latin typeface="Consolas"/>
                <a:ea typeface="Consolas"/>
                <a:cs typeface="Consolas"/>
                <a:sym typeface="Consolas"/>
              </a:rPr>
              <a:t>for item in myList:</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SzPts val="1800"/>
              <a:buNone/>
            </a:pPr>
            <a:r>
              <a:rPr lang="en-GB">
                <a:solidFill>
                  <a:srgbClr val="000000"/>
                </a:solidFill>
                <a:latin typeface="Consolas"/>
                <a:ea typeface="Consolas"/>
                <a:cs typeface="Consolas"/>
                <a:sym typeface="Consolas"/>
              </a:rPr>
              <a:t>	if item&lt;0:</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SzPts val="1800"/>
              <a:buNone/>
            </a:pPr>
            <a:r>
              <a:rPr lang="en-GB">
                <a:solidFill>
                  <a:srgbClr val="000000"/>
                </a:solidFill>
                <a:latin typeface="Consolas"/>
                <a:ea typeface="Consolas"/>
                <a:cs typeface="Consolas"/>
                <a:sym typeface="Consolas"/>
              </a:rPr>
              <a:t>		myList.remove(item)</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SzPts val="1800"/>
              <a:buNone/>
            </a:pPr>
            <a:r>
              <a:rPr lang="en-GB">
                <a:solidFill>
                  <a:srgbClr val="000000"/>
                </a:solidFill>
                <a:latin typeface="Consolas"/>
                <a:ea typeface="Consolas"/>
                <a:cs typeface="Consolas"/>
                <a:sym typeface="Consolas"/>
              </a:rPr>
              <a:t>print(myList)</a:t>
            </a:r>
            <a:endParaRPr>
              <a:solidFill>
                <a:srgbClr val="000000"/>
              </a:solidFill>
              <a:latin typeface="Consolas"/>
              <a:ea typeface="Consolas"/>
              <a:cs typeface="Consolas"/>
              <a:sym typeface="Consolas"/>
            </a:endParaRPr>
          </a:p>
        </p:txBody>
      </p:sp>
      <p:pic>
        <p:nvPicPr>
          <p:cNvPr id="174" name="Google Shape;174;p20"/>
          <p:cNvPicPr preferRelativeResize="0"/>
          <p:nvPr/>
        </p:nvPicPr>
        <p:blipFill rotWithShape="1">
          <a:blip r:embed="rId3">
            <a:alphaModFix/>
          </a:blip>
          <a:srcRect b="0" l="0" r="0" t="0"/>
          <a:stretch/>
        </p:blipFill>
        <p:spPr>
          <a:xfrm>
            <a:off x="3965350" y="4345775"/>
            <a:ext cx="5178650" cy="672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Imputing Missing Data</a:t>
            </a:r>
            <a:endParaRPr b="1"/>
          </a:p>
        </p:txBody>
      </p:sp>
      <p:sp>
        <p:nvSpPr>
          <p:cNvPr id="180" name="Google Shape;180;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Imputing data is an option instead of removing missing data.</a:t>
            </a:r>
            <a:endParaRPr/>
          </a:p>
          <a:p>
            <a:pPr indent="0" lvl="0" marL="0" rtl="0" algn="l">
              <a:lnSpc>
                <a:spcPct val="115000"/>
              </a:lnSpc>
              <a:spcBef>
                <a:spcPts val="1600"/>
              </a:spcBef>
              <a:spcAft>
                <a:spcPts val="0"/>
              </a:spcAft>
              <a:buSzPts val="1800"/>
              <a:buNone/>
            </a:pPr>
            <a:r>
              <a:rPr lang="en-GB"/>
              <a:t>Sometimes removing data is not an option, especially in a 2D list as there is other data associated with it.</a:t>
            </a:r>
            <a:endParaRPr/>
          </a:p>
          <a:p>
            <a:pPr indent="0" lvl="0" marL="0" rtl="0" algn="l">
              <a:lnSpc>
                <a:spcPct val="115000"/>
              </a:lnSpc>
              <a:spcBef>
                <a:spcPts val="1600"/>
              </a:spcBef>
              <a:spcAft>
                <a:spcPts val="1600"/>
              </a:spcAft>
              <a:buSzPts val="1800"/>
              <a:buNone/>
            </a:pPr>
            <a:r>
              <a:t/>
            </a:r>
            <a:endParaRPr/>
          </a:p>
        </p:txBody>
      </p:sp>
      <p:pic>
        <p:nvPicPr>
          <p:cNvPr id="181" name="Google Shape;181;p21"/>
          <p:cNvPicPr preferRelativeResize="0"/>
          <p:nvPr/>
        </p:nvPicPr>
        <p:blipFill rotWithShape="1">
          <a:blip r:embed="rId3">
            <a:alphaModFix/>
          </a:blip>
          <a:srcRect b="0" l="0" r="0" t="0"/>
          <a:stretch/>
        </p:blipFill>
        <p:spPr>
          <a:xfrm>
            <a:off x="0" y="2401052"/>
            <a:ext cx="3239450" cy="2231350"/>
          </a:xfrm>
          <a:prstGeom prst="rect">
            <a:avLst/>
          </a:prstGeom>
          <a:noFill/>
          <a:ln>
            <a:noFill/>
          </a:ln>
        </p:spPr>
      </p:pic>
      <p:pic>
        <p:nvPicPr>
          <p:cNvPr id="182" name="Google Shape;182;p21"/>
          <p:cNvPicPr preferRelativeResize="0"/>
          <p:nvPr/>
        </p:nvPicPr>
        <p:blipFill rotWithShape="1">
          <a:blip r:embed="rId4">
            <a:alphaModFix/>
          </a:blip>
          <a:srcRect b="0" l="0" r="0" t="0"/>
          <a:stretch/>
        </p:blipFill>
        <p:spPr>
          <a:xfrm>
            <a:off x="3181700" y="2076950"/>
            <a:ext cx="4095750" cy="1371600"/>
          </a:xfrm>
          <a:prstGeom prst="rect">
            <a:avLst/>
          </a:prstGeom>
          <a:noFill/>
          <a:ln>
            <a:noFill/>
          </a:ln>
        </p:spPr>
      </p:pic>
      <p:pic>
        <p:nvPicPr>
          <p:cNvPr id="183" name="Google Shape;183;p21"/>
          <p:cNvPicPr preferRelativeResize="0"/>
          <p:nvPr/>
        </p:nvPicPr>
        <p:blipFill rotWithShape="1">
          <a:blip r:embed="rId5">
            <a:alphaModFix/>
          </a:blip>
          <a:srcRect b="0" l="0" r="0" t="0"/>
          <a:stretch/>
        </p:blipFill>
        <p:spPr>
          <a:xfrm>
            <a:off x="5911834" y="3012100"/>
            <a:ext cx="2977368" cy="2131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Imputing Missing Data</a:t>
            </a:r>
            <a:endParaRPr b="1"/>
          </a:p>
        </p:txBody>
      </p:sp>
      <p:sp>
        <p:nvSpPr>
          <p:cNvPr id="189" name="Google Shape;189;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W</a:t>
            </a:r>
            <a:r>
              <a:rPr lang="en-GB">
                <a:solidFill>
                  <a:schemeClr val="dk1"/>
                </a:solidFill>
              </a:rPr>
              <a:t>e can go through a list and replace all values with a number.</a:t>
            </a:r>
            <a:endParaRPr>
              <a:solidFill>
                <a:schemeClr val="dk1"/>
              </a:solidFill>
            </a:endParaRPr>
          </a:p>
          <a:p>
            <a:pPr indent="0" lvl="0" marL="0" rtl="0" algn="l">
              <a:lnSpc>
                <a:spcPct val="115000"/>
              </a:lnSpc>
              <a:spcBef>
                <a:spcPts val="1600"/>
              </a:spcBef>
              <a:spcAft>
                <a:spcPts val="0"/>
              </a:spcAft>
              <a:buSzPts val="1800"/>
              <a:buNone/>
            </a:pPr>
            <a:r>
              <a:rPr lang="en-GB">
                <a:solidFill>
                  <a:schemeClr val="dk1"/>
                </a:solidFill>
              </a:rPr>
              <a:t>Imputing is an algorithm that finds the average of all non missing values and then replaces the missing values with the average of the group.</a:t>
            </a:r>
            <a:endParaRPr>
              <a:solidFill>
                <a:schemeClr val="dk1"/>
              </a:solidFill>
            </a:endParaRPr>
          </a:p>
          <a:p>
            <a:pPr indent="0" lvl="0" marL="0" rtl="0" algn="l">
              <a:lnSpc>
                <a:spcPct val="115000"/>
              </a:lnSpc>
              <a:spcBef>
                <a:spcPts val="1600"/>
              </a:spcBef>
              <a:spcAft>
                <a:spcPts val="0"/>
              </a:spcAft>
              <a:buSzPts val="1800"/>
              <a:buNone/>
            </a:pPr>
            <a:r>
              <a:rPr lang="en-GB">
                <a:solidFill>
                  <a:schemeClr val="dk1"/>
                </a:solidFill>
              </a:rPr>
              <a:t>There are two parts:</a:t>
            </a:r>
            <a:endParaRPr>
              <a:solidFill>
                <a:schemeClr val="dk1"/>
              </a:solidFill>
            </a:endParaRPr>
          </a:p>
          <a:p>
            <a:pPr indent="0" lvl="0" marL="0" rtl="0" algn="l">
              <a:lnSpc>
                <a:spcPct val="115000"/>
              </a:lnSpc>
              <a:spcBef>
                <a:spcPts val="1600"/>
              </a:spcBef>
              <a:spcAft>
                <a:spcPts val="0"/>
              </a:spcAft>
              <a:buSzPts val="1800"/>
              <a:buNone/>
            </a:pPr>
            <a:r>
              <a:rPr lang="en-GB">
                <a:solidFill>
                  <a:schemeClr val="dk1"/>
                </a:solidFill>
              </a:rPr>
              <a:t>First find the average of all non missing values</a:t>
            </a:r>
            <a:endParaRPr>
              <a:solidFill>
                <a:schemeClr val="dk1"/>
              </a:solidFill>
            </a:endParaRPr>
          </a:p>
          <a:p>
            <a:pPr indent="0" lvl="0" marL="0" rtl="0" algn="l">
              <a:lnSpc>
                <a:spcPct val="115000"/>
              </a:lnSpc>
              <a:spcBef>
                <a:spcPts val="1600"/>
              </a:spcBef>
              <a:spcAft>
                <a:spcPts val="0"/>
              </a:spcAft>
              <a:buSzPts val="1800"/>
              <a:buNone/>
            </a:pPr>
            <a:r>
              <a:rPr lang="en-GB">
                <a:solidFill>
                  <a:schemeClr val="dk1"/>
                </a:solidFill>
              </a:rPr>
              <a:t>Second replace all error values with the calculated average</a:t>
            </a:r>
            <a:endParaRPr>
              <a:solidFill>
                <a:schemeClr val="dk1"/>
              </a:solidFill>
            </a:endParaRPr>
          </a:p>
          <a:p>
            <a:pPr indent="0" lvl="0" marL="0" rtl="0" algn="l">
              <a:lnSpc>
                <a:spcPct val="115000"/>
              </a:lnSpc>
              <a:spcBef>
                <a:spcPts val="1600"/>
              </a:spcBef>
              <a:spcAft>
                <a:spcPts val="1600"/>
              </a:spcAft>
              <a:buSzPts val="1800"/>
              <a:buNone/>
            </a:pPr>
            <a:r>
              <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195" name="Google Shape;195;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196" name="Google Shape;196;p23"/>
          <p:cNvPicPr preferRelativeResize="0"/>
          <p:nvPr/>
        </p:nvPicPr>
        <p:blipFill rotWithShape="1">
          <a:blip r:embed="rId3">
            <a:alphaModFix/>
          </a:blip>
          <a:srcRect b="0" l="0" r="0" t="0"/>
          <a:stretch/>
        </p:blipFill>
        <p:spPr>
          <a:xfrm>
            <a:off x="105875" y="513138"/>
            <a:ext cx="4152900" cy="2524125"/>
          </a:xfrm>
          <a:prstGeom prst="rect">
            <a:avLst/>
          </a:prstGeom>
          <a:noFill/>
          <a:ln>
            <a:noFill/>
          </a:ln>
        </p:spPr>
      </p:pic>
      <p:pic>
        <p:nvPicPr>
          <p:cNvPr id="197" name="Google Shape;197;p23"/>
          <p:cNvPicPr preferRelativeResize="0"/>
          <p:nvPr/>
        </p:nvPicPr>
        <p:blipFill rotWithShape="1">
          <a:blip r:embed="rId4">
            <a:alphaModFix/>
          </a:blip>
          <a:srcRect b="0" l="0" r="0" t="0"/>
          <a:stretch/>
        </p:blipFill>
        <p:spPr>
          <a:xfrm>
            <a:off x="4868800" y="513138"/>
            <a:ext cx="4171950" cy="1476375"/>
          </a:xfrm>
          <a:prstGeom prst="rect">
            <a:avLst/>
          </a:prstGeom>
          <a:noFill/>
          <a:ln>
            <a:noFill/>
          </a:ln>
        </p:spPr>
      </p:pic>
      <p:pic>
        <p:nvPicPr>
          <p:cNvPr id="198" name="Google Shape;198;p23"/>
          <p:cNvPicPr preferRelativeResize="0"/>
          <p:nvPr/>
        </p:nvPicPr>
        <p:blipFill rotWithShape="1">
          <a:blip r:embed="rId5">
            <a:alphaModFix/>
          </a:blip>
          <a:srcRect b="0" l="0" r="0" t="0"/>
          <a:stretch/>
        </p:blipFill>
        <p:spPr>
          <a:xfrm>
            <a:off x="225688" y="3459350"/>
            <a:ext cx="4181475" cy="609600"/>
          </a:xfrm>
          <a:prstGeom prst="rect">
            <a:avLst/>
          </a:prstGeom>
          <a:noFill/>
          <a:ln>
            <a:noFill/>
          </a:ln>
        </p:spPr>
      </p:pic>
      <p:pic>
        <p:nvPicPr>
          <p:cNvPr id="199" name="Google Shape;199;p23"/>
          <p:cNvPicPr preferRelativeResize="0"/>
          <p:nvPr/>
        </p:nvPicPr>
        <p:blipFill rotWithShape="1">
          <a:blip r:embed="rId6">
            <a:alphaModFix/>
          </a:blip>
          <a:srcRect b="0" l="0" r="0" t="0"/>
          <a:stretch/>
        </p:blipFill>
        <p:spPr>
          <a:xfrm>
            <a:off x="4864025" y="2212075"/>
            <a:ext cx="4181475" cy="609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Cleaning/Pre-processing Data</a:t>
            </a:r>
            <a:endParaRPr b="1"/>
          </a:p>
        </p:txBody>
      </p:sp>
      <p:sp>
        <p:nvSpPr>
          <p:cNvPr id="205" name="Google Shape;205;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In the programs we do, the most common cleaning involves one of the following:</a:t>
            </a:r>
            <a:endParaRPr>
              <a:solidFill>
                <a:srgbClr val="000000"/>
              </a:solidFill>
            </a:endParaRPr>
          </a:p>
          <a:p>
            <a:pPr indent="-342900" lvl="0" marL="457200" rtl="0" algn="l">
              <a:lnSpc>
                <a:spcPct val="115000"/>
              </a:lnSpc>
              <a:spcBef>
                <a:spcPts val="1600"/>
              </a:spcBef>
              <a:spcAft>
                <a:spcPts val="0"/>
              </a:spcAft>
              <a:buClr>
                <a:srgbClr val="000000"/>
              </a:buClr>
              <a:buSzPts val="1800"/>
              <a:buChar char="●"/>
            </a:pPr>
            <a:r>
              <a:rPr lang="en-GB">
                <a:solidFill>
                  <a:srgbClr val="000000"/>
                </a:solidFill>
              </a:rPr>
              <a:t>Remove unwanted characters such as a comma in the middle of a number</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a:solidFill>
                  <a:srgbClr val="000000"/>
                </a:solidFill>
              </a:rPr>
              <a:t>Select only part of the data in a column</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Examples of each of these are here:</a:t>
            </a:r>
            <a:endParaRPr>
              <a:solidFill>
                <a:srgbClr val="000000"/>
              </a:solidFill>
            </a:endParaRPr>
          </a:p>
          <a:p>
            <a:pPr indent="0" lvl="0" marL="0" rtl="0" algn="l">
              <a:lnSpc>
                <a:spcPct val="115000"/>
              </a:lnSpc>
              <a:spcBef>
                <a:spcPts val="1600"/>
              </a:spcBef>
              <a:spcAft>
                <a:spcPts val="0"/>
              </a:spcAft>
              <a:buSzPts val="1800"/>
              <a:buNone/>
            </a:pPr>
            <a:r>
              <a:rPr lang="en-GB" u="sng">
                <a:solidFill>
                  <a:schemeClr val="hlink"/>
                </a:solidFill>
                <a:hlinkClick r:id="rId3"/>
              </a:rPr>
              <a:t>Remove unwanted characters</a:t>
            </a:r>
            <a:endParaRPr>
              <a:solidFill>
                <a:srgbClr val="000000"/>
              </a:solidFill>
            </a:endParaRPr>
          </a:p>
          <a:p>
            <a:pPr indent="0" lvl="0" marL="0" rtl="0" algn="l">
              <a:lnSpc>
                <a:spcPct val="115000"/>
              </a:lnSpc>
              <a:spcBef>
                <a:spcPts val="1600"/>
              </a:spcBef>
              <a:spcAft>
                <a:spcPts val="1600"/>
              </a:spcAft>
              <a:buSzPts val="1800"/>
              <a:buNone/>
            </a:pPr>
            <a:r>
              <a:rPr lang="en-GB" u="sng">
                <a:solidFill>
                  <a:schemeClr val="hlink"/>
                </a:solidFill>
                <a:hlinkClick r:id="rId4"/>
              </a:rPr>
              <a:t>Select part of the data in a column</a:t>
            </a:r>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Data Analytics Algorithms</a:t>
            </a:r>
            <a:endParaRPr b="1"/>
          </a:p>
        </p:txBody>
      </p:sp>
      <p:sp>
        <p:nvSpPr>
          <p:cNvPr id="211" name="Google Shape;211;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Python is one of the most popular languages for Analytics in 3rd level and industry.  One of the main reasons for this is the speed at which you can conduct Analysis such as getting the maximum and minimum values of a list.</a:t>
            </a:r>
            <a:endParaRPr/>
          </a:p>
          <a:p>
            <a:pPr indent="0" lvl="0" marL="0" rtl="0" algn="l">
              <a:lnSpc>
                <a:spcPct val="115000"/>
              </a:lnSpc>
              <a:spcBef>
                <a:spcPts val="1600"/>
              </a:spcBef>
              <a:spcAft>
                <a:spcPts val="1600"/>
              </a:spcAft>
              <a:buSzPts val="1800"/>
              <a:buNone/>
            </a:pPr>
            <a:r>
              <a:rPr lang="en-GB"/>
              <a:t>We can also use the statistics library to find the mean, median and mode or we can code these without the use of a library.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Max and Min Values</a:t>
            </a:r>
            <a:endParaRPr b="1"/>
          </a:p>
        </p:txBody>
      </p:sp>
      <p:sp>
        <p:nvSpPr>
          <p:cNvPr id="217" name="Google Shape;21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b="1" lang="en-GB">
                <a:solidFill>
                  <a:srgbClr val="000000"/>
                </a:solidFill>
              </a:rPr>
              <a:t>Method 1: Using Inbuilt functions</a:t>
            </a:r>
            <a:endParaRPr b="1">
              <a:solidFill>
                <a:srgbClr val="000000"/>
              </a:solidFill>
            </a:endParaRPr>
          </a:p>
        </p:txBody>
      </p:sp>
      <p:pic>
        <p:nvPicPr>
          <p:cNvPr id="218" name="Google Shape;218;p26"/>
          <p:cNvPicPr preferRelativeResize="0"/>
          <p:nvPr/>
        </p:nvPicPr>
        <p:blipFill rotWithShape="1">
          <a:blip r:embed="rId3">
            <a:alphaModFix/>
          </a:blip>
          <a:srcRect b="0" l="0" r="0" t="0"/>
          <a:stretch/>
        </p:blipFill>
        <p:spPr>
          <a:xfrm>
            <a:off x="311703" y="2131075"/>
            <a:ext cx="5441700" cy="2535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Max and Min Values</a:t>
            </a:r>
            <a:endParaRPr b="1"/>
          </a:p>
        </p:txBody>
      </p:sp>
      <p:sp>
        <p:nvSpPr>
          <p:cNvPr id="224" name="Google Shape;224;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b="1" lang="en-GB">
                <a:solidFill>
                  <a:srgbClr val="000000"/>
                </a:solidFill>
              </a:rPr>
              <a:t>Method 2: Using Sorting and extracting the First and Last Value</a:t>
            </a:r>
            <a:endParaRPr b="1">
              <a:solidFill>
                <a:srgbClr val="000000"/>
              </a:solidFill>
            </a:endParaRPr>
          </a:p>
        </p:txBody>
      </p:sp>
      <p:pic>
        <p:nvPicPr>
          <p:cNvPr id="225" name="Google Shape;225;p27"/>
          <p:cNvPicPr preferRelativeResize="0"/>
          <p:nvPr/>
        </p:nvPicPr>
        <p:blipFill rotWithShape="1">
          <a:blip r:embed="rId3">
            <a:alphaModFix/>
          </a:blip>
          <a:srcRect b="0" l="0" r="0" t="0"/>
          <a:stretch/>
        </p:blipFill>
        <p:spPr>
          <a:xfrm>
            <a:off x="394879" y="1798625"/>
            <a:ext cx="5748700" cy="2867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Max and Min Values</a:t>
            </a:r>
            <a:endParaRPr b="1"/>
          </a:p>
        </p:txBody>
      </p:sp>
      <p:sp>
        <p:nvSpPr>
          <p:cNvPr id="231" name="Google Shape;231;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b="1" lang="en-GB">
                <a:solidFill>
                  <a:srgbClr val="000000"/>
                </a:solidFill>
              </a:rPr>
              <a:t>Method 3: Manually Coding</a:t>
            </a:r>
            <a:endParaRPr b="1">
              <a:solidFill>
                <a:srgbClr val="000000"/>
              </a:solidFill>
            </a:endParaRPr>
          </a:p>
        </p:txBody>
      </p:sp>
      <p:pic>
        <p:nvPicPr>
          <p:cNvPr id="232" name="Google Shape;232;p28"/>
          <p:cNvPicPr preferRelativeResize="0"/>
          <p:nvPr/>
        </p:nvPicPr>
        <p:blipFill rotWithShape="1">
          <a:blip r:embed="rId3">
            <a:alphaModFix/>
          </a:blip>
          <a:srcRect b="0" l="0" r="0" t="0"/>
          <a:stretch/>
        </p:blipFill>
        <p:spPr>
          <a:xfrm>
            <a:off x="192151" y="1623101"/>
            <a:ext cx="4483384" cy="3416400"/>
          </a:xfrm>
          <a:prstGeom prst="rect">
            <a:avLst/>
          </a:prstGeom>
          <a:noFill/>
          <a:ln>
            <a:noFill/>
          </a:ln>
        </p:spPr>
      </p:pic>
      <p:pic>
        <p:nvPicPr>
          <p:cNvPr id="233" name="Google Shape;233;p28"/>
          <p:cNvPicPr preferRelativeResize="0"/>
          <p:nvPr/>
        </p:nvPicPr>
        <p:blipFill rotWithShape="1">
          <a:blip r:embed="rId4">
            <a:alphaModFix/>
          </a:blip>
          <a:srcRect b="0" l="0" r="0" t="0"/>
          <a:stretch/>
        </p:blipFill>
        <p:spPr>
          <a:xfrm>
            <a:off x="4917213" y="2621300"/>
            <a:ext cx="4143375" cy="1047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Mean</a:t>
            </a:r>
            <a:endParaRPr b="1"/>
          </a:p>
        </p:txBody>
      </p:sp>
      <p:sp>
        <p:nvSpPr>
          <p:cNvPr id="239" name="Google Shape;239;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1: Using sum() and len()</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40" name="Google Shape;240;p29"/>
          <p:cNvPicPr preferRelativeResize="0"/>
          <p:nvPr/>
        </p:nvPicPr>
        <p:blipFill rotWithShape="1">
          <a:blip r:embed="rId3">
            <a:alphaModFix/>
          </a:blip>
          <a:srcRect b="0" l="0" r="0" t="0"/>
          <a:stretch/>
        </p:blipFill>
        <p:spPr>
          <a:xfrm>
            <a:off x="424350" y="1709991"/>
            <a:ext cx="5769625" cy="17858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Mean</a:t>
            </a:r>
            <a:endParaRPr b="1"/>
          </a:p>
        </p:txBody>
      </p:sp>
      <p:sp>
        <p:nvSpPr>
          <p:cNvPr id="246" name="Google Shape;246;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2: Using statistics library</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47" name="Google Shape;247;p30"/>
          <p:cNvPicPr preferRelativeResize="0"/>
          <p:nvPr/>
        </p:nvPicPr>
        <p:blipFill rotWithShape="1">
          <a:blip r:embed="rId3">
            <a:alphaModFix/>
          </a:blip>
          <a:srcRect b="0" l="0" r="0" t="0"/>
          <a:stretch/>
        </p:blipFill>
        <p:spPr>
          <a:xfrm>
            <a:off x="371480" y="1848180"/>
            <a:ext cx="5969175" cy="2477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Mean</a:t>
            </a:r>
            <a:endParaRPr b="1"/>
          </a:p>
        </p:txBody>
      </p:sp>
      <p:sp>
        <p:nvSpPr>
          <p:cNvPr id="253" name="Google Shape;253;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3: Manually Coding</a:t>
            </a:r>
            <a:endParaRPr b="1">
              <a:solidFill>
                <a:srgbClr val="000000"/>
              </a:solidFill>
            </a:endParaRPr>
          </a:p>
          <a:p>
            <a:pPr indent="0" lvl="0" marL="0" rtl="0" algn="l">
              <a:lnSpc>
                <a:spcPct val="115000"/>
              </a:lnSpc>
              <a:spcBef>
                <a:spcPts val="1600"/>
              </a:spcBef>
              <a:spcAft>
                <a:spcPts val="0"/>
              </a:spcAft>
              <a:buSzPts val="1800"/>
              <a:buNone/>
            </a:pPr>
            <a:r>
              <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54" name="Google Shape;254;p31"/>
          <p:cNvPicPr preferRelativeResize="0"/>
          <p:nvPr/>
        </p:nvPicPr>
        <p:blipFill rotWithShape="1">
          <a:blip r:embed="rId3">
            <a:alphaModFix/>
          </a:blip>
          <a:srcRect b="0" l="0" r="0" t="0"/>
          <a:stretch/>
        </p:blipFill>
        <p:spPr>
          <a:xfrm>
            <a:off x="406280" y="1665330"/>
            <a:ext cx="5800650" cy="2841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Median</a:t>
            </a:r>
            <a:endParaRPr b="1"/>
          </a:p>
        </p:txBody>
      </p:sp>
      <p:sp>
        <p:nvSpPr>
          <p:cNvPr id="260" name="Google Shape;260;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1: Using the statistics library</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61" name="Google Shape;261;p32"/>
          <p:cNvPicPr preferRelativeResize="0"/>
          <p:nvPr/>
        </p:nvPicPr>
        <p:blipFill rotWithShape="1">
          <a:blip r:embed="rId3">
            <a:alphaModFix/>
          </a:blip>
          <a:srcRect b="0" l="0" r="0" t="0"/>
          <a:stretch/>
        </p:blipFill>
        <p:spPr>
          <a:xfrm>
            <a:off x="342900" y="1766875"/>
            <a:ext cx="6780974" cy="25810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Median</a:t>
            </a:r>
            <a:endParaRPr b="1"/>
          </a:p>
        </p:txBody>
      </p:sp>
      <p:sp>
        <p:nvSpPr>
          <p:cNvPr id="267" name="Google Shape;267;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2: Manually Coding</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68" name="Google Shape;268;p33"/>
          <p:cNvPicPr preferRelativeResize="0"/>
          <p:nvPr/>
        </p:nvPicPr>
        <p:blipFill rotWithShape="1">
          <a:blip r:embed="rId3">
            <a:alphaModFix/>
          </a:blip>
          <a:srcRect b="0" l="0" r="0" t="0"/>
          <a:stretch/>
        </p:blipFill>
        <p:spPr>
          <a:xfrm>
            <a:off x="374978" y="1651603"/>
            <a:ext cx="5201250" cy="3279300"/>
          </a:xfrm>
          <a:prstGeom prst="rect">
            <a:avLst/>
          </a:prstGeom>
          <a:noFill/>
          <a:ln>
            <a:noFill/>
          </a:ln>
        </p:spPr>
      </p:pic>
      <p:sp>
        <p:nvSpPr>
          <p:cNvPr id="269" name="Google Shape;269;p33"/>
          <p:cNvSpPr txBox="1"/>
          <p:nvPr/>
        </p:nvSpPr>
        <p:spPr>
          <a:xfrm>
            <a:off x="6156575" y="1229975"/>
            <a:ext cx="2776500" cy="36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Note: The median is the middle number of a sorted list.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If there is an even number of elements in the list then the median is the middle two numbers added together and divided by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Frequency</a:t>
            </a:r>
            <a:endParaRPr b="1"/>
          </a:p>
        </p:txBody>
      </p:sp>
      <p:sp>
        <p:nvSpPr>
          <p:cNvPr id="275" name="Google Shape;275;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Frequency is the number of times elements appear in a list, this can be for strings or numbers.</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Frequency</a:t>
            </a:r>
            <a:endParaRPr b="1"/>
          </a:p>
        </p:txBody>
      </p:sp>
      <p:sp>
        <p:nvSpPr>
          <p:cNvPr id="281" name="Google Shape;281;p35"/>
          <p:cNvSpPr txBox="1"/>
          <p:nvPr>
            <p:ph idx="1" type="body"/>
          </p:nvPr>
        </p:nvSpPr>
        <p:spPr>
          <a:xfrm>
            <a:off x="4756925" y="763400"/>
            <a:ext cx="4075500" cy="427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rPr lang="en-GB">
                <a:solidFill>
                  <a:srgbClr val="000000"/>
                </a:solidFill>
              </a:rPr>
              <a:t>Creates two empty lists</a:t>
            </a:r>
            <a:endParaRPr>
              <a:solidFill>
                <a:srgbClr val="000000"/>
              </a:solidFill>
            </a:endParaRPr>
          </a:p>
          <a:p>
            <a:pPr indent="0" lvl="0" marL="0" rtl="0" algn="l">
              <a:lnSpc>
                <a:spcPct val="100000"/>
              </a:lnSpc>
              <a:spcBef>
                <a:spcPts val="0"/>
              </a:spcBef>
              <a:spcAft>
                <a:spcPts val="0"/>
              </a:spcAft>
              <a:buSzPts val="1800"/>
              <a:buNone/>
            </a:pPr>
            <a:r>
              <a:t/>
            </a:r>
            <a:endParaRPr sz="1600">
              <a:solidFill>
                <a:srgbClr val="000000"/>
              </a:solidFill>
            </a:endParaRPr>
          </a:p>
          <a:p>
            <a:pPr indent="0" lvl="0" marL="0" rtl="0" algn="l">
              <a:lnSpc>
                <a:spcPct val="100000"/>
              </a:lnSpc>
              <a:spcBef>
                <a:spcPts val="0"/>
              </a:spcBef>
              <a:spcAft>
                <a:spcPts val="0"/>
              </a:spcAft>
              <a:buSzPts val="1800"/>
              <a:buNone/>
            </a:pPr>
            <a:r>
              <a:rPr lang="en-GB" sz="1600">
                <a:solidFill>
                  <a:srgbClr val="000000"/>
                </a:solidFill>
              </a:rPr>
              <a:t>Loops through myList.  If the item is not already in the colourNames list then add it to the list.</a:t>
            </a:r>
            <a:endParaRPr sz="1600">
              <a:solidFill>
                <a:srgbClr val="000000"/>
              </a:solidFill>
            </a:endParaRPr>
          </a:p>
          <a:p>
            <a:pPr indent="0" lvl="0" marL="0" rtl="0" algn="l">
              <a:lnSpc>
                <a:spcPct val="100000"/>
              </a:lnSpc>
              <a:spcBef>
                <a:spcPts val="0"/>
              </a:spcBef>
              <a:spcAft>
                <a:spcPts val="0"/>
              </a:spcAft>
              <a:buSzPts val="1800"/>
              <a:buNone/>
            </a:pPr>
            <a:r>
              <a:t/>
            </a:r>
            <a:endParaRPr sz="1600">
              <a:solidFill>
                <a:srgbClr val="000000"/>
              </a:solidFill>
            </a:endParaRPr>
          </a:p>
          <a:p>
            <a:pPr indent="0" lvl="0" marL="0" rtl="0" algn="l">
              <a:lnSpc>
                <a:spcPct val="100000"/>
              </a:lnSpc>
              <a:spcBef>
                <a:spcPts val="0"/>
              </a:spcBef>
              <a:spcAft>
                <a:spcPts val="0"/>
              </a:spcAft>
              <a:buSzPts val="1800"/>
              <a:buNone/>
            </a:pPr>
            <a:r>
              <a:rPr lang="en-GB" sz="1600">
                <a:solidFill>
                  <a:srgbClr val="000000"/>
                </a:solidFill>
              </a:rPr>
              <a:t>Loops through the colourNames list and counts the amount of times each colour is in myList</a:t>
            </a:r>
            <a:endParaRPr sz="1600">
              <a:solidFill>
                <a:srgbClr val="000000"/>
              </a:solidFill>
            </a:endParaRPr>
          </a:p>
        </p:txBody>
      </p:sp>
      <p:pic>
        <p:nvPicPr>
          <p:cNvPr id="282" name="Google Shape;282;p35"/>
          <p:cNvPicPr preferRelativeResize="0"/>
          <p:nvPr/>
        </p:nvPicPr>
        <p:blipFill rotWithShape="1">
          <a:blip r:embed="rId3">
            <a:alphaModFix/>
          </a:blip>
          <a:srcRect b="0" l="0" r="0" t="0"/>
          <a:stretch/>
        </p:blipFill>
        <p:spPr>
          <a:xfrm>
            <a:off x="311700" y="948600"/>
            <a:ext cx="4395435" cy="2085975"/>
          </a:xfrm>
          <a:prstGeom prst="rect">
            <a:avLst/>
          </a:prstGeom>
          <a:noFill/>
          <a:ln>
            <a:noFill/>
          </a:ln>
        </p:spPr>
      </p:pic>
      <p:pic>
        <p:nvPicPr>
          <p:cNvPr id="283" name="Google Shape;283;p35"/>
          <p:cNvPicPr preferRelativeResize="0"/>
          <p:nvPr/>
        </p:nvPicPr>
        <p:blipFill rotWithShape="1">
          <a:blip r:embed="rId4">
            <a:alphaModFix/>
          </a:blip>
          <a:srcRect b="0" l="0" r="0" t="0"/>
          <a:stretch/>
        </p:blipFill>
        <p:spPr>
          <a:xfrm>
            <a:off x="311700" y="2865975"/>
            <a:ext cx="4320050" cy="2174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Mode</a:t>
            </a:r>
            <a:endParaRPr b="1"/>
          </a:p>
        </p:txBody>
      </p:sp>
      <p:sp>
        <p:nvSpPr>
          <p:cNvPr id="289" name="Google Shape;289;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Mode is the value that occurs most often in the dataset.</a:t>
            </a:r>
            <a:endParaRPr/>
          </a:p>
          <a:p>
            <a:pPr indent="0" lvl="0" marL="0" rtl="0" algn="l">
              <a:lnSpc>
                <a:spcPct val="115000"/>
              </a:lnSpc>
              <a:spcBef>
                <a:spcPts val="1600"/>
              </a:spcBef>
              <a:spcAft>
                <a:spcPts val="0"/>
              </a:spcAft>
              <a:buSzPts val="1800"/>
              <a:buNone/>
            </a:pPr>
            <a:r>
              <a:rPr b="1" lang="en-GB">
                <a:solidFill>
                  <a:srgbClr val="000000"/>
                </a:solidFill>
              </a:rPr>
              <a:t>Method 1: Using statistics library</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90" name="Google Shape;290;p36"/>
          <p:cNvPicPr preferRelativeResize="0"/>
          <p:nvPr/>
        </p:nvPicPr>
        <p:blipFill rotWithShape="1">
          <a:blip r:embed="rId3">
            <a:alphaModFix/>
          </a:blip>
          <a:srcRect b="0" l="0" r="0" t="0"/>
          <a:stretch/>
        </p:blipFill>
        <p:spPr>
          <a:xfrm>
            <a:off x="311703" y="2240900"/>
            <a:ext cx="5199625" cy="2641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Mode</a:t>
            </a:r>
            <a:endParaRPr b="1"/>
          </a:p>
        </p:txBody>
      </p:sp>
      <p:sp>
        <p:nvSpPr>
          <p:cNvPr id="296" name="Google Shape;296;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2: Manually Coding</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297" name="Google Shape;297;p37"/>
          <p:cNvPicPr preferRelativeResize="0"/>
          <p:nvPr/>
        </p:nvPicPr>
        <p:blipFill rotWithShape="1">
          <a:blip r:embed="rId3">
            <a:alphaModFix/>
          </a:blip>
          <a:srcRect b="0" l="0" r="0" t="0"/>
          <a:stretch/>
        </p:blipFill>
        <p:spPr>
          <a:xfrm>
            <a:off x="391375" y="1762625"/>
            <a:ext cx="5282475" cy="707700"/>
          </a:xfrm>
          <a:prstGeom prst="rect">
            <a:avLst/>
          </a:prstGeom>
          <a:noFill/>
          <a:ln>
            <a:noFill/>
          </a:ln>
        </p:spPr>
      </p:pic>
      <p:pic>
        <p:nvPicPr>
          <p:cNvPr id="298" name="Google Shape;298;p37"/>
          <p:cNvPicPr preferRelativeResize="0"/>
          <p:nvPr/>
        </p:nvPicPr>
        <p:blipFill rotWithShape="1">
          <a:blip r:embed="rId4">
            <a:alphaModFix/>
          </a:blip>
          <a:srcRect b="0" l="0" r="0" t="0"/>
          <a:stretch/>
        </p:blipFill>
        <p:spPr>
          <a:xfrm>
            <a:off x="391375" y="2402050"/>
            <a:ext cx="5455125" cy="24579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Mean</a:t>
            </a:r>
            <a:endParaRPr b="1"/>
          </a:p>
        </p:txBody>
      </p:sp>
      <p:sp>
        <p:nvSpPr>
          <p:cNvPr id="304" name="Google Shape;304;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2: Using statistics library</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305" name="Google Shape;305;p38"/>
          <p:cNvPicPr preferRelativeResize="0"/>
          <p:nvPr/>
        </p:nvPicPr>
        <p:blipFill rotWithShape="1">
          <a:blip r:embed="rId3">
            <a:alphaModFix/>
          </a:blip>
          <a:srcRect b="0" l="0" r="0" t="0"/>
          <a:stretch/>
        </p:blipFill>
        <p:spPr>
          <a:xfrm>
            <a:off x="371480" y="1848180"/>
            <a:ext cx="5969175" cy="2477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Mean</a:t>
            </a:r>
            <a:endParaRPr b="1"/>
          </a:p>
        </p:txBody>
      </p:sp>
      <p:sp>
        <p:nvSpPr>
          <p:cNvPr id="311" name="Google Shape;311;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3: Manually Coding</a:t>
            </a:r>
            <a:endParaRPr b="1">
              <a:solidFill>
                <a:srgbClr val="000000"/>
              </a:solidFill>
            </a:endParaRPr>
          </a:p>
          <a:p>
            <a:pPr indent="0" lvl="0" marL="0" rtl="0" algn="l">
              <a:lnSpc>
                <a:spcPct val="115000"/>
              </a:lnSpc>
              <a:spcBef>
                <a:spcPts val="1600"/>
              </a:spcBef>
              <a:spcAft>
                <a:spcPts val="0"/>
              </a:spcAft>
              <a:buSzPts val="1800"/>
              <a:buNone/>
            </a:pPr>
            <a:r>
              <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312" name="Google Shape;312;p39"/>
          <p:cNvPicPr preferRelativeResize="0"/>
          <p:nvPr/>
        </p:nvPicPr>
        <p:blipFill rotWithShape="1">
          <a:blip r:embed="rId3">
            <a:alphaModFix/>
          </a:blip>
          <a:srcRect b="0" l="0" r="0" t="0"/>
          <a:stretch/>
        </p:blipFill>
        <p:spPr>
          <a:xfrm>
            <a:off x="406280" y="1665330"/>
            <a:ext cx="5800650" cy="2841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Median</a:t>
            </a:r>
            <a:endParaRPr b="1"/>
          </a:p>
        </p:txBody>
      </p:sp>
      <p:sp>
        <p:nvSpPr>
          <p:cNvPr id="318" name="Google Shape;318;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1: Using the statistics library</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319" name="Google Shape;319;p40"/>
          <p:cNvPicPr preferRelativeResize="0"/>
          <p:nvPr/>
        </p:nvPicPr>
        <p:blipFill rotWithShape="1">
          <a:blip r:embed="rId3">
            <a:alphaModFix/>
          </a:blip>
          <a:srcRect b="0" l="0" r="0" t="0"/>
          <a:stretch/>
        </p:blipFill>
        <p:spPr>
          <a:xfrm>
            <a:off x="342900" y="1766875"/>
            <a:ext cx="6780974" cy="2581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Median</a:t>
            </a:r>
            <a:endParaRPr b="1"/>
          </a:p>
        </p:txBody>
      </p:sp>
      <p:sp>
        <p:nvSpPr>
          <p:cNvPr id="325" name="Google Shape;325;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2: Manually Coding</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326" name="Google Shape;326;p41"/>
          <p:cNvPicPr preferRelativeResize="0"/>
          <p:nvPr/>
        </p:nvPicPr>
        <p:blipFill rotWithShape="1">
          <a:blip r:embed="rId3">
            <a:alphaModFix/>
          </a:blip>
          <a:srcRect b="0" l="0" r="0" t="0"/>
          <a:stretch/>
        </p:blipFill>
        <p:spPr>
          <a:xfrm>
            <a:off x="374978" y="1651603"/>
            <a:ext cx="5201250" cy="3279300"/>
          </a:xfrm>
          <a:prstGeom prst="rect">
            <a:avLst/>
          </a:prstGeom>
          <a:noFill/>
          <a:ln>
            <a:noFill/>
          </a:ln>
        </p:spPr>
      </p:pic>
      <p:sp>
        <p:nvSpPr>
          <p:cNvPr id="327" name="Google Shape;327;p41"/>
          <p:cNvSpPr txBox="1"/>
          <p:nvPr/>
        </p:nvSpPr>
        <p:spPr>
          <a:xfrm>
            <a:off x="6156575" y="1229975"/>
            <a:ext cx="2776500" cy="36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Note: The median is the middle number of a sorted list.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If there is an even number of elements in the list then the median is the middle two numbers added together and divided by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Frequency</a:t>
            </a:r>
            <a:endParaRPr b="1"/>
          </a:p>
        </p:txBody>
      </p:sp>
      <p:sp>
        <p:nvSpPr>
          <p:cNvPr id="333" name="Google Shape;333;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Frequency is the number of times elements appear in a list, this can be for strings or numbers.</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Frequency</a:t>
            </a:r>
            <a:endParaRPr b="1"/>
          </a:p>
        </p:txBody>
      </p:sp>
      <p:sp>
        <p:nvSpPr>
          <p:cNvPr id="339" name="Google Shape;339;p43"/>
          <p:cNvSpPr txBox="1"/>
          <p:nvPr>
            <p:ph idx="1" type="body"/>
          </p:nvPr>
        </p:nvSpPr>
        <p:spPr>
          <a:xfrm>
            <a:off x="4756925" y="763400"/>
            <a:ext cx="4075500" cy="427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rPr lang="en-GB">
                <a:solidFill>
                  <a:srgbClr val="000000"/>
                </a:solidFill>
              </a:rPr>
              <a:t>Creates two empty lists</a:t>
            </a:r>
            <a:endParaRPr>
              <a:solidFill>
                <a:srgbClr val="000000"/>
              </a:solidFill>
            </a:endParaRPr>
          </a:p>
          <a:p>
            <a:pPr indent="0" lvl="0" marL="0" rtl="0" algn="l">
              <a:lnSpc>
                <a:spcPct val="100000"/>
              </a:lnSpc>
              <a:spcBef>
                <a:spcPts val="0"/>
              </a:spcBef>
              <a:spcAft>
                <a:spcPts val="0"/>
              </a:spcAft>
              <a:buSzPts val="1800"/>
              <a:buNone/>
            </a:pPr>
            <a:r>
              <a:t/>
            </a:r>
            <a:endParaRPr sz="1600">
              <a:solidFill>
                <a:srgbClr val="000000"/>
              </a:solidFill>
            </a:endParaRPr>
          </a:p>
          <a:p>
            <a:pPr indent="0" lvl="0" marL="0" rtl="0" algn="l">
              <a:lnSpc>
                <a:spcPct val="100000"/>
              </a:lnSpc>
              <a:spcBef>
                <a:spcPts val="0"/>
              </a:spcBef>
              <a:spcAft>
                <a:spcPts val="0"/>
              </a:spcAft>
              <a:buSzPts val="1800"/>
              <a:buNone/>
            </a:pPr>
            <a:r>
              <a:rPr lang="en-GB" sz="1600">
                <a:solidFill>
                  <a:srgbClr val="000000"/>
                </a:solidFill>
              </a:rPr>
              <a:t>Loops through myList.  If the item is not already in the colourNames list then add it to the list.</a:t>
            </a:r>
            <a:endParaRPr sz="1600">
              <a:solidFill>
                <a:srgbClr val="000000"/>
              </a:solidFill>
            </a:endParaRPr>
          </a:p>
          <a:p>
            <a:pPr indent="0" lvl="0" marL="0" rtl="0" algn="l">
              <a:lnSpc>
                <a:spcPct val="100000"/>
              </a:lnSpc>
              <a:spcBef>
                <a:spcPts val="0"/>
              </a:spcBef>
              <a:spcAft>
                <a:spcPts val="0"/>
              </a:spcAft>
              <a:buSzPts val="1800"/>
              <a:buNone/>
            </a:pPr>
            <a:r>
              <a:t/>
            </a:r>
            <a:endParaRPr sz="1600">
              <a:solidFill>
                <a:srgbClr val="000000"/>
              </a:solidFill>
            </a:endParaRPr>
          </a:p>
          <a:p>
            <a:pPr indent="0" lvl="0" marL="0" rtl="0" algn="l">
              <a:lnSpc>
                <a:spcPct val="100000"/>
              </a:lnSpc>
              <a:spcBef>
                <a:spcPts val="0"/>
              </a:spcBef>
              <a:spcAft>
                <a:spcPts val="0"/>
              </a:spcAft>
              <a:buSzPts val="1800"/>
              <a:buNone/>
            </a:pPr>
            <a:r>
              <a:rPr lang="en-GB" sz="1600">
                <a:solidFill>
                  <a:srgbClr val="000000"/>
                </a:solidFill>
              </a:rPr>
              <a:t>Loops through the colourNames list and counts the amount of times each colour is in myList</a:t>
            </a:r>
            <a:endParaRPr sz="1600">
              <a:solidFill>
                <a:srgbClr val="000000"/>
              </a:solidFill>
            </a:endParaRPr>
          </a:p>
        </p:txBody>
      </p:sp>
      <p:pic>
        <p:nvPicPr>
          <p:cNvPr id="340" name="Google Shape;340;p43"/>
          <p:cNvPicPr preferRelativeResize="0"/>
          <p:nvPr/>
        </p:nvPicPr>
        <p:blipFill rotWithShape="1">
          <a:blip r:embed="rId3">
            <a:alphaModFix/>
          </a:blip>
          <a:srcRect b="0" l="0" r="0" t="0"/>
          <a:stretch/>
        </p:blipFill>
        <p:spPr>
          <a:xfrm>
            <a:off x="311700" y="948600"/>
            <a:ext cx="4395435" cy="2085975"/>
          </a:xfrm>
          <a:prstGeom prst="rect">
            <a:avLst/>
          </a:prstGeom>
          <a:noFill/>
          <a:ln>
            <a:noFill/>
          </a:ln>
        </p:spPr>
      </p:pic>
      <p:pic>
        <p:nvPicPr>
          <p:cNvPr id="341" name="Google Shape;341;p43"/>
          <p:cNvPicPr preferRelativeResize="0"/>
          <p:nvPr/>
        </p:nvPicPr>
        <p:blipFill rotWithShape="1">
          <a:blip r:embed="rId4">
            <a:alphaModFix/>
          </a:blip>
          <a:srcRect b="0" l="0" r="0" t="0"/>
          <a:stretch/>
        </p:blipFill>
        <p:spPr>
          <a:xfrm>
            <a:off x="311700" y="2865975"/>
            <a:ext cx="4320050" cy="21749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Mode</a:t>
            </a:r>
            <a:endParaRPr b="1"/>
          </a:p>
        </p:txBody>
      </p:sp>
      <p:sp>
        <p:nvSpPr>
          <p:cNvPr id="347" name="Google Shape;347;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Mode is the value that occurs most often in the dataset.</a:t>
            </a:r>
            <a:endParaRPr/>
          </a:p>
          <a:p>
            <a:pPr indent="0" lvl="0" marL="0" rtl="0" algn="l">
              <a:lnSpc>
                <a:spcPct val="115000"/>
              </a:lnSpc>
              <a:spcBef>
                <a:spcPts val="1600"/>
              </a:spcBef>
              <a:spcAft>
                <a:spcPts val="0"/>
              </a:spcAft>
              <a:buSzPts val="1800"/>
              <a:buNone/>
            </a:pPr>
            <a:r>
              <a:rPr b="1" lang="en-GB">
                <a:solidFill>
                  <a:srgbClr val="000000"/>
                </a:solidFill>
              </a:rPr>
              <a:t>Method 1: Using statistics library</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348" name="Google Shape;348;p44"/>
          <p:cNvPicPr preferRelativeResize="0"/>
          <p:nvPr/>
        </p:nvPicPr>
        <p:blipFill rotWithShape="1">
          <a:blip r:embed="rId3">
            <a:alphaModFix/>
          </a:blip>
          <a:srcRect b="0" l="0" r="0" t="0"/>
          <a:stretch/>
        </p:blipFill>
        <p:spPr>
          <a:xfrm>
            <a:off x="311703" y="2240900"/>
            <a:ext cx="5199625" cy="26418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Mode</a:t>
            </a:r>
            <a:endParaRPr b="1"/>
          </a:p>
        </p:txBody>
      </p:sp>
      <p:sp>
        <p:nvSpPr>
          <p:cNvPr id="354" name="Google Shape;354;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a:solidFill>
                  <a:srgbClr val="000000"/>
                </a:solidFill>
              </a:rPr>
              <a:t>Method 2: Manually Coding</a:t>
            </a:r>
            <a:endParaRPr b="1">
              <a:solidFill>
                <a:srgbClr val="000000"/>
              </a:solidFill>
            </a:endParaRPr>
          </a:p>
          <a:p>
            <a:pPr indent="0" lvl="0" marL="0" rtl="0" algn="l">
              <a:lnSpc>
                <a:spcPct val="115000"/>
              </a:lnSpc>
              <a:spcBef>
                <a:spcPts val="1600"/>
              </a:spcBef>
              <a:spcAft>
                <a:spcPts val="1600"/>
              </a:spcAft>
              <a:buSzPts val="1800"/>
              <a:buNone/>
            </a:pPr>
            <a:r>
              <a:t/>
            </a:r>
            <a:endParaRPr b="1">
              <a:solidFill>
                <a:srgbClr val="000000"/>
              </a:solidFill>
            </a:endParaRPr>
          </a:p>
        </p:txBody>
      </p:sp>
      <p:pic>
        <p:nvPicPr>
          <p:cNvPr id="355" name="Google Shape;355;p45"/>
          <p:cNvPicPr preferRelativeResize="0"/>
          <p:nvPr/>
        </p:nvPicPr>
        <p:blipFill rotWithShape="1">
          <a:blip r:embed="rId3">
            <a:alphaModFix/>
          </a:blip>
          <a:srcRect b="0" l="0" r="0" t="0"/>
          <a:stretch/>
        </p:blipFill>
        <p:spPr>
          <a:xfrm>
            <a:off x="391375" y="1762625"/>
            <a:ext cx="5282475" cy="707700"/>
          </a:xfrm>
          <a:prstGeom prst="rect">
            <a:avLst/>
          </a:prstGeom>
          <a:noFill/>
          <a:ln>
            <a:noFill/>
          </a:ln>
        </p:spPr>
      </p:pic>
      <p:pic>
        <p:nvPicPr>
          <p:cNvPr id="356" name="Google Shape;356;p45"/>
          <p:cNvPicPr preferRelativeResize="0"/>
          <p:nvPr/>
        </p:nvPicPr>
        <p:blipFill rotWithShape="1">
          <a:blip r:embed="rId4">
            <a:alphaModFix/>
          </a:blip>
          <a:srcRect b="0" l="0" r="0" t="0"/>
          <a:stretch/>
        </p:blipFill>
        <p:spPr>
          <a:xfrm>
            <a:off x="391375" y="2402050"/>
            <a:ext cx="5455125" cy="2457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Visualisation/Graphing</a:t>
            </a:r>
            <a:endParaRPr b="1"/>
          </a:p>
        </p:txBody>
      </p:sp>
      <p:sp>
        <p:nvSpPr>
          <p:cNvPr id="362" name="Google Shape;362;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It is easy to create visualisations in Python using a module named matplotlib.</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We need our data in a list(s) to be able to create a graph.</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Plotting graphs</a:t>
            </a:r>
            <a:endParaRPr b="1"/>
          </a:p>
        </p:txBody>
      </p:sp>
      <p:sp>
        <p:nvSpPr>
          <p:cNvPr id="368" name="Google Shape;368;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rPr lang="en-GB">
                <a:solidFill>
                  <a:srgbClr val="000000"/>
                </a:solidFill>
              </a:rPr>
              <a:t>The first line uses an interface pyplot, from the matplotlib module.  It is mainly used for interactive plots and simple plot generation, which is what we want.</a:t>
            </a:r>
            <a:endParaRPr>
              <a:solidFill>
                <a:srgbClr val="000000"/>
              </a:solidFill>
            </a:endParaRPr>
          </a:p>
          <a:p>
            <a:pPr indent="0" lvl="0" marL="0" rtl="0" algn="l">
              <a:lnSpc>
                <a:spcPct val="115000"/>
              </a:lnSpc>
              <a:spcBef>
                <a:spcPts val="1600"/>
              </a:spcBef>
              <a:spcAft>
                <a:spcPts val="1600"/>
              </a:spcAft>
              <a:buSzPts val="1800"/>
              <a:buNone/>
            </a:pPr>
            <a:r>
              <a:rPr lang="en-GB">
                <a:solidFill>
                  <a:srgbClr val="000000"/>
                </a:solidFill>
              </a:rPr>
              <a:t>We import as plt so that we don’t have to type matplotlib.pyplot every time we want to use it.  We can just type plt instead.</a:t>
            </a:r>
            <a:endParaRPr>
              <a:solidFill>
                <a:srgbClr val="000000"/>
              </a:solidFill>
            </a:endParaRPr>
          </a:p>
        </p:txBody>
      </p:sp>
      <p:pic>
        <p:nvPicPr>
          <p:cNvPr id="369" name="Google Shape;369;p47"/>
          <p:cNvPicPr preferRelativeResize="0"/>
          <p:nvPr/>
        </p:nvPicPr>
        <p:blipFill rotWithShape="1">
          <a:blip r:embed="rId3">
            <a:alphaModFix/>
          </a:blip>
          <a:srcRect b="0" l="0" r="0" t="0"/>
          <a:stretch/>
        </p:blipFill>
        <p:spPr>
          <a:xfrm>
            <a:off x="311704" y="1152475"/>
            <a:ext cx="5029750" cy="1746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The output looks like this</a:t>
            </a:r>
            <a:endParaRPr/>
          </a:p>
        </p:txBody>
      </p:sp>
      <p:sp>
        <p:nvSpPr>
          <p:cNvPr id="375" name="Google Shape;375;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376" name="Google Shape;376;p48"/>
          <p:cNvPicPr preferRelativeResize="0"/>
          <p:nvPr/>
        </p:nvPicPr>
        <p:blipFill rotWithShape="1">
          <a:blip r:embed="rId3">
            <a:alphaModFix/>
          </a:blip>
          <a:srcRect b="0" l="0" r="0" t="0"/>
          <a:stretch/>
        </p:blipFill>
        <p:spPr>
          <a:xfrm>
            <a:off x="2238375" y="1152463"/>
            <a:ext cx="4667250" cy="3705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382" name="Google Shape;382;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b="1"/>
          </a:p>
        </p:txBody>
      </p:sp>
      <p:pic>
        <p:nvPicPr>
          <p:cNvPr id="383" name="Google Shape;383;p49"/>
          <p:cNvPicPr preferRelativeResize="0"/>
          <p:nvPr/>
        </p:nvPicPr>
        <p:blipFill rotWithShape="1">
          <a:blip r:embed="rId3">
            <a:alphaModFix/>
          </a:blip>
          <a:srcRect b="0" l="0" r="0" t="0"/>
          <a:stretch/>
        </p:blipFill>
        <p:spPr>
          <a:xfrm>
            <a:off x="2014538" y="38100"/>
            <a:ext cx="5114925" cy="5067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Labelling the graph</a:t>
            </a:r>
            <a:endParaRPr/>
          </a:p>
        </p:txBody>
      </p:sp>
      <p:sp>
        <p:nvSpPr>
          <p:cNvPr id="389" name="Google Shape;389;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390" name="Google Shape;390;p50"/>
          <p:cNvPicPr preferRelativeResize="0"/>
          <p:nvPr/>
        </p:nvPicPr>
        <p:blipFill rotWithShape="1">
          <a:blip r:embed="rId3">
            <a:alphaModFix/>
          </a:blip>
          <a:srcRect b="0" l="0" r="0" t="0"/>
          <a:stretch/>
        </p:blipFill>
        <p:spPr>
          <a:xfrm>
            <a:off x="446900" y="1242400"/>
            <a:ext cx="6161300" cy="3416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396" name="Google Shape;396;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397" name="Google Shape;397;p51"/>
          <p:cNvPicPr preferRelativeResize="0"/>
          <p:nvPr/>
        </p:nvPicPr>
        <p:blipFill rotWithShape="1">
          <a:blip r:embed="rId3">
            <a:alphaModFix/>
          </a:blip>
          <a:srcRect b="0" l="0" r="0" t="0"/>
          <a:stretch/>
        </p:blipFill>
        <p:spPr>
          <a:xfrm>
            <a:off x="199977" y="188250"/>
            <a:ext cx="5366699" cy="47561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Graphing Options</a:t>
            </a:r>
            <a:endParaRPr b="1"/>
          </a:p>
        </p:txBody>
      </p:sp>
      <p:sp>
        <p:nvSpPr>
          <p:cNvPr id="403" name="Google Shape;403;p52"/>
          <p:cNvSpPr txBox="1"/>
          <p:nvPr>
            <p:ph idx="1" type="body"/>
          </p:nvPr>
        </p:nvSpPr>
        <p:spPr>
          <a:xfrm>
            <a:off x="311700" y="1152475"/>
            <a:ext cx="4032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A line graph may not always be suitable.  For example, a line between points suggests that they are linked in some way.</a:t>
            </a:r>
            <a:endParaRPr>
              <a:solidFill>
                <a:srgbClr val="000000"/>
              </a:solidFill>
            </a:endParaRPr>
          </a:p>
          <a:p>
            <a:pPr indent="0" lvl="0" marL="0" rtl="0" algn="l">
              <a:lnSpc>
                <a:spcPct val="115000"/>
              </a:lnSpc>
              <a:spcBef>
                <a:spcPts val="1600"/>
              </a:spcBef>
              <a:spcAft>
                <a:spcPts val="1600"/>
              </a:spcAft>
              <a:buSzPts val="1800"/>
              <a:buNone/>
            </a:pPr>
            <a:r>
              <a:rPr lang="en-GB">
                <a:solidFill>
                  <a:srgbClr val="000000"/>
                </a:solidFill>
              </a:rPr>
              <a:t>The following code plots points, with no lines.</a:t>
            </a:r>
            <a:endParaRPr>
              <a:solidFill>
                <a:srgbClr val="000000"/>
              </a:solidFill>
            </a:endParaRPr>
          </a:p>
        </p:txBody>
      </p:sp>
      <p:pic>
        <p:nvPicPr>
          <p:cNvPr id="404" name="Google Shape;404;p52"/>
          <p:cNvPicPr preferRelativeResize="0"/>
          <p:nvPr/>
        </p:nvPicPr>
        <p:blipFill rotWithShape="1">
          <a:blip r:embed="rId3">
            <a:alphaModFix/>
          </a:blip>
          <a:srcRect b="0" l="0" r="0" t="0"/>
          <a:stretch/>
        </p:blipFill>
        <p:spPr>
          <a:xfrm>
            <a:off x="4572000" y="261925"/>
            <a:ext cx="4400550" cy="46196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410" name="Google Shape;410;p53"/>
          <p:cNvPicPr preferRelativeResize="0"/>
          <p:nvPr/>
        </p:nvPicPr>
        <p:blipFill rotWithShape="1">
          <a:blip r:embed="rId3">
            <a:alphaModFix/>
          </a:blip>
          <a:srcRect b="0" l="0" r="0" t="0"/>
          <a:stretch/>
        </p:blipFill>
        <p:spPr>
          <a:xfrm>
            <a:off x="1065901" y="0"/>
            <a:ext cx="5512824" cy="501360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x and y axis</a:t>
            </a:r>
            <a:endParaRPr b="1"/>
          </a:p>
        </p:txBody>
      </p:sp>
      <p:sp>
        <p:nvSpPr>
          <p:cNvPr id="416" name="Google Shape;416;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00000"/>
                </a:solidFill>
              </a:rPr>
              <a:t>We can show labels on our axis.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Using the following table, we can graph the students and the number of brothers/sisters.</a:t>
            </a:r>
            <a:endParaRPr>
              <a:solidFill>
                <a:srgbClr val="000000"/>
              </a:solidFill>
            </a:endParaRPr>
          </a:p>
          <a:p>
            <a:pPr indent="0" lvl="0" marL="0" rtl="0" algn="l">
              <a:lnSpc>
                <a:spcPct val="115000"/>
              </a:lnSpc>
              <a:spcBef>
                <a:spcPts val="1600"/>
              </a:spcBef>
              <a:spcAft>
                <a:spcPts val="0"/>
              </a:spcAft>
              <a:buSzPts val="1800"/>
              <a:buNone/>
            </a:pPr>
            <a:r>
              <a:rPr lang="en-GB">
                <a:solidFill>
                  <a:srgbClr val="000000"/>
                </a:solidFill>
              </a:rPr>
              <a:t>Note: there are two inputs so we </a:t>
            </a:r>
            <a:endParaRPr>
              <a:solidFill>
                <a:srgbClr val="000000"/>
              </a:solidFill>
            </a:endParaRPr>
          </a:p>
          <a:p>
            <a:pPr indent="0" lvl="0" marL="0" rtl="0" algn="l">
              <a:lnSpc>
                <a:spcPct val="115000"/>
              </a:lnSpc>
              <a:spcBef>
                <a:spcPts val="0"/>
              </a:spcBef>
              <a:spcAft>
                <a:spcPts val="0"/>
              </a:spcAft>
              <a:buSzPts val="1800"/>
              <a:buNone/>
            </a:pPr>
            <a:r>
              <a:rPr lang="en-GB">
                <a:solidFill>
                  <a:srgbClr val="000000"/>
                </a:solidFill>
              </a:rPr>
              <a:t>need two lists.</a:t>
            </a:r>
            <a:endParaRPr>
              <a:solidFill>
                <a:srgbClr val="000000"/>
              </a:solidFill>
            </a:endParaRPr>
          </a:p>
        </p:txBody>
      </p:sp>
      <p:pic>
        <p:nvPicPr>
          <p:cNvPr id="417" name="Google Shape;417;p54"/>
          <p:cNvPicPr preferRelativeResize="0"/>
          <p:nvPr/>
        </p:nvPicPr>
        <p:blipFill rotWithShape="1">
          <a:blip r:embed="rId3">
            <a:alphaModFix/>
          </a:blip>
          <a:srcRect b="0" l="0" r="0" t="0"/>
          <a:stretch/>
        </p:blipFill>
        <p:spPr>
          <a:xfrm>
            <a:off x="4183750" y="2233925"/>
            <a:ext cx="4505350" cy="27725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423" name="Google Shape;423;p55"/>
          <p:cNvSpPr txBox="1"/>
          <p:nvPr>
            <p:ph idx="1" type="body"/>
          </p:nvPr>
        </p:nvSpPr>
        <p:spPr>
          <a:xfrm>
            <a:off x="311700" y="1152475"/>
            <a:ext cx="8520600" cy="387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b="1"/>
          </a:p>
          <a:p>
            <a:pPr indent="0" lvl="0" marL="0" rtl="0" algn="l">
              <a:lnSpc>
                <a:spcPct val="115000"/>
              </a:lnSpc>
              <a:spcBef>
                <a:spcPts val="1600"/>
              </a:spcBef>
              <a:spcAft>
                <a:spcPts val="1600"/>
              </a:spcAft>
              <a:buSzPts val="1800"/>
              <a:buNone/>
            </a:pPr>
            <a:r>
              <a:rPr b="1" lang="en-GB"/>
              <a:t>Note: The first argument represents the x-axis and the second argument represents the y-axis</a:t>
            </a:r>
            <a:endParaRPr b="1"/>
          </a:p>
        </p:txBody>
      </p:sp>
      <p:pic>
        <p:nvPicPr>
          <p:cNvPr id="424" name="Google Shape;424;p55"/>
          <p:cNvPicPr preferRelativeResize="0"/>
          <p:nvPr/>
        </p:nvPicPr>
        <p:blipFill rotWithShape="1">
          <a:blip r:embed="rId3">
            <a:alphaModFix/>
          </a:blip>
          <a:srcRect b="0" l="0" r="0" t="0"/>
          <a:stretch/>
        </p:blipFill>
        <p:spPr>
          <a:xfrm>
            <a:off x="311700" y="0"/>
            <a:ext cx="6706750" cy="4002850"/>
          </a:xfrm>
          <a:prstGeom prst="rect">
            <a:avLst/>
          </a:prstGeom>
          <a:noFill/>
          <a:ln>
            <a:noFill/>
          </a:ln>
        </p:spPr>
      </p:pic>
      <p:cxnSp>
        <p:nvCxnSpPr>
          <p:cNvPr id="425" name="Google Shape;425;p55"/>
          <p:cNvCxnSpPr/>
          <p:nvPr/>
        </p:nvCxnSpPr>
        <p:spPr>
          <a:xfrm>
            <a:off x="4323750" y="2006725"/>
            <a:ext cx="62100" cy="2213700"/>
          </a:xfrm>
          <a:prstGeom prst="straightConnector1">
            <a:avLst/>
          </a:prstGeom>
          <a:noFill/>
          <a:ln cap="flat" cmpd="sng" w="38100">
            <a:solidFill>
              <a:srgbClr val="FF0000"/>
            </a:solidFill>
            <a:prstDash val="solid"/>
            <a:round/>
            <a:headEnd len="sm" w="sm" type="none"/>
            <a:tailEnd len="med" w="med" type="triangle"/>
          </a:ln>
        </p:spPr>
      </p:cxnSp>
      <p:cxnSp>
        <p:nvCxnSpPr>
          <p:cNvPr id="426" name="Google Shape;426;p55"/>
          <p:cNvCxnSpPr/>
          <p:nvPr/>
        </p:nvCxnSpPr>
        <p:spPr>
          <a:xfrm rot="10800000">
            <a:off x="4116725" y="2048100"/>
            <a:ext cx="227700" cy="0"/>
          </a:xfrm>
          <a:prstGeom prst="straightConnector1">
            <a:avLst/>
          </a:prstGeom>
          <a:noFill/>
          <a:ln cap="flat" cmpd="sng" w="38100">
            <a:solidFill>
              <a:srgbClr val="FF0000"/>
            </a:solidFill>
            <a:prstDash val="solid"/>
            <a:round/>
            <a:headEnd len="sm" w="sm" type="none"/>
            <a:tailEnd len="sm" w="sm"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Additional plot types - Bar Chart</a:t>
            </a:r>
            <a:endParaRPr b="1"/>
          </a:p>
        </p:txBody>
      </p:sp>
      <p:sp>
        <p:nvSpPr>
          <p:cNvPr id="432" name="Google Shape;432;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GB"/>
              <a:t>Bar </a:t>
            </a:r>
            <a:endParaRPr/>
          </a:p>
        </p:txBody>
      </p:sp>
      <p:pic>
        <p:nvPicPr>
          <p:cNvPr id="433" name="Google Shape;433;p56"/>
          <p:cNvPicPr preferRelativeResize="0"/>
          <p:nvPr/>
        </p:nvPicPr>
        <p:blipFill rotWithShape="1">
          <a:blip r:embed="rId3">
            <a:alphaModFix/>
          </a:blip>
          <a:srcRect b="0" l="0" r="0" t="0"/>
          <a:stretch/>
        </p:blipFill>
        <p:spPr>
          <a:xfrm>
            <a:off x="311700" y="1081075"/>
            <a:ext cx="4857750" cy="2981325"/>
          </a:xfrm>
          <a:prstGeom prst="rect">
            <a:avLst/>
          </a:prstGeom>
          <a:noFill/>
          <a:ln>
            <a:noFill/>
          </a:ln>
        </p:spPr>
      </p:pic>
      <p:pic>
        <p:nvPicPr>
          <p:cNvPr id="434" name="Google Shape;434;p56"/>
          <p:cNvPicPr preferRelativeResize="0"/>
          <p:nvPr/>
        </p:nvPicPr>
        <p:blipFill rotWithShape="1">
          <a:blip r:embed="rId4">
            <a:alphaModFix/>
          </a:blip>
          <a:srcRect b="0" l="0" r="0" t="0"/>
          <a:stretch/>
        </p:blipFill>
        <p:spPr>
          <a:xfrm>
            <a:off x="5169450" y="1090600"/>
            <a:ext cx="3845125" cy="29622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Pie Chart</a:t>
            </a:r>
            <a:endParaRPr b="1"/>
          </a:p>
        </p:txBody>
      </p:sp>
      <p:sp>
        <p:nvSpPr>
          <p:cNvPr id="440" name="Google Shape;440;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441" name="Google Shape;441;p57"/>
          <p:cNvPicPr preferRelativeResize="0"/>
          <p:nvPr/>
        </p:nvPicPr>
        <p:blipFill rotWithShape="1">
          <a:blip r:embed="rId3">
            <a:alphaModFix/>
          </a:blip>
          <a:srcRect b="0" l="0" r="0" t="0"/>
          <a:stretch/>
        </p:blipFill>
        <p:spPr>
          <a:xfrm>
            <a:off x="148763" y="1779575"/>
            <a:ext cx="4543425" cy="2162175"/>
          </a:xfrm>
          <a:prstGeom prst="rect">
            <a:avLst/>
          </a:prstGeom>
          <a:noFill/>
          <a:ln>
            <a:noFill/>
          </a:ln>
        </p:spPr>
      </p:pic>
      <p:pic>
        <p:nvPicPr>
          <p:cNvPr id="442" name="Google Shape;442;p57"/>
          <p:cNvPicPr preferRelativeResize="0"/>
          <p:nvPr/>
        </p:nvPicPr>
        <p:blipFill rotWithShape="1">
          <a:blip r:embed="rId4">
            <a:alphaModFix/>
          </a:blip>
          <a:srcRect b="0" l="0" r="0" t="0"/>
          <a:stretch/>
        </p:blipFill>
        <p:spPr>
          <a:xfrm>
            <a:off x="5147992" y="1152475"/>
            <a:ext cx="3815032" cy="33433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a:t>Displaying two datasets on one graph</a:t>
            </a:r>
            <a:endParaRPr b="1"/>
          </a:p>
        </p:txBody>
      </p:sp>
      <p:sp>
        <p:nvSpPr>
          <p:cNvPr id="448" name="Google Shape;448;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449" name="Google Shape;449;p58"/>
          <p:cNvPicPr preferRelativeResize="0"/>
          <p:nvPr/>
        </p:nvPicPr>
        <p:blipFill rotWithShape="1">
          <a:blip r:embed="rId3">
            <a:alphaModFix/>
          </a:blip>
          <a:srcRect b="0" l="0" r="0" t="0"/>
          <a:stretch/>
        </p:blipFill>
        <p:spPr>
          <a:xfrm>
            <a:off x="179138" y="1057275"/>
            <a:ext cx="4829175" cy="3028950"/>
          </a:xfrm>
          <a:prstGeom prst="rect">
            <a:avLst/>
          </a:prstGeom>
          <a:noFill/>
          <a:ln>
            <a:noFill/>
          </a:ln>
        </p:spPr>
      </p:pic>
      <p:pic>
        <p:nvPicPr>
          <p:cNvPr id="450" name="Google Shape;450;p58"/>
          <p:cNvPicPr preferRelativeResize="0"/>
          <p:nvPr/>
        </p:nvPicPr>
        <p:blipFill rotWithShape="1">
          <a:blip r:embed="rId4">
            <a:alphaModFix/>
          </a:blip>
          <a:srcRect b="0" l="0" r="0" t="0"/>
          <a:stretch/>
        </p:blipFill>
        <p:spPr>
          <a:xfrm>
            <a:off x="4849575" y="1708075"/>
            <a:ext cx="4236625" cy="25686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456" name="Google Shape;456;p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457" name="Google Shape;457;p59"/>
          <p:cNvPicPr preferRelativeResize="0"/>
          <p:nvPr/>
        </p:nvPicPr>
        <p:blipFill rotWithShape="1">
          <a:blip r:embed="rId3">
            <a:alphaModFix/>
          </a:blip>
          <a:srcRect b="0" l="0" r="0" t="0"/>
          <a:stretch/>
        </p:blipFill>
        <p:spPr>
          <a:xfrm>
            <a:off x="626455" y="524180"/>
            <a:ext cx="7267901" cy="39282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463" name="Google Shape;463;p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464" name="Google Shape;464;p60"/>
          <p:cNvPicPr preferRelativeResize="0"/>
          <p:nvPr/>
        </p:nvPicPr>
        <p:blipFill rotWithShape="1">
          <a:blip r:embed="rId3">
            <a:alphaModFix/>
          </a:blip>
          <a:srcRect b="0" l="0" r="0" t="0"/>
          <a:stretch/>
        </p:blipFill>
        <p:spPr>
          <a:xfrm>
            <a:off x="403500" y="445025"/>
            <a:ext cx="6834150" cy="29402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470" name="Google Shape;470;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471" name="Google Shape;471;p61"/>
          <p:cNvPicPr preferRelativeResize="0"/>
          <p:nvPr/>
        </p:nvPicPr>
        <p:blipFill rotWithShape="1">
          <a:blip r:embed="rId3">
            <a:alphaModFix/>
          </a:blip>
          <a:srcRect b="0" l="0" r="0" t="0"/>
          <a:stretch/>
        </p:blipFill>
        <p:spPr>
          <a:xfrm>
            <a:off x="203075" y="445026"/>
            <a:ext cx="5288602" cy="4123850"/>
          </a:xfrm>
          <a:prstGeom prst="rect">
            <a:avLst/>
          </a:prstGeom>
          <a:noFill/>
          <a:ln>
            <a:noFill/>
          </a:ln>
        </p:spPr>
      </p:pic>
      <p:pic>
        <p:nvPicPr>
          <p:cNvPr id="472" name="Google Shape;472;p61"/>
          <p:cNvPicPr preferRelativeResize="0"/>
          <p:nvPr/>
        </p:nvPicPr>
        <p:blipFill rotWithShape="1">
          <a:blip r:embed="rId4">
            <a:alphaModFix/>
          </a:blip>
          <a:srcRect b="0" l="0" r="0" t="0"/>
          <a:stretch/>
        </p:blipFill>
        <p:spPr>
          <a:xfrm>
            <a:off x="5491675" y="1818339"/>
            <a:ext cx="3652324" cy="270126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