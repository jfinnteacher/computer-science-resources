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733304-394D-446B-BABA-142A6F10316A}">
  <a:tblStyle styleId="{DC733304-394D-446B-BABA-142A6F1031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ad02f59a5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ad02f59a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ad02f59a5b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ad02f59a5b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576a5b54b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576a5b54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576a5b54b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576a5b54b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76a5b54be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76a5b54be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3f45e488a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3f45e488a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3f45e488a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3f45e488a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13f45e488a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13f45e488a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3f45e488a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13f45e488a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3f45e488a2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3f45e488a2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f45e488a2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f45e488a2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f45e488a2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f45e488a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3f45e488a2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3f45e488a2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3f45e488a2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3f45e488a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3f45e488a2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3f45e488a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3f45e488a2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3f45e488a2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409a984b5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409a984b5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409a984b52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409a984b5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3f8b6550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3f8b655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3fabc43f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3fabc43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3fabc43f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3fabc43f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3fabc43f1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3fabc43f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ad02f59a5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ad02f59a5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ad02f59a5b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ad02f59a5b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ad02f59a5b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ad02f59a5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ad02f59a5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ad02f59a5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d02f59a5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d02f59a5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ad02f59a5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ad02f59a5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acd1b8950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acd1b895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3f8b6550a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3f8b6550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155cc7a81a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155cc7a81a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155cc7a81a0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155cc7a81a0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409a984b5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409a984b5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409a984b52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409a984b5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e7f57afa2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1e7f57afa2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284687b7a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284687b7a8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84687b7a8e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84687b7a8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84687b7a8e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284687b7a8e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84687b7a8e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84687b7a8e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8494d9ad3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8494d9ad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ucd.ie/research/covid19response/news/irishepidemiologicalmodellingadvisorygrouptonphet/"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replit.com/@suzannelinnane/TemperatureHour-Model#main.py"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replit.com/@suzannelinnane/TennisModel#main.py"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X-6zxImekOE"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s://www.youtube.com/watch?v=DvElCxbimxc"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youtube.com/watch?v=3ilbVSQyE5A"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english.elpais.com/society/2020-10-28/a-room-a-bar-and-a-class-how-the-coronavirus-is-spread-through-the-air.html"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hyperlink" Target="https://www.washingtonpost.com/graphics/2020/world/corona-simulator/"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CPHjsWSzOY0&amp;feature=youtu.be"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hyperlink" Target="https://ncase.me/fireflies/"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en.wikipedia.org/wiki/Conway%27s_Game_of_Life"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hyperlink" Target="https://playgameoflife.com/"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www.khanacademy.org/computing/pixar/simulation/hair-simulation-101/v/hair-simulation-intro"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hyperlink" Target="https://www.kaggle.com/unsdsn/world-happiness"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hyperlink" Target="https://www.kaggle.com/usgs/earthquake-database" TargetMode="External"/><Relationship Id="rId5" Type="http://schemas.openxmlformats.org/officeDocument/2006/relationships/hyperlink" Target="https://www.kaggle.com/datasets/die9origephit/fifa-world-cup-2022-complete-dataset" TargetMode="External"/><Relationship Id="rId4" Type="http://schemas.openxmlformats.org/officeDocument/2006/relationships/hyperlink" Target="https://www.kaggle.com/datasets/themrityunjaypathak/imdb-top-100-mov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Modelling and Simulation</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Modelling and Simulation</a:t>
            </a:r>
            <a:endParaRPr b="1"/>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A model is a representation of a physical system or process.</a:t>
            </a:r>
            <a:endParaRPr>
              <a:solidFill>
                <a:srgbClr val="000000"/>
              </a:solidFill>
            </a:endParaRPr>
          </a:p>
          <a:p>
            <a:pPr marL="0" lvl="0" indent="0" algn="l" rtl="0">
              <a:spcBef>
                <a:spcPts val="1600"/>
              </a:spcBef>
              <a:spcAft>
                <a:spcPts val="0"/>
              </a:spcAft>
              <a:buNone/>
            </a:pPr>
            <a:r>
              <a:rPr lang="en-GB">
                <a:solidFill>
                  <a:srgbClr val="000000"/>
                </a:solidFill>
              </a:rPr>
              <a:t>Models are used to simulate what is happening in the system that the model represents.</a:t>
            </a:r>
            <a:endParaRPr>
              <a:solidFill>
                <a:srgbClr val="000000"/>
              </a:solidFill>
            </a:endParaRPr>
          </a:p>
          <a:p>
            <a:pPr marL="0" lvl="0" indent="0" algn="l" rtl="0">
              <a:spcBef>
                <a:spcPts val="1600"/>
              </a:spcBef>
              <a:spcAft>
                <a:spcPts val="0"/>
              </a:spcAft>
              <a:buNone/>
            </a:pPr>
            <a:r>
              <a:rPr lang="en-GB">
                <a:solidFill>
                  <a:srgbClr val="000000"/>
                </a:solidFill>
              </a:rPr>
              <a:t>These simulations allow us to gain knowledge and make predictions about the environment in a way that is frequently safer, cheaper and faster than conducting real world experiments.</a:t>
            </a:r>
            <a:endParaRPr>
              <a:solidFill>
                <a:srgbClr val="000000"/>
              </a:solidFill>
            </a:endParaRPr>
          </a:p>
          <a:p>
            <a:pPr marL="0" lvl="0" indent="0" algn="l" rtl="0">
              <a:spcBef>
                <a:spcPts val="1600"/>
              </a:spcBef>
              <a:spcAft>
                <a:spcPts val="0"/>
              </a:spcAft>
              <a:buNone/>
            </a:pPr>
            <a:r>
              <a:rPr lang="en-GB">
                <a:solidFill>
                  <a:schemeClr val="dk1"/>
                </a:solidFill>
              </a:rPr>
              <a:t>Computer models are software implementations that represent a real or virtual problem.  </a:t>
            </a:r>
            <a:endParaRPr>
              <a:solidFill>
                <a:schemeClr val="dk1"/>
              </a:solidFill>
            </a:endParaRPr>
          </a:p>
          <a:p>
            <a:pPr marL="0" lvl="0" indent="0" algn="l" rtl="0">
              <a:spcBef>
                <a:spcPts val="1600"/>
              </a:spcBef>
              <a:spcAft>
                <a:spcPts val="1600"/>
              </a:spcAft>
              <a:buClr>
                <a:schemeClr val="dk1"/>
              </a:buClr>
              <a:buSzPts val="1100"/>
              <a:buFont typeface="Arial"/>
              <a:buNone/>
            </a:pP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Example: COVID-19</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Public Health professional used models to predict how social distancing and other measures might reduce the rate of infection.  </a:t>
            </a:r>
            <a:endParaRPr>
              <a:solidFill>
                <a:srgbClr val="000000"/>
              </a:solidFill>
            </a:endParaRPr>
          </a:p>
          <a:p>
            <a:pPr marL="0" lvl="0" indent="0" algn="l" rtl="0">
              <a:spcBef>
                <a:spcPts val="1600"/>
              </a:spcBef>
              <a:spcAft>
                <a:spcPts val="0"/>
              </a:spcAft>
              <a:buNone/>
            </a:pPr>
            <a:r>
              <a:rPr lang="en-GB">
                <a:solidFill>
                  <a:srgbClr val="000000"/>
                </a:solidFill>
              </a:rPr>
              <a:t>The results of these simulations informed government policy in many places.</a:t>
            </a:r>
            <a:endParaRPr>
              <a:solidFill>
                <a:srgbClr val="000000"/>
              </a:solidFill>
            </a:endParaRPr>
          </a:p>
          <a:p>
            <a:pPr marL="0" lvl="0" indent="0" algn="l" rtl="0">
              <a:spcBef>
                <a:spcPts val="1600"/>
              </a:spcBef>
              <a:spcAft>
                <a:spcPts val="0"/>
              </a:spcAft>
              <a:buNone/>
            </a:pPr>
            <a:r>
              <a:rPr lang="en-GB">
                <a:solidFill>
                  <a:srgbClr val="000000"/>
                </a:solidFill>
              </a:rPr>
              <a:t>In Ireland, there was an</a:t>
            </a:r>
            <a:r>
              <a:rPr lang="en-GB" sz="1100" b="1">
                <a:solidFill>
                  <a:srgbClr val="000000"/>
                </a:solidFill>
              </a:rPr>
              <a:t> </a:t>
            </a:r>
            <a:r>
              <a:rPr lang="en-GB">
                <a:solidFill>
                  <a:srgbClr val="363636"/>
                </a:solidFill>
                <a:highlight>
                  <a:srgbClr val="FFFFFF"/>
                </a:highlight>
              </a:rPr>
              <a:t>Irish Epidemiological Modelling Advisory Group to NPHET.</a:t>
            </a:r>
            <a:r>
              <a:rPr lang="en-GB" sz="1700" b="1">
                <a:solidFill>
                  <a:srgbClr val="363636"/>
                </a:solidFill>
                <a:highlight>
                  <a:srgbClr val="FFFFFF"/>
                </a:highlight>
              </a:rPr>
              <a:t>  </a:t>
            </a:r>
            <a:endParaRPr>
              <a:solidFill>
                <a:srgbClr val="363636"/>
              </a:solidFill>
              <a:highlight>
                <a:srgbClr val="FFFFFF"/>
              </a:highlight>
            </a:endParaRPr>
          </a:p>
          <a:p>
            <a:pPr marL="0" lvl="0" indent="0" algn="l" rtl="0">
              <a:spcBef>
                <a:spcPts val="1600"/>
              </a:spcBef>
              <a:spcAft>
                <a:spcPts val="0"/>
              </a:spcAft>
              <a:buNone/>
            </a:pPr>
            <a:r>
              <a:rPr lang="en-GB">
                <a:solidFill>
                  <a:srgbClr val="363636"/>
                </a:solidFill>
                <a:highlight>
                  <a:srgbClr val="FFFFFF"/>
                </a:highlight>
              </a:rPr>
              <a:t>This group was involved in developing mathematical and statistical models for each stage of the pandemic.  These models were used to plan healthcare demand and investigate the impact of actions to reduce the spread of the virus.</a:t>
            </a:r>
            <a:endParaRPr>
              <a:solidFill>
                <a:srgbClr val="000000"/>
              </a:solidFill>
            </a:endParaRPr>
          </a:p>
          <a:p>
            <a:pPr marL="0" lvl="0" indent="0" algn="l" rtl="0">
              <a:spcBef>
                <a:spcPts val="1600"/>
              </a:spcBef>
              <a:spcAft>
                <a:spcPts val="1600"/>
              </a:spcAft>
              <a:buNone/>
            </a:pPr>
            <a:r>
              <a:rPr lang="en-GB" u="sng">
                <a:solidFill>
                  <a:schemeClr val="hlink"/>
                </a:solidFill>
                <a:hlinkClick r:id="rId3"/>
              </a:rPr>
              <a:t>https://www.ucd.ie/research/covid19response/news/irishepidemiologicalmodellingadvisorygrouptonphet/</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Basic Models</a:t>
            </a:r>
            <a:endParaRPr b="1"/>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a:solidFill>
                  <a:schemeClr val="dk1"/>
                </a:solidFill>
              </a:rPr>
              <a:t>Dice - Complete 2 Tasks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Evaluating Basic Models</a:t>
            </a:r>
            <a:endParaRPr b="1"/>
          </a:p>
        </p:txBody>
      </p:sp>
      <p:sp>
        <p:nvSpPr>
          <p:cNvPr id="79" name="Google Shape;7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It is important to evaluate models using test cases</a:t>
            </a:r>
            <a:endParaRPr>
              <a:solidFill>
                <a:schemeClr val="dk1"/>
              </a:solidFill>
            </a:endParaRPr>
          </a:p>
          <a:p>
            <a:pPr marL="0" lvl="0" indent="0" algn="l" rtl="0">
              <a:spcBef>
                <a:spcPts val="1600"/>
              </a:spcBef>
              <a:spcAft>
                <a:spcPts val="0"/>
              </a:spcAft>
              <a:buNone/>
            </a:pPr>
            <a:r>
              <a:rPr lang="en-GB">
                <a:solidFill>
                  <a:schemeClr val="dk1"/>
                </a:solidFill>
              </a:rPr>
              <a:t>Compound Interest Example</a:t>
            </a:r>
            <a:endParaRPr>
              <a:solidFill>
                <a:schemeClr val="dk1"/>
              </a:solidFill>
            </a:endParaRPr>
          </a:p>
          <a:p>
            <a:pPr marL="0" lvl="0" indent="0" algn="l" rtl="0">
              <a:spcBef>
                <a:spcPts val="1600"/>
              </a:spcBef>
              <a:spcAft>
                <a:spcPts val="1600"/>
              </a:spcAft>
              <a:buNone/>
            </a:pPr>
            <a:endParaRPr>
              <a:solidFill>
                <a:schemeClr val="dk1"/>
              </a:solidFill>
            </a:endParaRPr>
          </a:p>
        </p:txBody>
      </p:sp>
      <p:pic>
        <p:nvPicPr>
          <p:cNvPr id="80" name="Google Shape;80;p17"/>
          <p:cNvPicPr preferRelativeResize="0"/>
          <p:nvPr/>
        </p:nvPicPr>
        <p:blipFill>
          <a:blip r:embed="rId3">
            <a:alphaModFix/>
          </a:blip>
          <a:stretch>
            <a:fillRect/>
          </a:stretch>
        </p:blipFill>
        <p:spPr>
          <a:xfrm>
            <a:off x="5304225" y="1567775"/>
            <a:ext cx="3693050" cy="3608775"/>
          </a:xfrm>
          <a:prstGeom prst="rect">
            <a:avLst/>
          </a:prstGeom>
          <a:noFill/>
          <a:ln>
            <a:noFill/>
          </a:ln>
        </p:spPr>
      </p:pic>
      <p:pic>
        <p:nvPicPr>
          <p:cNvPr id="81" name="Google Shape;81;p17"/>
          <p:cNvPicPr preferRelativeResize="0"/>
          <p:nvPr/>
        </p:nvPicPr>
        <p:blipFill>
          <a:blip r:embed="rId4">
            <a:alphaModFix/>
          </a:blip>
          <a:stretch>
            <a:fillRect/>
          </a:stretch>
        </p:blipFill>
        <p:spPr>
          <a:xfrm>
            <a:off x="369700" y="2107775"/>
            <a:ext cx="3398075" cy="3035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Evaluating Models</a:t>
            </a:r>
            <a:endParaRPr b="1"/>
          </a:p>
        </p:txBody>
      </p:sp>
      <p:sp>
        <p:nvSpPr>
          <p:cNvPr id="87" name="Google Shape;87;p18"/>
          <p:cNvSpPr txBox="1">
            <a:spLocks noGrp="1"/>
          </p:cNvSpPr>
          <p:nvPr>
            <p:ph type="body" idx="1"/>
          </p:nvPr>
        </p:nvSpPr>
        <p:spPr>
          <a:xfrm>
            <a:off x="311700" y="1152475"/>
            <a:ext cx="8520600" cy="273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This model could be used to assess the suitability of the loan for a person based on their salary.</a:t>
            </a:r>
            <a:endParaRPr>
              <a:solidFill>
                <a:schemeClr val="dk1"/>
              </a:solidFill>
            </a:endParaRPr>
          </a:p>
          <a:p>
            <a:pPr marL="0" lvl="0" indent="0" algn="l" rtl="0">
              <a:spcBef>
                <a:spcPts val="1600"/>
              </a:spcBef>
              <a:spcAft>
                <a:spcPts val="0"/>
              </a:spcAft>
              <a:buNone/>
            </a:pPr>
            <a:r>
              <a:rPr lang="en-GB">
                <a:solidFill>
                  <a:schemeClr val="dk1"/>
                </a:solidFill>
              </a:rPr>
              <a:t>This decision could be embedded into the code.</a:t>
            </a:r>
            <a:endParaRPr>
              <a:solidFill>
                <a:schemeClr val="dk1"/>
              </a:solidFill>
            </a:endParaRPr>
          </a:p>
          <a:p>
            <a:pPr marL="0" lvl="0" indent="0" algn="l" rtl="0">
              <a:spcBef>
                <a:spcPts val="1600"/>
              </a:spcBef>
              <a:spcAft>
                <a:spcPts val="0"/>
              </a:spcAft>
              <a:buNone/>
            </a:pPr>
            <a:r>
              <a:rPr lang="en-GB">
                <a:solidFill>
                  <a:schemeClr val="dk1"/>
                </a:solidFill>
              </a:rPr>
              <a:t>The user could enter</a:t>
            </a:r>
            <a:endParaRPr>
              <a:solidFill>
                <a:schemeClr val="dk1"/>
              </a:solidFill>
            </a:endParaRPr>
          </a:p>
          <a:p>
            <a:pPr marL="457200" lvl="0" indent="-342900" algn="l" rtl="0">
              <a:spcBef>
                <a:spcPts val="1600"/>
              </a:spcBef>
              <a:spcAft>
                <a:spcPts val="0"/>
              </a:spcAft>
              <a:buClr>
                <a:schemeClr val="dk1"/>
              </a:buClr>
              <a:buSzPts val="1800"/>
              <a:buChar char="●"/>
            </a:pPr>
            <a:r>
              <a:rPr lang="en-GB">
                <a:solidFill>
                  <a:schemeClr val="dk1"/>
                </a:solidFill>
              </a:rPr>
              <a:t>The loan amount (P)</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The loan term (t)</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Their monthly salary (s)</a:t>
            </a:r>
            <a:endParaRPr>
              <a:solidFill>
                <a:schemeClr val="dk1"/>
              </a:solidFill>
            </a:endParaRPr>
          </a:p>
          <a:p>
            <a:pPr marL="0" lvl="0" indent="0" algn="l" rtl="0">
              <a:spcBef>
                <a:spcPts val="1600"/>
              </a:spcBef>
              <a:spcAft>
                <a:spcPts val="0"/>
              </a:spcAft>
              <a:buNone/>
            </a:pPr>
            <a:endParaRPr>
              <a:solidFill>
                <a:schemeClr val="dk1"/>
              </a:solidFill>
            </a:endParaRPr>
          </a:p>
          <a:p>
            <a:pPr marL="0" lvl="0" indent="0" algn="l" rtl="0">
              <a:spcBef>
                <a:spcPts val="1600"/>
              </a:spcBef>
              <a:spcAft>
                <a:spcPts val="1600"/>
              </a:spcAft>
              <a:buNone/>
            </a:pPr>
            <a:endParaRPr>
              <a:solidFill>
                <a:schemeClr val="dk1"/>
              </a:solidFill>
            </a:endParaRPr>
          </a:p>
        </p:txBody>
      </p:sp>
      <p:pic>
        <p:nvPicPr>
          <p:cNvPr id="88" name="Google Shape;88;p18"/>
          <p:cNvPicPr preferRelativeResize="0"/>
          <p:nvPr/>
        </p:nvPicPr>
        <p:blipFill>
          <a:blip r:embed="rId3">
            <a:alphaModFix/>
          </a:blip>
          <a:stretch>
            <a:fillRect/>
          </a:stretch>
        </p:blipFill>
        <p:spPr>
          <a:xfrm>
            <a:off x="4966700" y="2320725"/>
            <a:ext cx="4067150" cy="2822775"/>
          </a:xfrm>
          <a:prstGeom prst="rect">
            <a:avLst/>
          </a:prstGeom>
          <a:noFill/>
          <a:ln>
            <a:noFill/>
          </a:ln>
        </p:spPr>
      </p:pic>
      <p:sp>
        <p:nvSpPr>
          <p:cNvPr id="89" name="Google Shape;89;p18"/>
          <p:cNvSpPr txBox="1"/>
          <p:nvPr/>
        </p:nvSpPr>
        <p:spPr>
          <a:xfrm>
            <a:off x="345575" y="4018350"/>
            <a:ext cx="4653300" cy="156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GB" sz="1800">
                <a:solidFill>
                  <a:schemeClr val="dk1"/>
                </a:solidFill>
              </a:rPr>
              <a:t>The program will approve/decline the loan if the loan amount is less than 30% of the person’s salary</a:t>
            </a:r>
            <a:endParaRPr sz="1800">
              <a:solidFill>
                <a:schemeClr val="dk1"/>
              </a:solidFill>
            </a:endParaRPr>
          </a:p>
          <a:p>
            <a:pPr marL="0" lvl="0" indent="0" algn="l" rtl="0">
              <a:spcBef>
                <a:spcPts val="16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Developing a Model</a:t>
            </a:r>
            <a:endParaRPr b="1"/>
          </a:p>
        </p:txBody>
      </p:sp>
      <p:sp>
        <p:nvSpPr>
          <p:cNvPr id="95" name="Google Shape;95;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Data can help us see patterns that may help us develop a model.</a:t>
            </a:r>
            <a:endParaRPr>
              <a:solidFill>
                <a:schemeClr val="dk1"/>
              </a:solidFill>
            </a:endParaRPr>
          </a:p>
          <a:p>
            <a:pPr marL="0" lvl="0" indent="0" algn="l" rtl="0">
              <a:spcBef>
                <a:spcPts val="1600"/>
              </a:spcBef>
              <a:spcAft>
                <a:spcPts val="1600"/>
              </a:spcAft>
              <a:buNone/>
            </a:pPr>
            <a:r>
              <a:rPr lang="en-GB">
                <a:solidFill>
                  <a:schemeClr val="dk1"/>
                </a:solidFill>
              </a:rPr>
              <a:t>The following model explores the trend that exists between temperature and the time of day.</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Temperature/Time Model</a:t>
            </a:r>
            <a:endParaRPr b="1"/>
          </a:p>
        </p:txBody>
      </p:sp>
      <p:sp>
        <p:nvSpPr>
          <p:cNvPr id="101" name="Google Shape;101;p20"/>
          <p:cNvSpPr txBox="1">
            <a:spLocks noGrp="1"/>
          </p:cNvSpPr>
          <p:nvPr>
            <p:ph type="body" idx="1"/>
          </p:nvPr>
        </p:nvSpPr>
        <p:spPr>
          <a:xfrm>
            <a:off x="5761250" y="1152475"/>
            <a:ext cx="3071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a:solidFill>
                  <a:schemeClr val="dk1"/>
                </a:solidFill>
              </a:rPr>
              <a:t>This graph shows the temperature data gathered using a microbit.</a:t>
            </a:r>
            <a:endParaRPr>
              <a:solidFill>
                <a:schemeClr val="dk1"/>
              </a:solidFill>
            </a:endParaRPr>
          </a:p>
        </p:txBody>
      </p:sp>
      <p:pic>
        <p:nvPicPr>
          <p:cNvPr id="102" name="Google Shape;102;p20"/>
          <p:cNvPicPr preferRelativeResize="0"/>
          <p:nvPr/>
        </p:nvPicPr>
        <p:blipFill>
          <a:blip r:embed="rId3">
            <a:alphaModFix/>
          </a:blip>
          <a:stretch>
            <a:fillRect/>
          </a:stretch>
        </p:blipFill>
        <p:spPr>
          <a:xfrm>
            <a:off x="254513" y="1080313"/>
            <a:ext cx="5438775" cy="3305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231125" y="257025"/>
            <a:ext cx="1984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Table of data</a:t>
            </a:r>
            <a:endParaRPr b="1"/>
          </a:p>
        </p:txBody>
      </p:sp>
      <p:sp>
        <p:nvSpPr>
          <p:cNvPr id="108" name="Google Shape;108;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graphicFrame>
        <p:nvGraphicFramePr>
          <p:cNvPr id="109" name="Google Shape;109;p21"/>
          <p:cNvGraphicFramePr/>
          <p:nvPr>
            <p:extLst>
              <p:ext uri="{D42A27DB-BD31-4B8C-83A1-F6EECF244321}">
                <p14:modId xmlns:p14="http://schemas.microsoft.com/office/powerpoint/2010/main" val="2009792568"/>
              </p:ext>
            </p:extLst>
          </p:nvPr>
        </p:nvGraphicFramePr>
        <p:xfrm>
          <a:off x="3687337" y="-7230"/>
          <a:ext cx="4027696" cy="5150730"/>
        </p:xfrm>
        <a:graphic>
          <a:graphicData uri="http://schemas.openxmlformats.org/drawingml/2006/table">
            <a:tbl>
              <a:tblPr>
                <a:noFill/>
                <a:tableStyleId>{DC733304-394D-446B-BABA-142A6F10316A}</a:tableStyleId>
              </a:tblPr>
              <a:tblGrid>
                <a:gridCol w="1006924">
                  <a:extLst>
                    <a:ext uri="{9D8B030D-6E8A-4147-A177-3AD203B41FA5}">
                      <a16:colId xmlns:a16="http://schemas.microsoft.com/office/drawing/2014/main" val="20000"/>
                    </a:ext>
                  </a:extLst>
                </a:gridCol>
                <a:gridCol w="1006924">
                  <a:extLst>
                    <a:ext uri="{9D8B030D-6E8A-4147-A177-3AD203B41FA5}">
                      <a16:colId xmlns:a16="http://schemas.microsoft.com/office/drawing/2014/main" val="20001"/>
                    </a:ext>
                  </a:extLst>
                </a:gridCol>
                <a:gridCol w="1006924">
                  <a:extLst>
                    <a:ext uri="{9D8B030D-6E8A-4147-A177-3AD203B41FA5}">
                      <a16:colId xmlns:a16="http://schemas.microsoft.com/office/drawing/2014/main" val="20002"/>
                    </a:ext>
                  </a:extLst>
                </a:gridCol>
                <a:gridCol w="1006924">
                  <a:extLst>
                    <a:ext uri="{9D8B030D-6E8A-4147-A177-3AD203B41FA5}">
                      <a16:colId xmlns:a16="http://schemas.microsoft.com/office/drawing/2014/main" val="20003"/>
                    </a:ext>
                  </a:extLst>
                </a:gridCol>
              </a:tblGrid>
              <a:tr h="345937">
                <a:tc>
                  <a:txBody>
                    <a:bodyPr/>
                    <a:lstStyle/>
                    <a:p>
                      <a:pPr marL="0" lvl="0" indent="0" algn="l" rtl="0">
                        <a:spcBef>
                          <a:spcPts val="0"/>
                        </a:spcBef>
                        <a:spcAft>
                          <a:spcPts val="0"/>
                        </a:spcAft>
                        <a:buNone/>
                      </a:pPr>
                      <a:r>
                        <a:rPr lang="en-GB" b="1" dirty="0"/>
                        <a:t>Hour</a:t>
                      </a:r>
                      <a:endParaRPr b="1" dirty="0"/>
                    </a:p>
                  </a:txBody>
                  <a:tcPr marL="91425" marR="91425" marT="91425" marB="91425"/>
                </a:tc>
                <a:tc>
                  <a:txBody>
                    <a:bodyPr/>
                    <a:lstStyle/>
                    <a:p>
                      <a:pPr marL="0" lvl="0" indent="0" algn="l" rtl="0">
                        <a:spcBef>
                          <a:spcPts val="0"/>
                        </a:spcBef>
                        <a:spcAft>
                          <a:spcPts val="0"/>
                        </a:spcAft>
                        <a:buNone/>
                      </a:pPr>
                      <a:r>
                        <a:rPr lang="en-GB" b="1"/>
                        <a:t>Temp</a:t>
                      </a:r>
                      <a:endParaRPr b="1"/>
                    </a:p>
                  </a:txBody>
                  <a:tcPr marL="91425" marR="91425" marT="91425" marB="91425"/>
                </a:tc>
                <a:tc>
                  <a:txBody>
                    <a:bodyPr/>
                    <a:lstStyle/>
                    <a:p>
                      <a:pPr marL="0" lvl="0" indent="0" algn="l" rtl="0">
                        <a:spcBef>
                          <a:spcPts val="0"/>
                        </a:spcBef>
                        <a:spcAft>
                          <a:spcPts val="0"/>
                        </a:spcAft>
                        <a:buNone/>
                      </a:pPr>
                      <a:r>
                        <a:rPr lang="en-GB" b="1"/>
                        <a:t>Hour</a:t>
                      </a:r>
                      <a:endParaRPr b="1"/>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b="1"/>
                        <a:t>Temp</a:t>
                      </a:r>
                      <a:endParaRPr b="1"/>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45937">
                <a:tc>
                  <a:txBody>
                    <a:bodyPr/>
                    <a:lstStyle/>
                    <a:p>
                      <a:pPr marL="0" lvl="0" indent="0" algn="l" rtl="0">
                        <a:spcBef>
                          <a:spcPts val="0"/>
                        </a:spcBef>
                        <a:spcAft>
                          <a:spcPts val="0"/>
                        </a:spcAft>
                        <a:buNone/>
                      </a:pPr>
                      <a:r>
                        <a:rPr lang="en-GB" b="1"/>
                        <a:t>0</a:t>
                      </a:r>
                      <a:endParaRPr b="1"/>
                    </a:p>
                  </a:txBody>
                  <a:tcPr marL="91425" marR="91425" marT="91425" marB="91425"/>
                </a:tc>
                <a:tc>
                  <a:txBody>
                    <a:bodyPr/>
                    <a:lstStyle/>
                    <a:p>
                      <a:pPr marL="0" lvl="0" indent="0" algn="l" rtl="0">
                        <a:spcBef>
                          <a:spcPts val="0"/>
                        </a:spcBef>
                        <a:spcAft>
                          <a:spcPts val="0"/>
                        </a:spcAft>
                        <a:buNone/>
                      </a:pPr>
                      <a:r>
                        <a:rPr lang="en-GB"/>
                        <a:t>5</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16</a:t>
                      </a:r>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5937">
                <a:tc>
                  <a:txBody>
                    <a:bodyPr/>
                    <a:lstStyle/>
                    <a:p>
                      <a:pPr marL="0" lvl="0" indent="0" algn="l" rtl="0">
                        <a:spcBef>
                          <a:spcPts val="0"/>
                        </a:spcBef>
                        <a:spcAft>
                          <a:spcPts val="0"/>
                        </a:spcAft>
                        <a:buNone/>
                      </a:pPr>
                      <a:r>
                        <a:rPr lang="en-GB" b="1"/>
                        <a:t>1</a:t>
                      </a:r>
                      <a:endParaRPr b="1"/>
                    </a:p>
                  </a:txBody>
                  <a:tcPr marL="91425" marR="91425" marT="91425" marB="91425"/>
                </a:tc>
                <a:tc>
                  <a:txBody>
                    <a:bodyPr/>
                    <a:lstStyle/>
                    <a:p>
                      <a:pPr marL="0" lvl="0" indent="0" algn="l" rtl="0">
                        <a:spcBef>
                          <a:spcPts val="0"/>
                        </a:spcBef>
                        <a:spcAft>
                          <a:spcPts val="0"/>
                        </a:spcAft>
                        <a:buNone/>
                      </a:pPr>
                      <a:r>
                        <a:rPr lang="en-GB"/>
                        <a:t>6</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13</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15</a:t>
                      </a:r>
                      <a:endParaRPr/>
                    </a:p>
                  </a:txBody>
                  <a:tcPr marL="91425" marR="91425" marT="91425" marB="91425">
                    <a:lnL w="9525" cap="flat" cmpd="sng">
                      <a:solidFill>
                        <a:srgbClr val="9E9E9E"/>
                      </a:solidFill>
                      <a:prstDash val="solid"/>
                      <a:round/>
                      <a:headEnd type="none" w="sm" len="sm"/>
                      <a:tailEnd type="none" w="sm" len="sm"/>
                    </a:lnL>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2"/>
                  </a:ext>
                </a:extLst>
              </a:tr>
              <a:tr h="345937">
                <a:tc>
                  <a:txBody>
                    <a:bodyPr/>
                    <a:lstStyle/>
                    <a:p>
                      <a:pPr marL="0" lvl="0" indent="0" algn="l" rtl="0">
                        <a:spcBef>
                          <a:spcPts val="0"/>
                        </a:spcBef>
                        <a:spcAft>
                          <a:spcPts val="0"/>
                        </a:spcAft>
                        <a:buNone/>
                      </a:pPr>
                      <a:r>
                        <a:rPr lang="en-GB" b="1"/>
                        <a:t>2</a:t>
                      </a:r>
                      <a:endParaRPr b="1"/>
                    </a:p>
                  </a:txBody>
                  <a:tcPr marL="91425" marR="91425" marT="91425" marB="91425"/>
                </a:tc>
                <a:tc>
                  <a:txBody>
                    <a:bodyPr/>
                    <a:lstStyle/>
                    <a:p>
                      <a:pPr marL="0" lvl="0" indent="0" algn="l" rtl="0">
                        <a:spcBef>
                          <a:spcPts val="0"/>
                        </a:spcBef>
                        <a:spcAft>
                          <a:spcPts val="0"/>
                        </a:spcAft>
                        <a:buNone/>
                      </a:pPr>
                      <a:r>
                        <a:rPr lang="en-GB"/>
                        <a:t>7</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14</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14</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3"/>
                  </a:ext>
                </a:extLst>
              </a:tr>
              <a:tr h="345937">
                <a:tc>
                  <a:txBody>
                    <a:bodyPr/>
                    <a:lstStyle/>
                    <a:p>
                      <a:pPr marL="0" lvl="0" indent="0" algn="l" rtl="0">
                        <a:spcBef>
                          <a:spcPts val="0"/>
                        </a:spcBef>
                        <a:spcAft>
                          <a:spcPts val="0"/>
                        </a:spcAft>
                        <a:buNone/>
                      </a:pPr>
                      <a:r>
                        <a:rPr lang="en-GB" b="1"/>
                        <a:t>3</a:t>
                      </a:r>
                      <a:endParaRPr b="1"/>
                    </a:p>
                  </a:txBody>
                  <a:tcPr marL="91425" marR="91425" marT="91425" marB="91425"/>
                </a:tc>
                <a:tc>
                  <a:txBody>
                    <a:bodyPr/>
                    <a:lstStyle/>
                    <a:p>
                      <a:pPr marL="0" lvl="0" indent="0" algn="l" rtl="0">
                        <a:spcBef>
                          <a:spcPts val="0"/>
                        </a:spcBef>
                        <a:spcAft>
                          <a:spcPts val="0"/>
                        </a:spcAft>
                        <a:buNone/>
                      </a:pPr>
                      <a:r>
                        <a:rPr lang="en-GB"/>
                        <a:t>8</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15</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13</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4"/>
                  </a:ext>
                </a:extLst>
              </a:tr>
              <a:tr h="345937">
                <a:tc>
                  <a:txBody>
                    <a:bodyPr/>
                    <a:lstStyle/>
                    <a:p>
                      <a:pPr marL="0" lvl="0" indent="0" algn="l" rtl="0">
                        <a:spcBef>
                          <a:spcPts val="0"/>
                        </a:spcBef>
                        <a:spcAft>
                          <a:spcPts val="0"/>
                        </a:spcAft>
                        <a:buNone/>
                      </a:pPr>
                      <a:r>
                        <a:rPr lang="en-GB" b="1"/>
                        <a:t>4</a:t>
                      </a:r>
                      <a:endParaRPr b="1"/>
                    </a:p>
                  </a:txBody>
                  <a:tcPr marL="91425" marR="91425" marT="91425" marB="91425"/>
                </a:tc>
                <a:tc>
                  <a:txBody>
                    <a:bodyPr/>
                    <a:lstStyle/>
                    <a:p>
                      <a:pPr marL="0" lvl="0" indent="0" algn="l" rtl="0">
                        <a:spcBef>
                          <a:spcPts val="0"/>
                        </a:spcBef>
                        <a:spcAft>
                          <a:spcPts val="0"/>
                        </a:spcAft>
                        <a:buNone/>
                      </a:pPr>
                      <a:r>
                        <a:rPr lang="en-GB"/>
                        <a:t>9</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16</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12</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r h="345937">
                <a:tc>
                  <a:txBody>
                    <a:bodyPr/>
                    <a:lstStyle/>
                    <a:p>
                      <a:pPr marL="0" lvl="0" indent="0" algn="l" rtl="0">
                        <a:spcBef>
                          <a:spcPts val="0"/>
                        </a:spcBef>
                        <a:spcAft>
                          <a:spcPts val="0"/>
                        </a:spcAft>
                        <a:buNone/>
                      </a:pPr>
                      <a:r>
                        <a:rPr lang="en-GB" b="1"/>
                        <a:t>5</a:t>
                      </a:r>
                      <a:endParaRPr b="1"/>
                    </a:p>
                  </a:txBody>
                  <a:tcPr marL="91425" marR="91425" marT="91425" marB="91425"/>
                </a:tc>
                <a:tc>
                  <a:txBody>
                    <a:bodyPr/>
                    <a:lstStyle/>
                    <a:p>
                      <a:pPr marL="0" lvl="0" indent="0" algn="l" rtl="0">
                        <a:spcBef>
                          <a:spcPts val="0"/>
                        </a:spcBef>
                        <a:spcAft>
                          <a:spcPts val="0"/>
                        </a:spcAft>
                        <a:buNone/>
                      </a:pPr>
                      <a:r>
                        <a:rPr lang="en-GB"/>
                        <a:t>10</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17</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11</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6"/>
                  </a:ext>
                </a:extLst>
              </a:tr>
              <a:tr h="345937">
                <a:tc>
                  <a:txBody>
                    <a:bodyPr/>
                    <a:lstStyle/>
                    <a:p>
                      <a:pPr marL="0" lvl="0" indent="0" algn="l" rtl="0">
                        <a:spcBef>
                          <a:spcPts val="0"/>
                        </a:spcBef>
                        <a:spcAft>
                          <a:spcPts val="0"/>
                        </a:spcAft>
                        <a:buNone/>
                      </a:pPr>
                      <a:r>
                        <a:rPr lang="en-GB" b="1"/>
                        <a:t>6</a:t>
                      </a:r>
                      <a:endParaRPr b="1"/>
                    </a:p>
                  </a:txBody>
                  <a:tcPr marL="91425" marR="91425" marT="91425" marB="91425"/>
                </a:tc>
                <a:tc>
                  <a:txBody>
                    <a:bodyPr/>
                    <a:lstStyle/>
                    <a:p>
                      <a:pPr marL="0" lvl="0" indent="0" algn="l" rtl="0">
                        <a:spcBef>
                          <a:spcPts val="0"/>
                        </a:spcBef>
                        <a:spcAft>
                          <a:spcPts val="0"/>
                        </a:spcAft>
                        <a:buNone/>
                      </a:pPr>
                      <a:r>
                        <a:rPr lang="en-GB"/>
                        <a:t>11</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18</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10</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7"/>
                  </a:ext>
                </a:extLst>
              </a:tr>
              <a:tr h="345937">
                <a:tc>
                  <a:txBody>
                    <a:bodyPr/>
                    <a:lstStyle/>
                    <a:p>
                      <a:pPr marL="0" lvl="0" indent="0" algn="l" rtl="0">
                        <a:spcBef>
                          <a:spcPts val="0"/>
                        </a:spcBef>
                        <a:spcAft>
                          <a:spcPts val="0"/>
                        </a:spcAft>
                        <a:buNone/>
                      </a:pPr>
                      <a:r>
                        <a:rPr lang="en-GB" b="1"/>
                        <a:t>7</a:t>
                      </a:r>
                      <a:endParaRPr b="1"/>
                    </a:p>
                  </a:txBody>
                  <a:tcPr marL="91425" marR="91425" marT="91425" marB="91425"/>
                </a:tc>
                <a:tc>
                  <a:txBody>
                    <a:bodyPr/>
                    <a:lstStyle/>
                    <a:p>
                      <a:pPr marL="0" lvl="0" indent="0" algn="l" rtl="0">
                        <a:spcBef>
                          <a:spcPts val="0"/>
                        </a:spcBef>
                        <a:spcAft>
                          <a:spcPts val="0"/>
                        </a:spcAft>
                        <a:buNone/>
                      </a:pPr>
                      <a:r>
                        <a:rPr lang="en-GB"/>
                        <a:t>12</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19</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9</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8"/>
                  </a:ext>
                </a:extLst>
              </a:tr>
              <a:tr h="345937">
                <a:tc>
                  <a:txBody>
                    <a:bodyPr/>
                    <a:lstStyle/>
                    <a:p>
                      <a:pPr marL="0" lvl="0" indent="0" algn="l" rtl="0">
                        <a:spcBef>
                          <a:spcPts val="0"/>
                        </a:spcBef>
                        <a:spcAft>
                          <a:spcPts val="0"/>
                        </a:spcAft>
                        <a:buNone/>
                      </a:pPr>
                      <a:r>
                        <a:rPr lang="en-GB" b="1"/>
                        <a:t>8</a:t>
                      </a:r>
                      <a:endParaRPr b="1"/>
                    </a:p>
                  </a:txBody>
                  <a:tcPr marL="91425" marR="91425" marT="91425" marB="91425"/>
                </a:tc>
                <a:tc>
                  <a:txBody>
                    <a:bodyPr/>
                    <a:lstStyle/>
                    <a:p>
                      <a:pPr marL="0" lvl="0" indent="0" algn="l" rtl="0">
                        <a:spcBef>
                          <a:spcPts val="0"/>
                        </a:spcBef>
                        <a:spcAft>
                          <a:spcPts val="0"/>
                        </a:spcAft>
                        <a:buNone/>
                      </a:pPr>
                      <a:r>
                        <a:rPr lang="en-GB"/>
                        <a:t>13</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dirty="0"/>
                        <a:t>20</a:t>
                      </a:r>
                      <a:endParaRPr b="1"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8</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9"/>
                  </a:ext>
                </a:extLst>
              </a:tr>
              <a:tr h="345937">
                <a:tc>
                  <a:txBody>
                    <a:bodyPr/>
                    <a:lstStyle/>
                    <a:p>
                      <a:pPr marL="0" lvl="0" indent="0" algn="l" rtl="0">
                        <a:spcBef>
                          <a:spcPts val="0"/>
                        </a:spcBef>
                        <a:spcAft>
                          <a:spcPts val="0"/>
                        </a:spcAft>
                        <a:buNone/>
                      </a:pPr>
                      <a:r>
                        <a:rPr lang="en-GB" b="1"/>
                        <a:t>9</a:t>
                      </a:r>
                      <a:endParaRPr b="1"/>
                    </a:p>
                  </a:txBody>
                  <a:tcPr marL="91425" marR="91425" marT="91425" marB="91425"/>
                </a:tc>
                <a:tc>
                  <a:txBody>
                    <a:bodyPr/>
                    <a:lstStyle/>
                    <a:p>
                      <a:pPr marL="0" lvl="0" indent="0" algn="l" rtl="0">
                        <a:spcBef>
                          <a:spcPts val="0"/>
                        </a:spcBef>
                        <a:spcAft>
                          <a:spcPts val="0"/>
                        </a:spcAft>
                        <a:buNone/>
                      </a:pPr>
                      <a:r>
                        <a:rPr lang="en-GB"/>
                        <a:t>14</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21</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7</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0"/>
                  </a:ext>
                </a:extLst>
              </a:tr>
              <a:tr h="345937">
                <a:tc>
                  <a:txBody>
                    <a:bodyPr/>
                    <a:lstStyle/>
                    <a:p>
                      <a:pPr marL="0" lvl="0" indent="0" algn="l" rtl="0">
                        <a:spcBef>
                          <a:spcPts val="0"/>
                        </a:spcBef>
                        <a:spcAft>
                          <a:spcPts val="0"/>
                        </a:spcAft>
                        <a:buNone/>
                      </a:pPr>
                      <a:r>
                        <a:rPr lang="en-GB" b="1"/>
                        <a:t>10</a:t>
                      </a:r>
                      <a:endParaRPr b="1"/>
                    </a:p>
                  </a:txBody>
                  <a:tcPr marL="91425" marR="91425" marT="91425" marB="91425"/>
                </a:tc>
                <a:tc>
                  <a:txBody>
                    <a:bodyPr/>
                    <a:lstStyle/>
                    <a:p>
                      <a:pPr marL="0" lvl="0" indent="0" algn="l" rtl="0">
                        <a:spcBef>
                          <a:spcPts val="0"/>
                        </a:spcBef>
                        <a:spcAft>
                          <a:spcPts val="0"/>
                        </a:spcAft>
                        <a:buNone/>
                      </a:pPr>
                      <a:r>
                        <a:rPr lang="en-GB"/>
                        <a:t>15</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22</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a:t>6</a:t>
                      </a:r>
                      <a:endParaRPr/>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1"/>
                  </a:ext>
                </a:extLst>
              </a:tr>
              <a:tr h="345937">
                <a:tc>
                  <a:txBody>
                    <a:bodyPr/>
                    <a:lstStyle/>
                    <a:p>
                      <a:pPr marL="0" lvl="0" indent="0" algn="l" rtl="0">
                        <a:spcBef>
                          <a:spcPts val="0"/>
                        </a:spcBef>
                        <a:spcAft>
                          <a:spcPts val="0"/>
                        </a:spcAft>
                        <a:buNone/>
                      </a:pPr>
                      <a:r>
                        <a:rPr lang="en-GB" b="1"/>
                        <a:t>11</a:t>
                      </a:r>
                      <a:endParaRPr b="1"/>
                    </a:p>
                  </a:txBody>
                  <a:tcPr marL="91425" marR="91425" marT="91425" marB="91425"/>
                </a:tc>
                <a:tc>
                  <a:txBody>
                    <a:bodyPr/>
                    <a:lstStyle/>
                    <a:p>
                      <a:pPr marL="0" lvl="0" indent="0" algn="l" rtl="0">
                        <a:spcBef>
                          <a:spcPts val="0"/>
                        </a:spcBef>
                        <a:spcAft>
                          <a:spcPts val="0"/>
                        </a:spcAft>
                        <a:buNone/>
                      </a:pPr>
                      <a:r>
                        <a:rPr lang="en-GB"/>
                        <a:t>16</a:t>
                      </a:r>
                      <a:endParaRPr/>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b="1"/>
                        <a:t>23</a:t>
                      </a:r>
                      <a:endParaRPr b="1"/>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dirty="0"/>
                        <a:t>5</a:t>
                      </a:r>
                      <a:endParaRPr dirty="0"/>
                    </a:p>
                  </a:txBody>
                  <a:tcPr marL="91425" marR="91425" marT="91425" marB="91425">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1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Observations</a:t>
            </a:r>
            <a:endParaRPr b="1"/>
          </a:p>
        </p:txBody>
      </p:sp>
      <p:sp>
        <p:nvSpPr>
          <p:cNvPr id="115" name="Google Shape;115;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16" name="Google Shape;116;p22"/>
          <p:cNvPicPr preferRelativeResize="0"/>
          <p:nvPr/>
        </p:nvPicPr>
        <p:blipFill>
          <a:blip r:embed="rId3">
            <a:alphaModFix/>
          </a:blip>
          <a:stretch>
            <a:fillRect/>
          </a:stretch>
        </p:blipFill>
        <p:spPr>
          <a:xfrm>
            <a:off x="311704" y="1152475"/>
            <a:ext cx="6931175" cy="352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Developing the model</a:t>
            </a:r>
            <a:endParaRPr b="1"/>
          </a:p>
        </p:txBody>
      </p:sp>
      <p:sp>
        <p:nvSpPr>
          <p:cNvPr id="122" name="Google Shape;122;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dirty="0">
                <a:solidFill>
                  <a:schemeClr val="hlink"/>
                </a:solidFill>
                <a:hlinkClick r:id="rId3"/>
              </a:rPr>
              <a:t>https://replit.com/@suzannelinnane/TemperatureHour-Model#main.py</a:t>
            </a:r>
            <a:endParaRPr dirty="0">
              <a:solidFill>
                <a:schemeClr val="dk1"/>
              </a:solidFill>
            </a:endParaRPr>
          </a:p>
          <a:p>
            <a:pPr marL="0" lvl="0" indent="0" algn="l" rtl="0">
              <a:spcBef>
                <a:spcPts val="1600"/>
              </a:spcBef>
              <a:spcAft>
                <a:spcPts val="1600"/>
              </a:spcAft>
              <a:buNone/>
            </a:pPr>
            <a:endParaRPr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Decision Making Model</a:t>
            </a:r>
            <a:endParaRPr b="1"/>
          </a:p>
        </p:txBody>
      </p:sp>
      <p:sp>
        <p:nvSpPr>
          <p:cNvPr id="128" name="Google Shape;128;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The tennis data on the next slide can be used to model a tennis players decision to play based on weather.</a:t>
            </a:r>
            <a:endParaRPr>
              <a:solidFill>
                <a:schemeClr val="dk1"/>
              </a:solidFill>
            </a:endParaRPr>
          </a:p>
          <a:p>
            <a:pPr marL="0" lvl="0" indent="0" algn="l" rtl="0">
              <a:spcBef>
                <a:spcPts val="1600"/>
              </a:spcBef>
              <a:spcAft>
                <a:spcPts val="0"/>
              </a:spcAft>
              <a:buNone/>
            </a:pPr>
            <a:r>
              <a:rPr lang="en-GB">
                <a:solidFill>
                  <a:schemeClr val="dk1"/>
                </a:solidFill>
              </a:rPr>
              <a:t>It is a famous data set used for introduction to modelling.</a:t>
            </a:r>
            <a:endParaRPr>
              <a:solidFill>
                <a:schemeClr val="dk1"/>
              </a:solidFill>
            </a:endParaRPr>
          </a:p>
          <a:p>
            <a:pPr marL="0" lvl="0" indent="0" algn="l" rtl="0">
              <a:spcBef>
                <a:spcPts val="1600"/>
              </a:spcBef>
              <a:spcAft>
                <a:spcPts val="1600"/>
              </a:spcAft>
              <a:buNone/>
            </a:pPr>
            <a:r>
              <a:rPr lang="en-GB">
                <a:solidFill>
                  <a:schemeClr val="dk1"/>
                </a:solidFill>
              </a:rPr>
              <a:t>It uses historical data to allow us to predict whether a tennis player will or not.</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35" name="Google Shape;135;p25"/>
          <p:cNvPicPr preferRelativeResize="0"/>
          <p:nvPr/>
        </p:nvPicPr>
        <p:blipFill>
          <a:blip r:embed="rId3">
            <a:alphaModFix/>
          </a:blip>
          <a:stretch>
            <a:fillRect/>
          </a:stretch>
        </p:blipFill>
        <p:spPr>
          <a:xfrm>
            <a:off x="2171700" y="180975"/>
            <a:ext cx="4982296" cy="4962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Tennis Model</a:t>
            </a:r>
            <a:endParaRPr/>
          </a:p>
        </p:txBody>
      </p:sp>
      <p:sp>
        <p:nvSpPr>
          <p:cNvPr id="141" name="Google Shape;141;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We first need to study the data to identify scenarios.</a:t>
            </a:r>
            <a:endParaRPr>
              <a:solidFill>
                <a:schemeClr val="dk1"/>
              </a:solidFill>
            </a:endParaRPr>
          </a:p>
          <a:p>
            <a:pPr marL="0" lvl="0" indent="0" algn="l" rtl="0">
              <a:spcBef>
                <a:spcPts val="1600"/>
              </a:spcBef>
              <a:spcAft>
                <a:spcPts val="0"/>
              </a:spcAft>
              <a:buNone/>
            </a:pPr>
            <a:r>
              <a:rPr lang="en-GB">
                <a:solidFill>
                  <a:schemeClr val="dk1"/>
                </a:solidFill>
              </a:rPr>
              <a:t>There are four attributes involved:</a:t>
            </a:r>
            <a:endParaRPr>
              <a:solidFill>
                <a:schemeClr val="dk1"/>
              </a:solidFill>
            </a:endParaRPr>
          </a:p>
          <a:p>
            <a:pPr marL="457200" lvl="0" indent="-342900" algn="l" rtl="0">
              <a:spcBef>
                <a:spcPts val="1600"/>
              </a:spcBef>
              <a:spcAft>
                <a:spcPts val="0"/>
              </a:spcAft>
              <a:buClr>
                <a:schemeClr val="dk1"/>
              </a:buClr>
              <a:buSzPts val="1800"/>
              <a:buChar char="●"/>
            </a:pPr>
            <a:r>
              <a:rPr lang="en-GB">
                <a:solidFill>
                  <a:schemeClr val="dk1"/>
                </a:solidFill>
              </a:rPr>
              <a:t>Outlook</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Temperature</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Humidity</a:t>
            </a:r>
            <a:endParaRPr>
              <a:solidFill>
                <a:schemeClr val="dk1"/>
              </a:solidFill>
            </a:endParaRPr>
          </a:p>
          <a:p>
            <a:pPr marL="457200" lvl="0" indent="-342900" algn="l" rtl="0">
              <a:spcBef>
                <a:spcPts val="0"/>
              </a:spcBef>
              <a:spcAft>
                <a:spcPts val="0"/>
              </a:spcAft>
              <a:buClr>
                <a:schemeClr val="dk1"/>
              </a:buClr>
              <a:buSzPts val="1800"/>
              <a:buChar char="●"/>
            </a:pPr>
            <a:r>
              <a:rPr lang="en-GB">
                <a:solidFill>
                  <a:schemeClr val="dk1"/>
                </a:solidFill>
              </a:rPr>
              <a:t>Wind</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title"/>
          </p:nvPr>
        </p:nvSpPr>
        <p:spPr>
          <a:xfrm>
            <a:off x="0" y="1361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Decision Trees</a:t>
            </a:r>
            <a:endParaRPr b="1"/>
          </a:p>
        </p:txBody>
      </p:sp>
      <p:sp>
        <p:nvSpPr>
          <p:cNvPr id="147" name="Google Shape;147;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48" name="Google Shape;148;p27"/>
          <p:cNvPicPr preferRelativeResize="0"/>
          <p:nvPr/>
        </p:nvPicPr>
        <p:blipFill>
          <a:blip r:embed="rId3">
            <a:alphaModFix/>
          </a:blip>
          <a:stretch>
            <a:fillRect/>
          </a:stretch>
        </p:blipFill>
        <p:spPr>
          <a:xfrm>
            <a:off x="2640950" y="404850"/>
            <a:ext cx="6503050" cy="4604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p28"/>
          <p:cNvSpPr txBox="1">
            <a:spLocks noGrp="1"/>
          </p:cNvSpPr>
          <p:nvPr>
            <p:ph type="body" idx="1"/>
          </p:nvPr>
        </p:nvSpPr>
        <p:spPr>
          <a:xfrm>
            <a:off x="311700" y="1152475"/>
            <a:ext cx="3368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a:solidFill>
                  <a:schemeClr val="dk1"/>
                </a:solidFill>
              </a:rPr>
              <a:t>There are 14 data records but the decision making paths is just 5.</a:t>
            </a:r>
            <a:endParaRPr>
              <a:solidFill>
                <a:schemeClr val="dk1"/>
              </a:solidFill>
            </a:endParaRPr>
          </a:p>
        </p:txBody>
      </p:sp>
      <p:pic>
        <p:nvPicPr>
          <p:cNvPr id="155" name="Google Shape;155;p28"/>
          <p:cNvPicPr preferRelativeResize="0"/>
          <p:nvPr/>
        </p:nvPicPr>
        <p:blipFill>
          <a:blip r:embed="rId3">
            <a:alphaModFix/>
          </a:blip>
          <a:stretch>
            <a:fillRect/>
          </a:stretch>
        </p:blipFill>
        <p:spPr>
          <a:xfrm>
            <a:off x="3621927" y="288063"/>
            <a:ext cx="5522075" cy="4782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Tennis Model</a:t>
            </a:r>
            <a:endParaRPr/>
          </a:p>
        </p:txBody>
      </p:sp>
      <p:sp>
        <p:nvSpPr>
          <p:cNvPr id="161" name="Google Shape;161;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u="sng">
                <a:solidFill>
                  <a:schemeClr val="hlink"/>
                </a:solidFill>
                <a:hlinkClick r:id="rId3"/>
              </a:rPr>
              <a:t>https://replit.com/@suzannelinnane/TennisModel#main.py</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Picking a useful model</a:t>
            </a:r>
            <a:endParaRPr b="1"/>
          </a:p>
        </p:txBody>
      </p:sp>
      <p:sp>
        <p:nvSpPr>
          <p:cNvPr id="167" name="Google Shape;167;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It should be: </a:t>
            </a:r>
            <a:endParaRPr>
              <a:solidFill>
                <a:schemeClr val="dk1"/>
              </a:solidFill>
            </a:endParaRPr>
          </a:p>
          <a:p>
            <a:pPr marL="0" lvl="0" indent="0" algn="l" rtl="0">
              <a:spcBef>
                <a:spcPts val="1600"/>
              </a:spcBef>
              <a:spcAft>
                <a:spcPts val="0"/>
              </a:spcAft>
              <a:buNone/>
            </a:pPr>
            <a:r>
              <a:rPr lang="en-GB">
                <a:solidFill>
                  <a:schemeClr val="dk1"/>
                </a:solidFill>
              </a:rPr>
              <a:t>Messy </a:t>
            </a:r>
            <a:endParaRPr>
              <a:solidFill>
                <a:schemeClr val="dk1"/>
              </a:solidFill>
            </a:endParaRPr>
          </a:p>
          <a:p>
            <a:pPr marL="0" lvl="0" indent="0" algn="l" rtl="0">
              <a:spcBef>
                <a:spcPts val="1600"/>
              </a:spcBef>
              <a:spcAft>
                <a:spcPts val="0"/>
              </a:spcAft>
              <a:buNone/>
            </a:pPr>
            <a:r>
              <a:rPr lang="en-GB">
                <a:solidFill>
                  <a:schemeClr val="dk1"/>
                </a:solidFill>
              </a:rPr>
              <a:t>Real-life </a:t>
            </a:r>
            <a:endParaRPr>
              <a:solidFill>
                <a:schemeClr val="dk1"/>
              </a:solidFill>
            </a:endParaRPr>
          </a:p>
          <a:p>
            <a:pPr marL="0" lvl="0" indent="0" algn="l" rtl="0">
              <a:spcBef>
                <a:spcPts val="1600"/>
              </a:spcBef>
              <a:spcAft>
                <a:spcPts val="0"/>
              </a:spcAft>
              <a:buNone/>
            </a:pPr>
            <a:r>
              <a:rPr lang="en-GB">
                <a:solidFill>
                  <a:schemeClr val="dk1"/>
                </a:solidFill>
              </a:rPr>
              <a:t>Not easily solved otherwise </a:t>
            </a:r>
            <a:endParaRPr>
              <a:solidFill>
                <a:schemeClr val="dk1"/>
              </a:solidFill>
            </a:endParaRPr>
          </a:p>
          <a:p>
            <a:pPr marL="0" lvl="0" indent="0" algn="l" rtl="0">
              <a:spcBef>
                <a:spcPts val="1600"/>
              </a:spcBef>
              <a:spcAft>
                <a:spcPts val="0"/>
              </a:spcAft>
              <a:buNone/>
            </a:pPr>
            <a:r>
              <a:rPr lang="en-GB">
                <a:solidFill>
                  <a:schemeClr val="dk1"/>
                </a:solidFill>
              </a:rPr>
              <a:t>In the future – difficult to predict / forecast </a:t>
            </a:r>
            <a:endParaRPr>
              <a:solidFill>
                <a:schemeClr val="dk1"/>
              </a:solidFill>
            </a:endParaRPr>
          </a:p>
          <a:p>
            <a:pPr marL="0" lvl="0" indent="0" algn="l" rtl="0">
              <a:spcBef>
                <a:spcPts val="1600"/>
              </a:spcBef>
              <a:spcAft>
                <a:spcPts val="0"/>
              </a:spcAft>
              <a:buNone/>
            </a:pPr>
            <a:r>
              <a:rPr lang="en-GB">
                <a:solidFill>
                  <a:schemeClr val="dk1"/>
                </a:solidFill>
              </a:rPr>
              <a:t>Involve assumptions </a:t>
            </a:r>
            <a:endParaRPr>
              <a:solidFill>
                <a:schemeClr val="dk1"/>
              </a:solidFill>
            </a:endParaRPr>
          </a:p>
          <a:p>
            <a:pPr marL="0" lvl="0" indent="0" algn="l" rtl="0">
              <a:spcBef>
                <a:spcPts val="1600"/>
              </a:spcBef>
              <a:spcAft>
                <a:spcPts val="1600"/>
              </a:spcAft>
              <a:buNone/>
            </a:pPr>
            <a:r>
              <a:rPr lang="en-GB">
                <a:solidFill>
                  <a:schemeClr val="dk1"/>
                </a:solidFill>
              </a:rPr>
              <a:t>Difficult to predict Involve probabilities / random</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Application/Areas</a:t>
            </a:r>
            <a:endParaRPr b="1"/>
          </a:p>
        </p:txBody>
      </p:sp>
      <p:sp>
        <p:nvSpPr>
          <p:cNvPr id="173" name="Google Shape;17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74" name="Google Shape;174;p31"/>
          <p:cNvPicPr preferRelativeResize="0"/>
          <p:nvPr/>
        </p:nvPicPr>
        <p:blipFill>
          <a:blip r:embed="rId3">
            <a:alphaModFix/>
          </a:blip>
          <a:stretch>
            <a:fillRect/>
          </a:stretch>
        </p:blipFill>
        <p:spPr>
          <a:xfrm>
            <a:off x="311700" y="1152475"/>
            <a:ext cx="5696975" cy="3750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What is modelling and simulation</a:t>
            </a:r>
            <a:endParaRPr>
              <a:solidFill>
                <a:srgbClr val="000000"/>
              </a:solidFill>
            </a:endParaRPr>
          </a:p>
          <a:p>
            <a:pPr marL="0" lvl="0" indent="0" algn="l" rtl="0">
              <a:spcBef>
                <a:spcPts val="1600"/>
              </a:spcBef>
              <a:spcAft>
                <a:spcPts val="0"/>
              </a:spcAft>
              <a:buNone/>
            </a:pPr>
            <a:r>
              <a:rPr lang="en-GB" sz="1100" u="sng">
                <a:solidFill>
                  <a:schemeClr val="hlink"/>
                </a:solidFill>
                <a:hlinkClick r:id="rId3"/>
              </a:rPr>
              <a:t>https://www.youtube.com/watch?v=X-6zxImekOE</a:t>
            </a:r>
            <a:endParaRPr/>
          </a:p>
          <a:p>
            <a:pPr marL="0" lvl="0" indent="0" algn="l" rtl="0">
              <a:spcBef>
                <a:spcPts val="1600"/>
              </a:spcBef>
              <a:spcAft>
                <a:spcPts val="0"/>
              </a:spcAft>
              <a:buNone/>
            </a:pPr>
            <a:endParaRPr/>
          </a:p>
          <a:p>
            <a:pPr marL="0" lvl="0" indent="0" algn="l" rtl="0">
              <a:spcBef>
                <a:spcPts val="1600"/>
              </a:spcBef>
              <a:spcAft>
                <a:spcPts val="0"/>
              </a:spcAft>
              <a:buNone/>
            </a:pPr>
            <a:r>
              <a:rPr lang="en-GB">
                <a:solidFill>
                  <a:srgbClr val="000000"/>
                </a:solidFill>
              </a:rPr>
              <a:t>Music Video Maths</a:t>
            </a:r>
            <a:endParaRPr>
              <a:solidFill>
                <a:srgbClr val="000000"/>
              </a:solidFill>
            </a:endParaRPr>
          </a:p>
          <a:p>
            <a:pPr marL="0" lvl="0" indent="0" algn="l" rtl="0">
              <a:spcBef>
                <a:spcPts val="1600"/>
              </a:spcBef>
              <a:spcAft>
                <a:spcPts val="0"/>
              </a:spcAft>
              <a:buNone/>
            </a:pPr>
            <a:r>
              <a:rPr lang="en-GB" sz="1100" u="sng">
                <a:solidFill>
                  <a:schemeClr val="hlink"/>
                </a:solidFill>
                <a:hlinkClick r:id="rId4"/>
              </a:rPr>
              <a:t>https://www.youtube.com/watch?v=DvElCxbimxc</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Agent Based Modeling (ABM)</a:t>
            </a:r>
            <a:endParaRPr b="1"/>
          </a:p>
        </p:txBody>
      </p:sp>
      <p:sp>
        <p:nvSpPr>
          <p:cNvPr id="186" name="Google Shape;186;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Agent Based Modeling is a powerful simulation modeling technique.</a:t>
            </a:r>
            <a:endParaRPr>
              <a:solidFill>
                <a:srgbClr val="000000"/>
              </a:solidFill>
            </a:endParaRPr>
          </a:p>
          <a:p>
            <a:pPr marL="0" lvl="0" indent="0" algn="l" rtl="0">
              <a:spcBef>
                <a:spcPts val="1600"/>
              </a:spcBef>
              <a:spcAft>
                <a:spcPts val="0"/>
              </a:spcAft>
              <a:buNone/>
            </a:pPr>
            <a:r>
              <a:rPr lang="en-GB">
                <a:solidFill>
                  <a:srgbClr val="000000"/>
                </a:solidFill>
              </a:rPr>
              <a:t>ABM simulates the behaviour of a complex system in which agents interact with each other and with their environment using simple local rules.</a:t>
            </a:r>
            <a:endParaRPr>
              <a:solidFill>
                <a:srgbClr val="000000"/>
              </a:solidFill>
            </a:endParaRPr>
          </a:p>
          <a:p>
            <a:pPr marL="0" lvl="0" indent="0" algn="l" rtl="0">
              <a:spcBef>
                <a:spcPts val="1600"/>
              </a:spcBef>
              <a:spcAft>
                <a:spcPts val="0"/>
              </a:spcAft>
              <a:buNone/>
            </a:pPr>
            <a:r>
              <a:rPr lang="en-GB">
                <a:solidFill>
                  <a:srgbClr val="000000"/>
                </a:solidFill>
              </a:rPr>
              <a:t>This approach has been used in the following:</a:t>
            </a:r>
            <a:endParaRPr>
              <a:solidFill>
                <a:srgbClr val="000000"/>
              </a:solidFill>
            </a:endParaRPr>
          </a:p>
          <a:p>
            <a:pPr marL="457200" lvl="0" indent="-342900" algn="l" rtl="0">
              <a:spcBef>
                <a:spcPts val="1600"/>
              </a:spcBef>
              <a:spcAft>
                <a:spcPts val="0"/>
              </a:spcAft>
              <a:buClr>
                <a:srgbClr val="000000"/>
              </a:buClr>
              <a:buSzPts val="1800"/>
              <a:buChar char="●"/>
            </a:pPr>
            <a:r>
              <a:rPr lang="en-GB">
                <a:solidFill>
                  <a:srgbClr val="000000"/>
                </a:solidFill>
              </a:rPr>
              <a:t>predicting traffic flow in cities</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analysing and predicting the spread of infectious diseases</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predicting behaviour of economic systems.</a:t>
            </a:r>
            <a:endParaRPr>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rgbClr val="000000"/>
                </a:solidFill>
              </a:rPr>
              <a:t>Agent Based Modeling</a:t>
            </a:r>
            <a:endParaRPr b="1">
              <a:solidFill>
                <a:srgbClr val="000000"/>
              </a:solidFill>
            </a:endParaRPr>
          </a:p>
        </p:txBody>
      </p:sp>
      <p:sp>
        <p:nvSpPr>
          <p:cNvPr id="192" name="Google Shape;192;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Agent Based Modelling involves building models to simulate the actions and interactions of individual “agents” within an environment.</a:t>
            </a:r>
            <a:endParaRPr>
              <a:solidFill>
                <a:srgbClr val="000000"/>
              </a:solidFill>
            </a:endParaRPr>
          </a:p>
          <a:p>
            <a:pPr marL="0" lvl="0" indent="0" algn="l" rtl="0">
              <a:spcBef>
                <a:spcPts val="1600"/>
              </a:spcBef>
              <a:spcAft>
                <a:spcPts val="0"/>
              </a:spcAft>
              <a:buNone/>
            </a:pPr>
            <a:r>
              <a:rPr lang="en-GB">
                <a:solidFill>
                  <a:srgbClr val="000000"/>
                </a:solidFill>
              </a:rPr>
              <a:t>These agents are are independent of each other and the environment.</a:t>
            </a:r>
            <a:endParaRPr>
              <a:solidFill>
                <a:srgbClr val="000000"/>
              </a:solidFill>
            </a:endParaRPr>
          </a:p>
          <a:p>
            <a:pPr marL="0" lvl="0" indent="0" algn="l" rtl="0">
              <a:spcBef>
                <a:spcPts val="1600"/>
              </a:spcBef>
              <a:spcAft>
                <a:spcPts val="0"/>
              </a:spcAft>
              <a:buNone/>
            </a:pPr>
            <a:r>
              <a:rPr lang="en-GB">
                <a:solidFill>
                  <a:srgbClr val="000000"/>
                </a:solidFill>
              </a:rPr>
              <a:t>ABM allows us to simulate the behaviour of the agents to investigate how specific attributes of an agent may affect other agents or the environment as a whole.</a:t>
            </a:r>
            <a:endParaRPr>
              <a:solidFill>
                <a:srgbClr val="000000"/>
              </a:solidFill>
            </a:endParaRPr>
          </a:p>
          <a:p>
            <a:pPr marL="0" lvl="0" indent="0" algn="l" rtl="0">
              <a:spcBef>
                <a:spcPts val="1600"/>
              </a:spcBef>
              <a:spcAft>
                <a:spcPts val="1600"/>
              </a:spcAft>
              <a:buNone/>
            </a:pPr>
            <a:r>
              <a:rPr lang="en-GB">
                <a:solidFill>
                  <a:srgbClr val="000000"/>
                </a:solidFill>
              </a:rPr>
              <a:t>Even a simple ABM can exhibit complex behavior patterns and provide valuable information about the dynamics of the real world system that it emulates.</a:t>
            </a:r>
            <a:endParaRPr>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Example: Supermarket</a:t>
            </a:r>
            <a:endParaRPr/>
          </a:p>
        </p:txBody>
      </p:sp>
      <p:sp>
        <p:nvSpPr>
          <p:cNvPr id="198" name="Google Shape;198;p35"/>
          <p:cNvSpPr txBox="1">
            <a:spLocks noGrp="1"/>
          </p:cNvSpPr>
          <p:nvPr>
            <p:ph type="body" idx="1"/>
          </p:nvPr>
        </p:nvSpPr>
        <p:spPr>
          <a:xfrm>
            <a:off x="6520725" y="1152475"/>
            <a:ext cx="23115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Agents:</a:t>
            </a:r>
            <a:endParaRPr>
              <a:solidFill>
                <a:srgbClr val="000000"/>
              </a:solidFill>
            </a:endParaRPr>
          </a:p>
          <a:p>
            <a:pPr marL="0" lvl="0" indent="0" algn="l" rtl="0">
              <a:spcBef>
                <a:spcPts val="1600"/>
              </a:spcBef>
              <a:spcAft>
                <a:spcPts val="0"/>
              </a:spcAft>
              <a:buNone/>
            </a:pPr>
            <a:r>
              <a:rPr lang="en-GB">
                <a:solidFill>
                  <a:srgbClr val="000000"/>
                </a:solidFill>
              </a:rPr>
              <a:t>Shoppers</a:t>
            </a:r>
            <a:endParaRPr>
              <a:solidFill>
                <a:srgbClr val="000000"/>
              </a:solidFill>
            </a:endParaRPr>
          </a:p>
          <a:p>
            <a:pPr marL="0" lvl="0" indent="0" algn="l" rtl="0">
              <a:spcBef>
                <a:spcPts val="1600"/>
              </a:spcBef>
              <a:spcAft>
                <a:spcPts val="0"/>
              </a:spcAft>
              <a:buNone/>
            </a:pPr>
            <a:r>
              <a:rPr lang="en-GB">
                <a:solidFill>
                  <a:srgbClr val="000000"/>
                </a:solidFill>
              </a:rPr>
              <a:t>Staff</a:t>
            </a:r>
            <a:endParaRPr>
              <a:solidFill>
                <a:srgbClr val="000000"/>
              </a:solidFill>
            </a:endParaRPr>
          </a:p>
          <a:p>
            <a:pPr marL="0" lvl="0" indent="0" algn="l" rtl="0">
              <a:spcBef>
                <a:spcPts val="1600"/>
              </a:spcBef>
              <a:spcAft>
                <a:spcPts val="0"/>
              </a:spcAft>
              <a:buNone/>
            </a:pPr>
            <a:r>
              <a:rPr lang="en-GB">
                <a:solidFill>
                  <a:srgbClr val="000000"/>
                </a:solidFill>
              </a:rPr>
              <a:t>Stock</a:t>
            </a:r>
            <a:endParaRPr>
              <a:solidFill>
                <a:srgbClr val="000000"/>
              </a:solidFill>
            </a:endParaRPr>
          </a:p>
          <a:p>
            <a:pPr marL="0" lvl="0" indent="0" algn="l" rtl="0">
              <a:spcBef>
                <a:spcPts val="1600"/>
              </a:spcBef>
              <a:spcAft>
                <a:spcPts val="0"/>
              </a:spcAft>
              <a:buNone/>
            </a:pPr>
            <a:r>
              <a:rPr lang="en-GB">
                <a:solidFill>
                  <a:srgbClr val="000000"/>
                </a:solidFill>
              </a:rPr>
              <a:t>Suppliers</a:t>
            </a:r>
            <a:endParaRPr>
              <a:solidFill>
                <a:srgbClr val="000000"/>
              </a:solidFill>
            </a:endParaRPr>
          </a:p>
          <a:p>
            <a:pPr marL="0" lvl="0" indent="0" algn="l" rtl="0">
              <a:spcBef>
                <a:spcPts val="1600"/>
              </a:spcBef>
              <a:spcAft>
                <a:spcPts val="0"/>
              </a:spcAft>
              <a:buNone/>
            </a:pPr>
            <a:r>
              <a:rPr lang="en-GB">
                <a:solidFill>
                  <a:srgbClr val="000000"/>
                </a:solidFill>
              </a:rPr>
              <a:t>Checkouts</a:t>
            </a:r>
            <a:endParaRPr>
              <a:solidFill>
                <a:srgbClr val="000000"/>
              </a:solidFill>
            </a:endParaRPr>
          </a:p>
          <a:p>
            <a:pPr marL="0" lvl="0" indent="0" algn="l" rtl="0">
              <a:spcBef>
                <a:spcPts val="1600"/>
              </a:spcBef>
              <a:spcAft>
                <a:spcPts val="1600"/>
              </a:spcAft>
              <a:buNone/>
            </a:pPr>
            <a:r>
              <a:rPr lang="en-GB">
                <a:solidFill>
                  <a:srgbClr val="000000"/>
                </a:solidFill>
              </a:rPr>
              <a:t>Shelves</a:t>
            </a:r>
            <a:endParaRPr>
              <a:solidFill>
                <a:srgbClr val="000000"/>
              </a:solidFill>
            </a:endParaRPr>
          </a:p>
        </p:txBody>
      </p:sp>
      <p:pic>
        <p:nvPicPr>
          <p:cNvPr id="199" name="Google Shape;199;p35"/>
          <p:cNvPicPr preferRelativeResize="0"/>
          <p:nvPr/>
        </p:nvPicPr>
        <p:blipFill>
          <a:blip r:embed="rId3">
            <a:alphaModFix/>
          </a:blip>
          <a:stretch>
            <a:fillRect/>
          </a:stretch>
        </p:blipFill>
        <p:spPr>
          <a:xfrm>
            <a:off x="311698" y="1017725"/>
            <a:ext cx="5911399" cy="41354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Example: Ant movement pattern</a:t>
            </a:r>
            <a:endParaRPr/>
          </a:p>
        </p:txBody>
      </p:sp>
      <p:sp>
        <p:nvSpPr>
          <p:cNvPr id="205" name="Google Shape;205;p36"/>
          <p:cNvSpPr txBox="1">
            <a:spLocks noGrp="1"/>
          </p:cNvSpPr>
          <p:nvPr>
            <p:ph type="body" idx="1"/>
          </p:nvPr>
        </p:nvSpPr>
        <p:spPr>
          <a:xfrm>
            <a:off x="311700" y="1163850"/>
            <a:ext cx="8520600" cy="38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0"/>
              </a:spcAft>
              <a:buNone/>
            </a:pPr>
            <a:endParaRPr>
              <a:solidFill>
                <a:srgbClr val="000000"/>
              </a:solidFill>
            </a:endParaRPr>
          </a:p>
          <a:p>
            <a:pPr marL="0" lvl="0" indent="0" algn="l" rtl="0">
              <a:spcBef>
                <a:spcPts val="1600"/>
              </a:spcBef>
              <a:spcAft>
                <a:spcPts val="1600"/>
              </a:spcAft>
              <a:buNone/>
            </a:pPr>
            <a:r>
              <a:rPr lang="en-GB">
                <a:solidFill>
                  <a:srgbClr val="000000"/>
                </a:solidFill>
              </a:rPr>
              <a:t>https://www.media.mit.edu/projects/ant-based-modeling/overview/</a:t>
            </a:r>
            <a:endParaRPr>
              <a:solidFill>
                <a:srgbClr val="000000"/>
              </a:solidFill>
            </a:endParaRPr>
          </a:p>
        </p:txBody>
      </p:sp>
      <p:pic>
        <p:nvPicPr>
          <p:cNvPr id="206" name="Google Shape;206;p36" descr="Ant-Based Modeling explores the possibility of implementing agent-based modeling with living ants and external stimuli such as electromagnetic radiations, magnetic fields, and electric fields. In an experiment with fire ants, we discovered that ultraviolet and infrared lights can affect their behavior in the form of attraction and dispersion towards the light, respectively. The video highlights some of the LEGO- made landscapes we use in our explorations and how the behavior of ants can be influenced by ultraviolet light to achieve certain purposes such as exploring a new area or dragging a ping pong ball to a specific location. These experiments have allowed us to learn more about ants and have inspired us to explore novel forms of human-ant interaction." title="Ant-Based Modeling: Agent-Based City Simulation with Ants">
            <a:hlinkClick r:id="rId3"/>
          </p:cNvPr>
          <p:cNvPicPr preferRelativeResize="0"/>
          <p:nvPr/>
        </p:nvPicPr>
        <p:blipFill>
          <a:blip r:embed="rId4">
            <a:alphaModFix/>
          </a:blip>
          <a:stretch>
            <a:fillRect/>
          </a:stretch>
        </p:blipFill>
        <p:spPr>
          <a:xfrm>
            <a:off x="2125700" y="1231325"/>
            <a:ext cx="4572000" cy="342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t>Example: Ant movement pattern</a:t>
            </a:r>
            <a:endParaRPr/>
          </a:p>
          <a:p>
            <a:pPr marL="0" lvl="0" indent="0" algn="l" rtl="0">
              <a:spcBef>
                <a:spcPts val="0"/>
              </a:spcBef>
              <a:spcAft>
                <a:spcPts val="0"/>
              </a:spcAft>
              <a:buNone/>
            </a:pPr>
            <a:endParaRPr/>
          </a:p>
        </p:txBody>
      </p:sp>
      <p:sp>
        <p:nvSpPr>
          <p:cNvPr id="212" name="Google Shape;212;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Each ant is an individual agent.  The actions that can be taken by the ant are:</a:t>
            </a:r>
            <a:endParaRPr>
              <a:solidFill>
                <a:srgbClr val="000000"/>
              </a:solidFill>
            </a:endParaRPr>
          </a:p>
          <a:p>
            <a:pPr marL="457200" lvl="0" indent="-342900" algn="l" rtl="0">
              <a:spcBef>
                <a:spcPts val="1600"/>
              </a:spcBef>
              <a:spcAft>
                <a:spcPts val="0"/>
              </a:spcAft>
              <a:buClr>
                <a:srgbClr val="000000"/>
              </a:buClr>
              <a:buSzPts val="1800"/>
              <a:buChar char="●"/>
            </a:pPr>
            <a:r>
              <a:rPr lang="en-GB">
                <a:solidFill>
                  <a:srgbClr val="000000"/>
                </a:solidFill>
              </a:rPr>
              <a:t>Find food and eat</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Go to work</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Move with other ants</a:t>
            </a:r>
            <a:endParaRPr>
              <a:solidFill>
                <a:srgbClr val="000000"/>
              </a:solidFill>
            </a:endParaRPr>
          </a:p>
          <a:p>
            <a:pPr marL="0" lvl="0" indent="0" algn="l" rtl="0">
              <a:spcBef>
                <a:spcPts val="1600"/>
              </a:spcBef>
              <a:spcAft>
                <a:spcPts val="0"/>
              </a:spcAft>
              <a:buNone/>
            </a:pPr>
            <a:r>
              <a:rPr lang="en-GB">
                <a:solidFill>
                  <a:srgbClr val="000000"/>
                </a:solidFill>
              </a:rPr>
              <a:t>The rules might be:</a:t>
            </a:r>
            <a:endParaRPr>
              <a:solidFill>
                <a:srgbClr val="000000"/>
              </a:solidFill>
            </a:endParaRPr>
          </a:p>
          <a:p>
            <a:pPr marL="457200" lvl="0" indent="-342900" algn="l" rtl="0">
              <a:spcBef>
                <a:spcPts val="1600"/>
              </a:spcBef>
              <a:spcAft>
                <a:spcPts val="0"/>
              </a:spcAft>
              <a:buClr>
                <a:srgbClr val="000000"/>
              </a:buClr>
              <a:buSzPts val="1800"/>
              <a:buChar char="●"/>
            </a:pPr>
            <a:r>
              <a:rPr lang="en-GB">
                <a:solidFill>
                  <a:srgbClr val="000000"/>
                </a:solidFill>
              </a:rPr>
              <a:t>If the ant is hungry then the ABM will get the ant to find food</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If the ant is not hungry and there is work to be done then the ant will go to work</a:t>
            </a:r>
            <a:endParaRPr>
              <a:solidFill>
                <a:srgbClr val="000000"/>
              </a:solidFill>
            </a:endParaRPr>
          </a:p>
          <a:p>
            <a:pPr marL="457200" lvl="0" indent="-342900" algn="l" rtl="0">
              <a:spcBef>
                <a:spcPts val="0"/>
              </a:spcBef>
              <a:spcAft>
                <a:spcPts val="0"/>
              </a:spcAft>
              <a:buClr>
                <a:srgbClr val="000000"/>
              </a:buClr>
              <a:buSzPts val="1800"/>
              <a:buChar char="●"/>
            </a:pPr>
            <a:r>
              <a:rPr lang="en-GB">
                <a:solidFill>
                  <a:srgbClr val="000000"/>
                </a:solidFill>
              </a:rPr>
              <a:t>If there is no work to do and the ant is not hungry it will join another group of ants and walk around</a:t>
            </a:r>
            <a:endParaRPr>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a:t>Example: Ant movement pattern</a:t>
            </a:r>
            <a:endParaRPr/>
          </a:p>
          <a:p>
            <a:pPr marL="0" lvl="0" indent="0" algn="l" rtl="0">
              <a:spcBef>
                <a:spcPts val="0"/>
              </a:spcBef>
              <a:spcAft>
                <a:spcPts val="0"/>
              </a:spcAft>
              <a:buNone/>
            </a:pPr>
            <a:endParaRPr/>
          </a:p>
        </p:txBody>
      </p:sp>
      <p:sp>
        <p:nvSpPr>
          <p:cNvPr id="218" name="Google Shape;218;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The starting conditions for the environment could be set, or generated at random.</a:t>
            </a:r>
            <a:endParaRPr>
              <a:solidFill>
                <a:srgbClr val="000000"/>
              </a:solidFill>
            </a:endParaRPr>
          </a:p>
          <a:p>
            <a:pPr marL="0" lvl="0" indent="0" algn="l" rtl="0">
              <a:spcBef>
                <a:spcPts val="1600"/>
              </a:spcBef>
              <a:spcAft>
                <a:spcPts val="0"/>
              </a:spcAft>
              <a:buNone/>
            </a:pPr>
            <a:r>
              <a:rPr lang="en-GB">
                <a:solidFill>
                  <a:srgbClr val="000000"/>
                </a:solidFill>
              </a:rPr>
              <a:t>Example:</a:t>
            </a:r>
            <a:endParaRPr>
              <a:solidFill>
                <a:srgbClr val="000000"/>
              </a:solidFill>
            </a:endParaRPr>
          </a:p>
          <a:p>
            <a:pPr marL="0" lvl="0" indent="0" algn="l" rtl="0">
              <a:spcBef>
                <a:spcPts val="1600"/>
              </a:spcBef>
              <a:spcAft>
                <a:spcPts val="0"/>
              </a:spcAft>
              <a:buNone/>
            </a:pPr>
            <a:r>
              <a:rPr lang="en-GB">
                <a:solidFill>
                  <a:srgbClr val="000000"/>
                </a:solidFill>
              </a:rPr>
              <a:t>If there is plenty of food close to an ant, it won’t take long to find food so the ant can spend more time working.</a:t>
            </a:r>
            <a:endParaRPr>
              <a:solidFill>
                <a:srgbClr val="000000"/>
              </a:solidFill>
            </a:endParaRPr>
          </a:p>
          <a:p>
            <a:pPr marL="0" lvl="0" indent="0" algn="l" rtl="0">
              <a:spcBef>
                <a:spcPts val="1600"/>
              </a:spcBef>
              <a:spcAft>
                <a:spcPts val="1600"/>
              </a:spcAft>
              <a:buNone/>
            </a:pPr>
            <a:r>
              <a:rPr lang="en-GB">
                <a:solidFill>
                  <a:srgbClr val="000000"/>
                </a:solidFill>
              </a:rPr>
              <a:t>This could be used to simulate an environment when food is plentiful and widely distributed.  It could be compared to the productivity when food is scarce and concentrated in one location.</a:t>
            </a:r>
            <a:endParaRPr>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Benefits of Agent Based Modelling</a:t>
            </a:r>
            <a:endParaRPr b="1"/>
          </a:p>
        </p:txBody>
      </p:sp>
      <p:sp>
        <p:nvSpPr>
          <p:cNvPr id="224" name="Google Shape;224;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ABM can help to describe complex environments by applying a simple set of rules to each individual’s behaviour.</a:t>
            </a:r>
            <a:endParaRPr>
              <a:solidFill>
                <a:srgbClr val="000000"/>
              </a:solidFill>
            </a:endParaRPr>
          </a:p>
          <a:p>
            <a:pPr marL="0" lvl="0" indent="0" algn="l" rtl="0">
              <a:spcBef>
                <a:spcPts val="1600"/>
              </a:spcBef>
              <a:spcAft>
                <a:spcPts val="0"/>
              </a:spcAft>
              <a:buNone/>
            </a:pPr>
            <a:r>
              <a:rPr lang="en-GB">
                <a:solidFill>
                  <a:srgbClr val="000000"/>
                </a:solidFill>
              </a:rPr>
              <a:t>ABM’s can be used to test specific scenarios before they happen.  This is very valuable if the outcome may be negative.</a:t>
            </a:r>
            <a:endParaRPr>
              <a:solidFill>
                <a:srgbClr val="000000"/>
              </a:solidFill>
            </a:endParaRPr>
          </a:p>
          <a:p>
            <a:pPr marL="0" lvl="0" indent="0" algn="l" rtl="0">
              <a:spcBef>
                <a:spcPts val="1600"/>
              </a:spcBef>
              <a:spcAft>
                <a:spcPts val="1600"/>
              </a:spcAft>
              <a:buNone/>
            </a:pPr>
            <a:r>
              <a:rPr lang="en-GB">
                <a:solidFill>
                  <a:srgbClr val="000000"/>
                </a:solidFill>
              </a:rPr>
              <a:t>It is quite easy to work out a basic set of rules for an agent that can simulate real environments very well.</a:t>
            </a:r>
            <a:endParaRPr>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Emergent Behaviours</a:t>
            </a:r>
            <a:endParaRPr/>
          </a:p>
        </p:txBody>
      </p:sp>
      <p:sp>
        <p:nvSpPr>
          <p:cNvPr id="230" name="Google Shape;230;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If the agent or the environment are new, an ABM can be used for simulations to examine emergent behaviours.</a:t>
            </a:r>
            <a:endParaRPr>
              <a:solidFill>
                <a:srgbClr val="000000"/>
              </a:solidFill>
            </a:endParaRPr>
          </a:p>
          <a:p>
            <a:pPr marL="0" lvl="0" indent="0" algn="l" rtl="0">
              <a:spcBef>
                <a:spcPts val="1600"/>
              </a:spcBef>
              <a:spcAft>
                <a:spcPts val="1600"/>
              </a:spcAft>
              <a:buNone/>
            </a:pPr>
            <a:r>
              <a:rPr lang="en-GB">
                <a:solidFill>
                  <a:srgbClr val="000000"/>
                </a:solidFill>
              </a:rPr>
              <a:t>Example: model for commuters to see if there travel time would be reduced by a new road or traffic light system</a:t>
            </a:r>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Further uses of Agent Based Modelling</a:t>
            </a:r>
            <a:endParaRPr/>
          </a:p>
        </p:txBody>
      </p:sp>
      <p:sp>
        <p:nvSpPr>
          <p:cNvPr id="236" name="Google Shape;236;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rgbClr val="000000"/>
                </a:solidFill>
              </a:rPr>
              <a:t>Biology: Tumour growth, Immune Systems (cells), Ecology for food growth</a:t>
            </a:r>
            <a:endParaRPr>
              <a:solidFill>
                <a:srgbClr val="000000"/>
              </a:solidFill>
            </a:endParaRPr>
          </a:p>
          <a:p>
            <a:pPr marL="0" lvl="0" indent="0" algn="l" rtl="0">
              <a:spcBef>
                <a:spcPts val="1600"/>
              </a:spcBef>
              <a:spcAft>
                <a:spcPts val="0"/>
              </a:spcAft>
              <a:buNone/>
            </a:pPr>
            <a:r>
              <a:rPr lang="en-GB">
                <a:solidFill>
                  <a:srgbClr val="000000"/>
                </a:solidFill>
              </a:rPr>
              <a:t>Business: Supply Chains, Sales Forecasting</a:t>
            </a:r>
            <a:endParaRPr>
              <a:solidFill>
                <a:srgbClr val="000000"/>
              </a:solidFill>
            </a:endParaRPr>
          </a:p>
          <a:p>
            <a:pPr marL="0" lvl="0" indent="0" algn="l" rtl="0">
              <a:spcBef>
                <a:spcPts val="1600"/>
              </a:spcBef>
              <a:spcAft>
                <a:spcPts val="1600"/>
              </a:spcAft>
              <a:buNone/>
            </a:pPr>
            <a:r>
              <a:rPr lang="en-GB">
                <a:solidFill>
                  <a:srgbClr val="000000"/>
                </a:solidFill>
              </a:rPr>
              <a:t>Technology: Social Media usage, Logistics (truck drivers, delivery etc)</a:t>
            </a:r>
            <a:endParaRPr>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Coronavirus Spread</a:t>
            </a:r>
            <a:endParaRPr b="1"/>
          </a:p>
        </p:txBody>
      </p:sp>
      <p:sp>
        <p:nvSpPr>
          <p:cNvPr id="242" name="Google Shape;242;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u="sng">
                <a:solidFill>
                  <a:srgbClr val="1155CC"/>
                </a:solidFill>
                <a:highlight>
                  <a:srgbClr val="FFFFFF"/>
                </a:highlight>
                <a:hlinkClick r:id="rId3">
                  <a:extLst>
                    <a:ext uri="{A12FA001-AC4F-418D-AE19-62706E023703}">
                      <ahyp:hlinkClr xmlns:ahyp="http://schemas.microsoft.com/office/drawing/2018/hyperlinkcolor" val="tx"/>
                    </a:ext>
                  </a:extLst>
                </a:hlinkClick>
              </a:rPr>
              <a:t>https://english.elpais.com/society/2020-10-28/a-room-a-bar-and-a-class-how-the-coronavirus-is-spread-through-the-air.htm</a:t>
            </a:r>
            <a:endParaRPr/>
          </a:p>
          <a:p>
            <a:pPr marL="0" lvl="0" indent="0" algn="l" rtl="0">
              <a:spcBef>
                <a:spcPts val="1600"/>
              </a:spcBef>
              <a:spcAft>
                <a:spcPts val="0"/>
              </a:spcAft>
              <a:buNone/>
            </a:pPr>
            <a:endParaRPr/>
          </a:p>
          <a:p>
            <a:pPr marL="0" lvl="0" indent="0" algn="l" rtl="0">
              <a:spcBef>
                <a:spcPts val="1600"/>
              </a:spcBef>
              <a:spcAft>
                <a:spcPts val="0"/>
              </a:spcAft>
              <a:buNone/>
            </a:pPr>
            <a:r>
              <a:rPr lang="en-GB" u="sng">
                <a:solidFill>
                  <a:schemeClr val="hlink"/>
                </a:solidFill>
                <a:hlinkClick r:id="rId4"/>
              </a:rPr>
              <a:t>https://www.washingtonpost.com/graphics/2020/world/corona-simulator/</a:t>
            </a:r>
            <a:endParaRPr/>
          </a:p>
          <a:p>
            <a:pPr marL="0" lvl="0" indent="0" algn="l" rtl="0">
              <a:spcBef>
                <a:spcPts val="1600"/>
              </a:spcBef>
              <a:spcAft>
                <a:spcPts val="1600"/>
              </a:spcAft>
              <a:buNone/>
            </a:pPr>
            <a:r>
              <a:rPr lang="en-GB" sz="1200" u="sng">
                <a:solidFill>
                  <a:srgbClr val="1155CC"/>
                </a:solidFill>
                <a:highlight>
                  <a:srgbClr val="FFFFFF"/>
                </a:highlight>
                <a:hlinkClick r:id="rId3">
                  <a:extLst>
                    <a:ext uri="{A12FA001-AC4F-418D-AE19-62706E023703}">
                      <ahyp:hlinkClr xmlns:ahyp="http://schemas.microsoft.com/office/drawing/2018/hyperlinkcolor" val="tx"/>
                    </a:ext>
                  </a:extLst>
                </a:hlinkClick>
              </a:rPr>
              <a:t>l</a:t>
            </a:r>
            <a:endParaRPr sz="19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rgbClr val="000000"/>
                </a:solidFill>
              </a:rPr>
              <a:t>Bird patterns</a:t>
            </a:r>
            <a:endParaRPr b="1">
              <a:solidFill>
                <a:srgbClr val="000000"/>
              </a:solidFill>
            </a:endParaRPr>
          </a:p>
          <a:p>
            <a:pPr marL="0" lvl="0" indent="0" algn="l" rtl="0">
              <a:spcBef>
                <a:spcPts val="1600"/>
              </a:spcBef>
              <a:spcAft>
                <a:spcPts val="0"/>
              </a:spcAft>
              <a:buNone/>
            </a:pPr>
            <a:r>
              <a:rPr lang="en-GB" sz="1100" u="sng">
                <a:solidFill>
                  <a:schemeClr val="hlink"/>
                </a:solidFill>
                <a:hlinkClick r:id="rId3"/>
              </a:rPr>
              <a:t>h</a:t>
            </a:r>
            <a:r>
              <a:rPr lang="en-GB" sz="1100" u="sng">
                <a:solidFill>
                  <a:schemeClr val="hlink"/>
                </a:solidFill>
                <a:hlinkClick r:id="rId3"/>
              </a:rPr>
              <a:t>ttps://www.youtube.com/watch?v=CPHjsWSzOY0&amp;feature=youtu.be</a:t>
            </a:r>
            <a:endParaRPr/>
          </a:p>
          <a:p>
            <a:pPr marL="0" lvl="0" indent="0" algn="l" rtl="0">
              <a:spcBef>
                <a:spcPts val="1600"/>
              </a:spcBef>
              <a:spcAft>
                <a:spcPts val="0"/>
              </a:spcAft>
              <a:buNone/>
            </a:pPr>
            <a:endParaRPr/>
          </a:p>
          <a:p>
            <a:pPr marL="0" lvl="0" indent="0" algn="l" rtl="0">
              <a:spcBef>
                <a:spcPts val="1600"/>
              </a:spcBef>
              <a:spcAft>
                <a:spcPts val="0"/>
              </a:spcAft>
              <a:buClr>
                <a:schemeClr val="dk1"/>
              </a:buClr>
              <a:buSzPts val="1100"/>
              <a:buFont typeface="Arial"/>
              <a:buNone/>
            </a:pPr>
            <a:r>
              <a:rPr lang="en-GB" b="1">
                <a:solidFill>
                  <a:srgbClr val="000000"/>
                </a:solidFill>
              </a:rPr>
              <a:t>Fireflies</a:t>
            </a:r>
            <a:endParaRPr b="1">
              <a:solidFill>
                <a:srgbClr val="000000"/>
              </a:solidFill>
            </a:endParaRPr>
          </a:p>
          <a:p>
            <a:pPr marL="0" lvl="0" indent="0" algn="l" rtl="0">
              <a:spcBef>
                <a:spcPts val="1600"/>
              </a:spcBef>
              <a:spcAft>
                <a:spcPts val="0"/>
              </a:spcAft>
              <a:buClr>
                <a:schemeClr val="dk1"/>
              </a:buClr>
              <a:buSzPts val="1100"/>
              <a:buFont typeface="Arial"/>
              <a:buNone/>
            </a:pPr>
            <a:r>
              <a:rPr lang="en-GB" sz="1100" u="sng">
                <a:solidFill>
                  <a:schemeClr val="hlink"/>
                </a:solidFill>
                <a:hlinkClick r:id="rId4"/>
              </a:rPr>
              <a:t>Fireflies</a:t>
            </a:r>
            <a:endParaRPr/>
          </a:p>
          <a:p>
            <a:pPr marL="0" lvl="0" indent="0" algn="l" rtl="0">
              <a:spcBef>
                <a:spcPts val="1600"/>
              </a:spcBef>
              <a:spcAft>
                <a:spcPts val="1600"/>
              </a:spcAft>
              <a:buClr>
                <a:schemeClr val="dk1"/>
              </a:buClr>
              <a:buSzPts val="1100"/>
              <a:buFont typeface="Arial"/>
              <a:buNone/>
            </a:pPr>
            <a:r>
              <a:rPr lang="en-GB"/>
              <a:t>https://ncase.me/fireflies/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Conway’s Game of Life</a:t>
            </a:r>
            <a:endParaRPr/>
          </a:p>
        </p:txBody>
      </p:sp>
      <p:sp>
        <p:nvSpPr>
          <p:cNvPr id="254" name="Google Shape;25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https://en.wikipedia.org/wiki/Conway%27s_Game_of_Life</a:t>
            </a:r>
            <a:endParaRPr/>
          </a:p>
          <a:p>
            <a:pPr marL="0" lvl="0" indent="0" algn="l" rtl="0">
              <a:spcBef>
                <a:spcPts val="1600"/>
              </a:spcBef>
              <a:spcAft>
                <a:spcPts val="0"/>
              </a:spcAft>
              <a:buNone/>
            </a:pPr>
            <a:r>
              <a:rPr lang="en-GB" u="sng">
                <a:solidFill>
                  <a:schemeClr val="hlink"/>
                </a:solidFill>
                <a:hlinkClick r:id="rId4"/>
              </a:rPr>
              <a:t>https://playgameoflife.com/</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Pixar</a:t>
            </a:r>
            <a:endParaRPr/>
          </a:p>
        </p:txBody>
      </p:sp>
      <p:sp>
        <p:nvSpPr>
          <p:cNvPr id="260" name="Google Shape;260;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https://www.khanacademy.org/computing/pixar/simulation/hair-simulation-101/v/hair-simulation-intro</a:t>
            </a:r>
            <a:endParaRPr/>
          </a:p>
          <a:p>
            <a:pPr marL="0" lvl="0" indent="0" algn="l" rtl="0">
              <a:spcBef>
                <a:spcPts val="1600"/>
              </a:spcBef>
              <a:spcAft>
                <a:spcPts val="160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6"/>
          <p:cNvSpPr txBox="1">
            <a:spLocks noGrp="1"/>
          </p:cNvSpPr>
          <p:nvPr>
            <p:ph type="title"/>
          </p:nvPr>
        </p:nvSpPr>
        <p:spPr>
          <a:xfrm>
            <a:off x="311700" y="244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Cat and Mice</a:t>
            </a:r>
            <a:endParaRPr b="1"/>
          </a:p>
        </p:txBody>
      </p:sp>
      <p:sp>
        <p:nvSpPr>
          <p:cNvPr id="266" name="Google Shape;266;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67" name="Google Shape;267;p46"/>
          <p:cNvPicPr preferRelativeResize="0"/>
          <p:nvPr/>
        </p:nvPicPr>
        <p:blipFill>
          <a:blip r:embed="rId3">
            <a:alphaModFix/>
          </a:blip>
          <a:stretch>
            <a:fillRect/>
          </a:stretch>
        </p:blipFill>
        <p:spPr>
          <a:xfrm>
            <a:off x="0" y="909651"/>
            <a:ext cx="9144000" cy="423384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Population Model</a:t>
            </a:r>
            <a:endParaRPr b="1"/>
          </a:p>
        </p:txBody>
      </p:sp>
      <p:sp>
        <p:nvSpPr>
          <p:cNvPr id="273" name="Google Shape;273;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Prepare a model for the increase and decrease in population of a town (you pick the town name) year by year (Births / Deaths / People leaving/arriving) </a:t>
            </a:r>
            <a:endParaRPr>
              <a:solidFill>
                <a:schemeClr val="dk1"/>
              </a:solidFill>
            </a:endParaRPr>
          </a:p>
          <a:p>
            <a:pPr marL="0" lvl="0" indent="0" algn="l" rtl="0">
              <a:spcBef>
                <a:spcPts val="1600"/>
              </a:spcBef>
              <a:spcAft>
                <a:spcPts val="0"/>
              </a:spcAft>
              <a:buNone/>
            </a:pPr>
            <a:r>
              <a:rPr lang="en-GB">
                <a:solidFill>
                  <a:schemeClr val="dk1"/>
                </a:solidFill>
              </a:rPr>
              <a:t>Given the following details: </a:t>
            </a:r>
            <a:endParaRPr>
              <a:solidFill>
                <a:schemeClr val="dk1"/>
              </a:solidFill>
            </a:endParaRPr>
          </a:p>
          <a:p>
            <a:pPr marL="0" lvl="0" indent="0" algn="l" rtl="0">
              <a:spcBef>
                <a:spcPts val="0"/>
              </a:spcBef>
              <a:spcAft>
                <a:spcPts val="0"/>
              </a:spcAft>
              <a:buNone/>
            </a:pPr>
            <a:r>
              <a:rPr lang="en-GB">
                <a:solidFill>
                  <a:schemeClr val="dk1"/>
                </a:solidFill>
              </a:rPr>
              <a:t>Births: 3% of the population per year </a:t>
            </a:r>
            <a:endParaRPr>
              <a:solidFill>
                <a:schemeClr val="dk1"/>
              </a:solidFill>
            </a:endParaRPr>
          </a:p>
          <a:p>
            <a:pPr marL="0" lvl="0" indent="0" algn="l" rtl="0">
              <a:spcBef>
                <a:spcPts val="0"/>
              </a:spcBef>
              <a:spcAft>
                <a:spcPts val="0"/>
              </a:spcAft>
              <a:buNone/>
            </a:pPr>
            <a:r>
              <a:rPr lang="en-GB">
                <a:solidFill>
                  <a:schemeClr val="dk1"/>
                </a:solidFill>
              </a:rPr>
              <a:t>Deaths 2% of the population per year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GB">
                <a:solidFill>
                  <a:schemeClr val="dk1"/>
                </a:solidFill>
              </a:rPr>
              <a:t>You may extend the problem: </a:t>
            </a:r>
            <a:endParaRPr>
              <a:solidFill>
                <a:schemeClr val="dk1"/>
              </a:solidFill>
            </a:endParaRPr>
          </a:p>
          <a:p>
            <a:pPr marL="0" lvl="0" indent="0" algn="l" rtl="0">
              <a:spcBef>
                <a:spcPts val="1600"/>
              </a:spcBef>
              <a:spcAft>
                <a:spcPts val="0"/>
              </a:spcAft>
              <a:buNone/>
            </a:pPr>
            <a:r>
              <a:rPr lang="en-GB">
                <a:solidFill>
                  <a:schemeClr val="dk1"/>
                </a:solidFill>
              </a:rPr>
              <a:t>People leaving: 3 equally likely scenarios depending on Economic factors: </a:t>
            </a:r>
            <a:endParaRPr>
              <a:solidFill>
                <a:schemeClr val="dk1"/>
              </a:solidFill>
            </a:endParaRPr>
          </a:p>
          <a:p>
            <a:pPr marL="0" lvl="0" indent="0" algn="l" rtl="0">
              <a:spcBef>
                <a:spcPts val="0"/>
              </a:spcBef>
              <a:spcAft>
                <a:spcPts val="0"/>
              </a:spcAft>
              <a:buNone/>
            </a:pPr>
            <a:r>
              <a:rPr lang="en-GB">
                <a:solidFill>
                  <a:schemeClr val="dk1"/>
                </a:solidFill>
              </a:rPr>
              <a:t>1. 100 net people coming in. </a:t>
            </a:r>
            <a:endParaRPr>
              <a:solidFill>
                <a:schemeClr val="dk1"/>
              </a:solidFill>
            </a:endParaRPr>
          </a:p>
          <a:p>
            <a:pPr marL="0" lvl="0" indent="0" algn="l" rtl="0">
              <a:spcBef>
                <a:spcPts val="0"/>
              </a:spcBef>
              <a:spcAft>
                <a:spcPts val="0"/>
              </a:spcAft>
              <a:buNone/>
            </a:pPr>
            <a:r>
              <a:rPr lang="en-GB">
                <a:solidFill>
                  <a:schemeClr val="dk1"/>
                </a:solidFill>
              </a:rPr>
              <a:t>2. 50 net people coming in. </a:t>
            </a:r>
            <a:endParaRPr>
              <a:solidFill>
                <a:schemeClr val="dk1"/>
              </a:solidFill>
            </a:endParaRPr>
          </a:p>
          <a:p>
            <a:pPr marL="0" lvl="0" indent="0" algn="l" rtl="0">
              <a:spcBef>
                <a:spcPts val="0"/>
              </a:spcBef>
              <a:spcAft>
                <a:spcPts val="0"/>
              </a:spcAft>
              <a:buNone/>
            </a:pPr>
            <a:r>
              <a:rPr lang="en-GB">
                <a:solidFill>
                  <a:schemeClr val="dk1"/>
                </a:solidFill>
              </a:rPr>
              <a:t>3. 200 net people leaving.</a:t>
            </a:r>
            <a:endParaRPr>
              <a:solidFill>
                <a:schemeClr val="dk1"/>
              </a:solidFill>
            </a:endParaRPr>
          </a:p>
        </p:txBody>
      </p:sp>
      <p:sp>
        <p:nvSpPr>
          <p:cNvPr id="274" name="Google Shape;274;p47"/>
          <p:cNvSpPr txBox="1"/>
          <p:nvPr/>
        </p:nvSpPr>
        <p:spPr>
          <a:xfrm>
            <a:off x="4678600" y="1933425"/>
            <a:ext cx="3984900" cy="18471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1800" b="1"/>
              <a:t>Task:</a:t>
            </a:r>
            <a:endParaRPr sz="1800" b="1"/>
          </a:p>
          <a:p>
            <a:pPr marL="0" lvl="0" indent="0" algn="l" rtl="0">
              <a:spcBef>
                <a:spcPts val="0"/>
              </a:spcBef>
              <a:spcAft>
                <a:spcPts val="0"/>
              </a:spcAft>
              <a:buNone/>
            </a:pPr>
            <a:endParaRPr sz="1800" b="1"/>
          </a:p>
          <a:p>
            <a:pPr marL="0" lvl="0" indent="0" algn="l" rtl="0">
              <a:spcBef>
                <a:spcPts val="0"/>
              </a:spcBef>
              <a:spcAft>
                <a:spcPts val="0"/>
              </a:spcAft>
              <a:buNone/>
            </a:pPr>
            <a:r>
              <a:rPr lang="en-GB" sz="1800" b="1"/>
              <a:t>Plan/write an algorithm the solution for </a:t>
            </a:r>
            <a:endParaRPr sz="1800" b="1"/>
          </a:p>
          <a:p>
            <a:pPr marL="0" lvl="0" indent="0" algn="l" rtl="0">
              <a:spcBef>
                <a:spcPts val="0"/>
              </a:spcBef>
              <a:spcAft>
                <a:spcPts val="0"/>
              </a:spcAft>
              <a:buNone/>
            </a:pPr>
            <a:r>
              <a:rPr lang="en-GB" sz="1800" b="1"/>
              <a:t>(i) 1 year (ii) 5 years (iii) any amount of years</a:t>
            </a:r>
            <a:endParaRPr sz="1800"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Population Model - Setup</a:t>
            </a:r>
            <a:endParaRPr b="1"/>
          </a:p>
        </p:txBody>
      </p:sp>
      <p:sp>
        <p:nvSpPr>
          <p:cNvPr id="280" name="Google Shape;280;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GB" b="1"/>
              <a:t>You will need to set a starting population (up to you what it is)</a:t>
            </a:r>
            <a:endParaRPr b="1"/>
          </a:p>
          <a:p>
            <a:pPr marL="457200" lvl="0" indent="-342900" algn="l" rtl="0">
              <a:spcBef>
                <a:spcPts val="0"/>
              </a:spcBef>
              <a:spcAft>
                <a:spcPts val="0"/>
              </a:spcAft>
              <a:buSzPts val="1800"/>
              <a:buChar char="●"/>
            </a:pPr>
            <a:r>
              <a:rPr lang="en-GB" b="1"/>
              <a:t>Every year this population is increased by 3% due to births</a:t>
            </a:r>
            <a:endParaRPr b="1"/>
          </a:p>
          <a:p>
            <a:pPr marL="457200" lvl="0" indent="-342900" algn="l" rtl="0">
              <a:spcBef>
                <a:spcPts val="0"/>
              </a:spcBef>
              <a:spcAft>
                <a:spcPts val="0"/>
              </a:spcAft>
              <a:buSzPts val="1800"/>
              <a:buChar char="●"/>
            </a:pPr>
            <a:r>
              <a:rPr lang="en-GB" b="1"/>
              <a:t>Every year this population is decreased by 2% due to deaths</a:t>
            </a:r>
            <a:endParaRPr b="1"/>
          </a:p>
          <a:p>
            <a:pPr marL="457200" lvl="0" indent="-342900" algn="l" rtl="0">
              <a:spcBef>
                <a:spcPts val="0"/>
              </a:spcBef>
              <a:spcAft>
                <a:spcPts val="0"/>
              </a:spcAft>
              <a:buSzPts val="1800"/>
              <a:buChar char="●"/>
            </a:pPr>
            <a:r>
              <a:rPr lang="en-GB" b="1"/>
              <a:t>Three random scenarios also affect the population (set up a list)</a:t>
            </a:r>
            <a:endParaRPr b="1"/>
          </a:p>
          <a:p>
            <a:pPr marL="457200" lvl="0" indent="-342900" algn="l" rtl="0">
              <a:spcBef>
                <a:spcPts val="0"/>
              </a:spcBef>
              <a:spcAft>
                <a:spcPts val="0"/>
              </a:spcAft>
              <a:buSzPts val="1800"/>
              <a:buChar char="●"/>
            </a:pPr>
            <a:r>
              <a:rPr lang="en-GB" b="1"/>
              <a:t>Find the population at the end of year 1</a:t>
            </a:r>
            <a:endParaRPr b="1"/>
          </a:p>
          <a:p>
            <a:pPr marL="457200" lvl="0" indent="-342900" algn="l" rtl="0">
              <a:spcBef>
                <a:spcPts val="0"/>
              </a:spcBef>
              <a:spcAft>
                <a:spcPts val="0"/>
              </a:spcAft>
              <a:buSzPts val="1800"/>
              <a:buChar char="●"/>
            </a:pPr>
            <a:r>
              <a:rPr lang="en-GB" b="1"/>
              <a:t>The population at the end of year 1 will be the starting population at the beginning of year 2</a:t>
            </a:r>
            <a:endParaRPr b="1"/>
          </a:p>
          <a:p>
            <a:pPr marL="457200" lvl="0" indent="0" algn="l" rtl="0">
              <a:spcBef>
                <a:spcPts val="1600"/>
              </a:spcBef>
              <a:spcAft>
                <a:spcPts val="1600"/>
              </a:spcAft>
              <a:buNone/>
            </a:pPr>
            <a:endParaRPr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b="1"/>
              <a:t>Predictive Model</a:t>
            </a:r>
            <a:endParaRPr b="1"/>
          </a:p>
        </p:txBody>
      </p:sp>
      <p:sp>
        <p:nvSpPr>
          <p:cNvPr id="286" name="Google Shape;286;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87" name="Google Shape;287;p49"/>
          <p:cNvPicPr preferRelativeResize="0"/>
          <p:nvPr/>
        </p:nvPicPr>
        <p:blipFill>
          <a:blip r:embed="rId3">
            <a:alphaModFix/>
          </a:blip>
          <a:stretch>
            <a:fillRect/>
          </a:stretch>
        </p:blipFill>
        <p:spPr>
          <a:xfrm>
            <a:off x="198900" y="1079850"/>
            <a:ext cx="6154849" cy="39485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94" name="Google Shape;294;p50"/>
          <p:cNvPicPr preferRelativeResize="0"/>
          <p:nvPr/>
        </p:nvPicPr>
        <p:blipFill>
          <a:blip r:embed="rId3">
            <a:alphaModFix/>
          </a:blip>
          <a:stretch>
            <a:fillRect/>
          </a:stretch>
        </p:blipFill>
        <p:spPr>
          <a:xfrm>
            <a:off x="0" y="788117"/>
            <a:ext cx="9144001" cy="356726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301" name="Google Shape;301;p51"/>
          <p:cNvPicPr preferRelativeResize="0"/>
          <p:nvPr/>
        </p:nvPicPr>
        <p:blipFill>
          <a:blip r:embed="rId3">
            <a:alphaModFix/>
          </a:blip>
          <a:stretch>
            <a:fillRect/>
          </a:stretch>
        </p:blipFill>
        <p:spPr>
          <a:xfrm>
            <a:off x="422338" y="558675"/>
            <a:ext cx="7134225" cy="4343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Task</a:t>
            </a:r>
            <a:endParaRPr/>
          </a:p>
        </p:txBody>
      </p:sp>
      <p:sp>
        <p:nvSpPr>
          <p:cNvPr id="307" name="Google Shape;307;p5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308" name="Google Shape;308;p52"/>
          <p:cNvPicPr preferRelativeResize="0"/>
          <p:nvPr/>
        </p:nvPicPr>
        <p:blipFill>
          <a:blip r:embed="rId3">
            <a:alphaModFix/>
          </a:blip>
          <a:stretch>
            <a:fillRect/>
          </a:stretch>
        </p:blipFill>
        <p:spPr>
          <a:xfrm>
            <a:off x="5004850" y="1350600"/>
            <a:ext cx="4084649" cy="3483325"/>
          </a:xfrm>
          <a:prstGeom prst="rect">
            <a:avLst/>
          </a:prstGeom>
          <a:noFill/>
          <a:ln>
            <a:noFill/>
          </a:ln>
        </p:spPr>
      </p:pic>
      <p:pic>
        <p:nvPicPr>
          <p:cNvPr id="309" name="Google Shape;309;p52"/>
          <p:cNvPicPr preferRelativeResize="0"/>
          <p:nvPr/>
        </p:nvPicPr>
        <p:blipFill>
          <a:blip r:embed="rId4">
            <a:alphaModFix/>
          </a:blip>
          <a:stretch>
            <a:fillRect/>
          </a:stretch>
        </p:blipFill>
        <p:spPr>
          <a:xfrm>
            <a:off x="0" y="1246889"/>
            <a:ext cx="5004859" cy="34833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3"/>
          <p:cNvSpPr txBox="1">
            <a:spLocks noGrp="1"/>
          </p:cNvSpPr>
          <p:nvPr>
            <p:ph type="body" idx="1"/>
          </p:nvPr>
        </p:nvSpPr>
        <p:spPr>
          <a:xfrm>
            <a:off x="311700" y="0"/>
            <a:ext cx="8520600" cy="435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t>Create a predictive model based on the data contained in the dataset you have been assigned.</a:t>
            </a:r>
            <a:endParaRPr b="1"/>
          </a:p>
          <a:p>
            <a:pPr marL="0" lvl="0" indent="0" algn="l" rtl="0">
              <a:spcBef>
                <a:spcPts val="1600"/>
              </a:spcBef>
              <a:spcAft>
                <a:spcPts val="0"/>
              </a:spcAft>
              <a:buClr>
                <a:schemeClr val="dk1"/>
              </a:buClr>
              <a:buSzPts val="1100"/>
              <a:buFont typeface="Arial"/>
              <a:buNone/>
            </a:pPr>
            <a:r>
              <a:rPr lang="en-GB" b="1"/>
              <a:t>World Happiness Report 2015-2019: </a:t>
            </a:r>
            <a:endParaRPr b="1"/>
          </a:p>
          <a:p>
            <a:pPr marL="0" lvl="0" indent="0" algn="l" rtl="0">
              <a:spcBef>
                <a:spcPts val="1600"/>
              </a:spcBef>
              <a:spcAft>
                <a:spcPts val="0"/>
              </a:spcAft>
              <a:buClr>
                <a:schemeClr val="dk1"/>
              </a:buClr>
              <a:buSzPts val="1100"/>
              <a:buFont typeface="Arial"/>
              <a:buNone/>
            </a:pPr>
            <a:r>
              <a:rPr lang="en-GB" u="sng">
                <a:solidFill>
                  <a:schemeClr val="hlink"/>
                </a:solidFill>
                <a:hlinkClick r:id="rId3"/>
              </a:rPr>
              <a:t>https://www.kaggle.com/unsdsn/world-happiness</a:t>
            </a:r>
            <a:endParaRPr/>
          </a:p>
          <a:p>
            <a:pPr marL="0" lvl="0" indent="0" algn="l" rtl="0">
              <a:spcBef>
                <a:spcPts val="1600"/>
              </a:spcBef>
              <a:spcAft>
                <a:spcPts val="0"/>
              </a:spcAft>
              <a:buClr>
                <a:schemeClr val="dk1"/>
              </a:buClr>
              <a:buSzPts val="1100"/>
              <a:buFont typeface="Arial"/>
              <a:buNone/>
            </a:pPr>
            <a:r>
              <a:rPr lang="en-GB" b="1"/>
              <a:t>IMDb Top 100 Movies</a:t>
            </a:r>
            <a:endParaRPr b="1"/>
          </a:p>
          <a:p>
            <a:pPr marL="0" lvl="0" indent="0" algn="l" rtl="0">
              <a:spcBef>
                <a:spcPts val="1600"/>
              </a:spcBef>
              <a:spcAft>
                <a:spcPts val="0"/>
              </a:spcAft>
              <a:buClr>
                <a:schemeClr val="dk1"/>
              </a:buClr>
              <a:buSzPts val="1100"/>
              <a:buFont typeface="Arial"/>
              <a:buNone/>
            </a:pPr>
            <a:r>
              <a:rPr lang="en-GB" u="sng">
                <a:solidFill>
                  <a:schemeClr val="hlink"/>
                </a:solidFill>
                <a:hlinkClick r:id="rId4"/>
              </a:rPr>
              <a:t>https://www.kaggle.com/datasets/themrityunjaypathak/imdb-top-100-movies</a:t>
            </a:r>
            <a:endParaRPr/>
          </a:p>
          <a:p>
            <a:pPr marL="0" lvl="0" indent="0" algn="l" rtl="0">
              <a:spcBef>
                <a:spcPts val="1600"/>
              </a:spcBef>
              <a:spcAft>
                <a:spcPts val="0"/>
              </a:spcAft>
              <a:buClr>
                <a:schemeClr val="dk1"/>
              </a:buClr>
              <a:buSzPts val="1100"/>
              <a:buFont typeface="Arial"/>
              <a:buNone/>
            </a:pPr>
            <a:r>
              <a:rPr lang="en-GB" b="1"/>
              <a:t>FIFA World Cup 2022</a:t>
            </a:r>
            <a:endParaRPr b="1"/>
          </a:p>
          <a:p>
            <a:pPr marL="0" lvl="0" indent="0" algn="l" rtl="0">
              <a:spcBef>
                <a:spcPts val="1600"/>
              </a:spcBef>
              <a:spcAft>
                <a:spcPts val="0"/>
              </a:spcAft>
              <a:buClr>
                <a:schemeClr val="dk1"/>
              </a:buClr>
              <a:buSzPts val="1100"/>
              <a:buFont typeface="Arial"/>
              <a:buNone/>
            </a:pPr>
            <a:r>
              <a:rPr lang="en-GB" u="sng">
                <a:solidFill>
                  <a:schemeClr val="hlink"/>
                </a:solidFill>
                <a:hlinkClick r:id="rId5"/>
              </a:rPr>
              <a:t>https://www.kaggle.com/datasets/die9origephit/fifa-world-cup-2022-complete-dataset</a:t>
            </a:r>
            <a:endParaRPr/>
          </a:p>
          <a:p>
            <a:pPr marL="0" lvl="0" indent="0" algn="l" rtl="0">
              <a:spcBef>
                <a:spcPts val="1600"/>
              </a:spcBef>
              <a:spcAft>
                <a:spcPts val="0"/>
              </a:spcAft>
              <a:buClr>
                <a:schemeClr val="dk1"/>
              </a:buClr>
              <a:buSzPts val="1100"/>
              <a:buFont typeface="Arial"/>
              <a:buNone/>
            </a:pPr>
            <a:r>
              <a:rPr lang="en-GB" b="1"/>
              <a:t>Significant Earthquakes 1965-2022</a:t>
            </a:r>
            <a:endParaRPr b="1"/>
          </a:p>
          <a:p>
            <a:pPr marL="0" lvl="0" indent="0" algn="l" rtl="0">
              <a:spcBef>
                <a:spcPts val="1600"/>
              </a:spcBef>
              <a:spcAft>
                <a:spcPts val="0"/>
              </a:spcAft>
              <a:buClr>
                <a:schemeClr val="dk1"/>
              </a:buClr>
              <a:buSzPts val="1100"/>
              <a:buFont typeface="Arial"/>
              <a:buNone/>
            </a:pPr>
            <a:r>
              <a:rPr lang="en-GB" u="sng">
                <a:solidFill>
                  <a:schemeClr val="hlink"/>
                </a:solidFill>
                <a:hlinkClick r:id="rId6"/>
              </a:rPr>
              <a:t>https://www.kaggle.com/usgs/earthquake-database</a:t>
            </a:r>
            <a:endParaRPr/>
          </a:p>
          <a:p>
            <a:pPr marL="0" lvl="0" indent="0" algn="l" rtl="0">
              <a:spcBef>
                <a:spcPts val="1600"/>
              </a:spcBef>
              <a:spcAft>
                <a:spcPts val="16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1510</Words>
  <Application>Microsoft Office PowerPoint</Application>
  <PresentationFormat>On-screen Show (16:9)</PresentationFormat>
  <Paragraphs>219</Paragraphs>
  <Slides>41</Slides>
  <Notes>41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41</vt:i4>
      </vt:variant>
    </vt:vector>
  </HeadingPairs>
  <TitlesOfParts>
    <vt:vector size="43" baseType="lpstr">
      <vt:lpstr>Arial</vt:lpstr>
      <vt:lpstr>Simple Light</vt:lpstr>
      <vt:lpstr>Modelling and Simulation</vt:lpstr>
      <vt:lpstr>Modelling and Simulation</vt:lpstr>
      <vt:lpstr>Example: COVID-19</vt:lpstr>
      <vt:lpstr>Basic Models</vt:lpstr>
      <vt:lpstr>Evaluating Basic Models</vt:lpstr>
      <vt:lpstr>Evaluating Models</vt:lpstr>
      <vt:lpstr>Developing a Model</vt:lpstr>
      <vt:lpstr>Temperature/Time Model</vt:lpstr>
      <vt:lpstr>Table of data</vt:lpstr>
      <vt:lpstr>Observations</vt:lpstr>
      <vt:lpstr>Developing the model</vt:lpstr>
      <vt:lpstr>Decision Making Model</vt:lpstr>
      <vt:lpstr>PowerPoint Presentation</vt:lpstr>
      <vt:lpstr>Tennis Model</vt:lpstr>
      <vt:lpstr>Decision Trees</vt:lpstr>
      <vt:lpstr>PowerPoint Presentation</vt:lpstr>
      <vt:lpstr>Tennis Model</vt:lpstr>
      <vt:lpstr>Picking a useful model</vt:lpstr>
      <vt:lpstr>Application/Areas</vt:lpstr>
      <vt:lpstr>PowerPoint Presentation</vt:lpstr>
      <vt:lpstr>Agent Based Modeling (ABM)</vt:lpstr>
      <vt:lpstr>Agent Based Modeling</vt:lpstr>
      <vt:lpstr>Example: Supermarket</vt:lpstr>
      <vt:lpstr>Example: Ant movement pattern</vt:lpstr>
      <vt:lpstr>Example: Ant movement pattern </vt:lpstr>
      <vt:lpstr>Example: Ant movement pattern </vt:lpstr>
      <vt:lpstr>Benefits of Agent Based Modelling</vt:lpstr>
      <vt:lpstr>Emergent Behaviours</vt:lpstr>
      <vt:lpstr>Further uses of Agent Based Modelling</vt:lpstr>
      <vt:lpstr>Coronavirus Spread</vt:lpstr>
      <vt:lpstr>PowerPoint Presentation</vt:lpstr>
      <vt:lpstr>Conway’s Game of Life</vt:lpstr>
      <vt:lpstr>Pixar</vt:lpstr>
      <vt:lpstr>Cat and Mice</vt:lpstr>
      <vt:lpstr>Population Model</vt:lpstr>
      <vt:lpstr>Population Model - Setup</vt:lpstr>
      <vt:lpstr>Predictive Model</vt:lpstr>
      <vt:lpstr>PowerPoint Presentation</vt:lpstr>
      <vt:lpstr>PowerPoint Presentation</vt:lpstr>
      <vt:lpstr>Task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Jim Finn (Adamstown CC)</cp:lastModifiedBy>
  <cp:revision>1</cp:revision>
  <dcterms:modified xsi:type="dcterms:W3CDTF">2025-10-07T13:57:14Z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b170d26-a298-4fcb-93e8-f72c55c78d0a_Enabled">
    <vt:lpwstr>true</vt:lpwstr>
  </property>
  <property fmtid="{D5CDD505-2E9C-101B-9397-08002B2CF9AE}" pid="3" name="MSIP_Label_bb170d26-a298-4fcb-93e8-f72c55c78d0a_SetDate">
    <vt:lpwstr>2025-10-07T13:57:13Z</vt:lpwstr>
  </property>
  <property fmtid="{D5CDD505-2E9C-101B-9397-08002B2CF9AE}" pid="4" name="MSIP_Label_bb170d26-a298-4fcb-93e8-f72c55c78d0a_Method">
    <vt:lpwstr>Standard</vt:lpwstr>
  </property>
  <property fmtid="{D5CDD505-2E9C-101B-9397-08002B2CF9AE}" pid="5" name="MSIP_Label_bb170d26-a298-4fcb-93e8-f72c55c78d0a_Name">
    <vt:lpwstr>defa4170-0d19-0005-0004-bc88714345d2</vt:lpwstr>
  </property>
  <property fmtid="{D5CDD505-2E9C-101B-9397-08002B2CF9AE}" pid="6" name="MSIP_Label_bb170d26-a298-4fcb-93e8-f72c55c78d0a_SiteId">
    <vt:lpwstr>3ed6c8f5-4c16-44ad-9eed-60f851834a84</vt:lpwstr>
  </property>
  <property fmtid="{D5CDD505-2E9C-101B-9397-08002B2CF9AE}" pid="7" name="MSIP_Label_bb170d26-a298-4fcb-93e8-f72c55c78d0a_ActionId">
    <vt:lpwstr>6815303e-1085-46d5-9a1c-f479591f61b0</vt:lpwstr>
  </property>
  <property fmtid="{D5CDD505-2E9C-101B-9397-08002B2CF9AE}" pid="8" name="MSIP_Label_bb170d26-a298-4fcb-93e8-f72c55c78d0a_ContentBits">
    <vt:lpwstr>0</vt:lpwstr>
  </property>
  <property fmtid="{D5CDD505-2E9C-101B-9397-08002B2CF9AE}" pid="9" name="MSIP_Label_bb170d26-a298-4fcb-93e8-f72c55c78d0a_Tag">
    <vt:lpwstr>10, 3, 0, 1</vt:lpwstr>
  </property>
</Properties>
</file>