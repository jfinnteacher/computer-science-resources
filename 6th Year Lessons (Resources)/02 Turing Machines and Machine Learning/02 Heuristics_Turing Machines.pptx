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aleway"/>
      <p:regular r:id="rId35"/>
      <p:bold r:id="rId36"/>
      <p:italic r:id="rId37"/>
      <p:boldItalic r:id="rId38"/>
    </p:embeddedFont>
    <p:embeddedFont>
      <p:font typeface="La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5.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italic.fntdata"/><Relationship Id="rId14" Type="http://schemas.openxmlformats.org/officeDocument/2006/relationships/slide" Target="slides/slide9.xml"/><Relationship Id="rId36" Type="http://schemas.openxmlformats.org/officeDocument/2006/relationships/font" Target="fonts/Raleway-bold.fntdata"/><Relationship Id="rId17" Type="http://schemas.openxmlformats.org/officeDocument/2006/relationships/slide" Target="slides/slide12.xml"/><Relationship Id="rId39" Type="http://schemas.openxmlformats.org/officeDocument/2006/relationships/font" Target="fonts/Lato-regular.fntdata"/><Relationship Id="rId16" Type="http://schemas.openxmlformats.org/officeDocument/2006/relationships/slide" Target="slides/slide11.xml"/><Relationship Id="rId38" Type="http://schemas.openxmlformats.org/officeDocument/2006/relationships/font" Target="fonts/Ralew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ec5aa9ca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7ec5aa9ca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7ec5aa9ca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7ec5aa9ca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ec5aa9ca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ec5aa9ca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4ba589e0b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4ba589e0b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ba589e0b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ba589e0b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ba589e0b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4ba589e0b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4ba589e0b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4ba589e0b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ba589e0b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ba589e0b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7e7da93c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7e7da93c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8e6ff33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8e6ff33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98e6ff33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98e6ff33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98e6ff33a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98e6ff33a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98e6ff33a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98e6ff33a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98e6ff33a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98e6ff33a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98e6ff33a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98e6ff33a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98e6ff33a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98e6ff33a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98e6ff33a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98e6ff33a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98e6ff33a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98e6ff33a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98e6ff33a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98e6ff33a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98e6ff33a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98e6ff33a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98e6ff33a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98e6ff33a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98e6ff33a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98e6ff33a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98e6ff33a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98e6ff33a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98e6ff33a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98e6ff33a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4ba589e0b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4ba589e0b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4ba589e0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4ba589e0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4ba589e0b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4ba589e0b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4ba589e0b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4ba589e0b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2" name="Google Shape;9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sp>
        <p:nvSpPr>
          <p:cNvPr id="94" name="Google Shape;9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5" name="Google Shape;9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0" name="Google Shape;100;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7" name="Google Shape;107;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8" name="Google Shape;10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117" name="Google Shape;117;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23" name="Google Shape;123;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4" name="Google Shape;12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no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Char char="●"/>
              <a:defRPr sz="1800">
                <a:solidFill>
                  <a:schemeClr val="lt2"/>
                </a:solidFill>
              </a:defRPr>
            </a:lvl1pPr>
            <a:lvl2pPr indent="-317500" lvl="1" marL="914400" rtl="0">
              <a:lnSpc>
                <a:spcPct val="115000"/>
              </a:lnSpc>
              <a:spcBef>
                <a:spcPts val="1600"/>
              </a:spcBef>
              <a:spcAft>
                <a:spcPts val="0"/>
              </a:spcAft>
              <a:buClr>
                <a:schemeClr val="lt2"/>
              </a:buClr>
              <a:buSzPts val="1400"/>
              <a:buChar char="○"/>
              <a:defRPr>
                <a:solidFill>
                  <a:schemeClr val="lt2"/>
                </a:solidFill>
              </a:defRPr>
            </a:lvl2pPr>
            <a:lvl3pPr indent="-317500" lvl="2" marL="1371600" rtl="0">
              <a:lnSpc>
                <a:spcPct val="115000"/>
              </a:lnSpc>
              <a:spcBef>
                <a:spcPts val="1600"/>
              </a:spcBef>
              <a:spcAft>
                <a:spcPts val="0"/>
              </a:spcAft>
              <a:buClr>
                <a:schemeClr val="lt2"/>
              </a:buClr>
              <a:buSzPts val="1400"/>
              <a:buChar char="■"/>
              <a:defRPr>
                <a:solidFill>
                  <a:schemeClr val="lt2"/>
                </a:solidFill>
              </a:defRPr>
            </a:lvl3pPr>
            <a:lvl4pPr indent="-317500" lvl="3" marL="1828800" rtl="0">
              <a:lnSpc>
                <a:spcPct val="115000"/>
              </a:lnSpc>
              <a:spcBef>
                <a:spcPts val="1600"/>
              </a:spcBef>
              <a:spcAft>
                <a:spcPts val="0"/>
              </a:spcAft>
              <a:buClr>
                <a:schemeClr val="lt2"/>
              </a:buClr>
              <a:buSzPts val="1400"/>
              <a:buChar char="●"/>
              <a:defRPr>
                <a:solidFill>
                  <a:schemeClr val="lt2"/>
                </a:solidFill>
              </a:defRPr>
            </a:lvl4pPr>
            <a:lvl5pPr indent="-317500" lvl="4" marL="2286000" rtl="0">
              <a:lnSpc>
                <a:spcPct val="115000"/>
              </a:lnSpc>
              <a:spcBef>
                <a:spcPts val="1600"/>
              </a:spcBef>
              <a:spcAft>
                <a:spcPts val="0"/>
              </a:spcAft>
              <a:buClr>
                <a:schemeClr val="lt2"/>
              </a:buClr>
              <a:buSzPts val="1400"/>
              <a:buChar char="○"/>
              <a:defRPr>
                <a:solidFill>
                  <a:schemeClr val="lt2"/>
                </a:solidFill>
              </a:defRPr>
            </a:lvl5pPr>
            <a:lvl6pPr indent="-317500" lvl="5" marL="2743200" rtl="0">
              <a:lnSpc>
                <a:spcPct val="115000"/>
              </a:lnSpc>
              <a:spcBef>
                <a:spcPts val="1600"/>
              </a:spcBef>
              <a:spcAft>
                <a:spcPts val="0"/>
              </a:spcAft>
              <a:buClr>
                <a:schemeClr val="lt2"/>
              </a:buClr>
              <a:buSzPts val="1400"/>
              <a:buChar char="■"/>
              <a:defRPr>
                <a:solidFill>
                  <a:schemeClr val="lt2"/>
                </a:solidFill>
              </a:defRPr>
            </a:lvl6pPr>
            <a:lvl7pPr indent="-317500" lvl="6" marL="3200400" rtl="0">
              <a:lnSpc>
                <a:spcPct val="115000"/>
              </a:lnSpc>
              <a:spcBef>
                <a:spcPts val="1600"/>
              </a:spcBef>
              <a:spcAft>
                <a:spcPts val="0"/>
              </a:spcAft>
              <a:buClr>
                <a:schemeClr val="lt2"/>
              </a:buClr>
              <a:buSzPts val="1400"/>
              <a:buChar char="●"/>
              <a:defRPr>
                <a:solidFill>
                  <a:schemeClr val="lt2"/>
                </a:solidFill>
              </a:defRPr>
            </a:lvl7pPr>
            <a:lvl8pPr indent="-317500" lvl="7" marL="3657600" rtl="0">
              <a:lnSpc>
                <a:spcPct val="115000"/>
              </a:lnSpc>
              <a:spcBef>
                <a:spcPts val="1600"/>
              </a:spcBef>
              <a:spcAft>
                <a:spcPts val="0"/>
              </a:spcAft>
              <a:buClr>
                <a:schemeClr val="lt2"/>
              </a:buClr>
              <a:buSzPts val="1400"/>
              <a:buChar char="○"/>
              <a:defRPr>
                <a:solidFill>
                  <a:schemeClr val="lt2"/>
                </a:solidFill>
              </a:defRPr>
            </a:lvl8pPr>
            <a:lvl9pPr indent="-317500" lvl="8" marL="4114800" rtl="0">
              <a:lnSpc>
                <a:spcPct val="115000"/>
              </a:lnSpc>
              <a:spcBef>
                <a:spcPts val="1600"/>
              </a:spcBef>
              <a:spcAft>
                <a:spcPts val="1600"/>
              </a:spcAft>
              <a:buClr>
                <a:schemeClr val="lt2"/>
              </a:buClr>
              <a:buSzPts val="1400"/>
              <a:buChar char="■"/>
              <a:defRPr>
                <a:solidFill>
                  <a:schemeClr val="lt2"/>
                </a:solidFill>
              </a:defRPr>
            </a:lvl9pPr>
          </a:lstStyle>
          <a:p/>
        </p:txBody>
      </p:sp>
      <p:sp>
        <p:nvSpPr>
          <p:cNvPr id="85" name="Google Shape;8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defRPr>
            </a:lvl1pPr>
            <a:lvl2pPr lvl="1" rtl="0" algn="r">
              <a:buNone/>
              <a:defRPr sz="1000">
                <a:solidFill>
                  <a:schemeClr val="lt2"/>
                </a:solidFill>
              </a:defRPr>
            </a:lvl2pPr>
            <a:lvl3pPr lvl="2" rtl="0" algn="r">
              <a:buNone/>
              <a:defRPr sz="1000">
                <a:solidFill>
                  <a:schemeClr val="lt2"/>
                </a:solidFill>
              </a:defRPr>
            </a:lvl3pPr>
            <a:lvl4pPr lvl="3" rtl="0" algn="r">
              <a:buNone/>
              <a:defRPr sz="1000">
                <a:solidFill>
                  <a:schemeClr val="lt2"/>
                </a:solidFill>
              </a:defRPr>
            </a:lvl4pPr>
            <a:lvl5pPr lvl="4" rtl="0" algn="r">
              <a:buNone/>
              <a:defRPr sz="1000">
                <a:solidFill>
                  <a:schemeClr val="lt2"/>
                </a:solidFill>
              </a:defRPr>
            </a:lvl5pPr>
            <a:lvl6pPr lvl="5" rtl="0" algn="r">
              <a:buNone/>
              <a:defRPr sz="1000">
                <a:solidFill>
                  <a:schemeClr val="lt2"/>
                </a:solidFill>
              </a:defRPr>
            </a:lvl6pPr>
            <a:lvl7pPr lvl="6" rtl="0" algn="r">
              <a:buNone/>
              <a:defRPr sz="1000">
                <a:solidFill>
                  <a:schemeClr val="lt2"/>
                </a:solidFill>
              </a:defRPr>
            </a:lvl7pPr>
            <a:lvl8pPr lvl="7" rtl="0" algn="r">
              <a:buNone/>
              <a:defRPr sz="1000">
                <a:solidFill>
                  <a:schemeClr val="lt2"/>
                </a:solidFill>
              </a:defRPr>
            </a:lvl8pPr>
            <a:lvl9pPr lvl="8" rtl="0"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youtube.com/watch?v=cDc6Gfo3egk"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youtu.be/2cBLSPfhUX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25.png"/><Relationship Id="rId7" Type="http://schemas.openxmlformats.org/officeDocument/2006/relationships/image" Target="../media/image18.png"/><Relationship Id="rId8"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youtube.com/watch?v=5Q1KO_8bVug" TargetMode="Externa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Heuristics/Turing Machines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Heuristics</a:t>
            </a:r>
            <a:endParaRPr b="1">
              <a:solidFill>
                <a:srgbClr val="000000"/>
              </a:solidFill>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0000"/>
                </a:solidFill>
              </a:rPr>
              <a:t>There are many problems that are considered intractable - This means that no algorithm exists that can solve them in a reasonable amount of time (years or less, depending on the problem).</a:t>
            </a:r>
            <a:endParaRPr>
              <a:solidFill>
                <a:srgbClr val="000000"/>
              </a:solidFill>
            </a:endParaRPr>
          </a:p>
          <a:p>
            <a:pPr indent="0" lvl="0" marL="0" rtl="0" algn="l">
              <a:spcBef>
                <a:spcPts val="1600"/>
              </a:spcBef>
              <a:spcAft>
                <a:spcPts val="0"/>
              </a:spcAft>
              <a:buNone/>
            </a:pPr>
            <a:r>
              <a:rPr lang="en-GB">
                <a:solidFill>
                  <a:srgbClr val="000000"/>
                </a:solidFill>
              </a:rPr>
              <a:t>One such problem is the travelling salesperson problem.  A salesperson needs to visit n towns but the problem is which route, visiting all of the towns and then returning to the starting point will cover the least distance?</a:t>
            </a:r>
            <a:endParaRPr>
              <a:solidFill>
                <a:srgbClr val="000000"/>
              </a:solidFill>
            </a:endParaRPr>
          </a:p>
          <a:p>
            <a:pPr indent="0" lvl="0" marL="0" rtl="0" algn="l">
              <a:spcBef>
                <a:spcPts val="1600"/>
              </a:spcBef>
              <a:spcAft>
                <a:spcPts val="1600"/>
              </a:spcAft>
              <a:buNone/>
            </a:pPr>
            <a:r>
              <a:rPr lang="en-GB">
                <a:solidFill>
                  <a:srgbClr val="000000"/>
                </a:solidFill>
              </a:rPr>
              <a:t>WIth 30 cities, there are 2652528598121910586363084800000000 combinations.  It would required a computer many millions of years to check all of these.</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Heuristics</a:t>
            </a:r>
            <a:endParaRPr b="1">
              <a:solidFill>
                <a:srgbClr val="000000"/>
              </a:solidFill>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0000"/>
                </a:solidFill>
              </a:rPr>
              <a:t>Often a heuristic is used to solve problems such as this.  A heuristic algorithm is not guaranteed to return the exact answer but one that is sufficient. </a:t>
            </a:r>
            <a:endParaRPr>
              <a:solidFill>
                <a:srgbClr val="000000"/>
              </a:solidFill>
            </a:endParaRPr>
          </a:p>
          <a:p>
            <a:pPr indent="0" lvl="0" marL="0" rtl="0" algn="l">
              <a:spcBef>
                <a:spcPts val="1600"/>
              </a:spcBef>
              <a:spcAft>
                <a:spcPts val="0"/>
              </a:spcAft>
              <a:buNone/>
            </a:pPr>
            <a:r>
              <a:rPr lang="en-GB">
                <a:solidFill>
                  <a:srgbClr val="000000"/>
                </a:solidFill>
              </a:rPr>
              <a:t>It is thought of as a “rule of thumb” or educated guess which allows us to produce an approximate but useable solution to a problem.</a:t>
            </a:r>
            <a:endParaRPr>
              <a:solidFill>
                <a:srgbClr val="000000"/>
              </a:solidFill>
            </a:endParaRPr>
          </a:p>
          <a:p>
            <a:pPr indent="0" lvl="0" marL="0" rtl="0" algn="l">
              <a:spcBef>
                <a:spcPts val="1600"/>
              </a:spcBef>
              <a:spcAft>
                <a:spcPts val="0"/>
              </a:spcAft>
              <a:buNone/>
            </a:pPr>
            <a:r>
              <a:rPr lang="en-GB">
                <a:solidFill>
                  <a:srgbClr val="000000"/>
                </a:solidFill>
              </a:rPr>
              <a:t>They are strategies derived from previous experiences with similar problems.</a:t>
            </a:r>
            <a:endParaRPr>
              <a:solidFill>
                <a:srgbClr val="000000"/>
              </a:solidFill>
            </a:endParaRPr>
          </a:p>
          <a:p>
            <a:pPr indent="0" lvl="0" marL="0" rtl="0" algn="l">
              <a:spcBef>
                <a:spcPts val="1600"/>
              </a:spcBef>
              <a:spcAft>
                <a:spcPts val="0"/>
              </a:spcAft>
              <a:buNone/>
            </a:pPr>
            <a:r>
              <a:rPr lang="en-GB">
                <a:solidFill>
                  <a:srgbClr val="000000"/>
                </a:solidFill>
              </a:rPr>
              <a:t>They are suitable when finding an optimal solution is impractical or impossible.</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1600"/>
              </a:spcAft>
              <a:buNone/>
            </a:pPr>
            <a:r>
              <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000000"/>
              </a:solidFill>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0000"/>
                </a:solidFill>
              </a:rPr>
              <a:t>Heuristics are not guaranteed to be optimal (but usually take less time than would be required to find an optimal solution).</a:t>
            </a:r>
            <a:endParaRPr>
              <a:solidFill>
                <a:srgbClr val="000000"/>
              </a:solidFill>
            </a:endParaRPr>
          </a:p>
          <a:p>
            <a:pPr indent="0" lvl="0" marL="0" rtl="0" algn="l">
              <a:spcBef>
                <a:spcPts val="1600"/>
              </a:spcBef>
              <a:spcAft>
                <a:spcPts val="0"/>
              </a:spcAft>
              <a:buNone/>
            </a:pPr>
            <a:r>
              <a:rPr lang="en-GB">
                <a:solidFill>
                  <a:srgbClr val="000000"/>
                </a:solidFill>
              </a:rPr>
              <a:t>Limitations lie in the trade-offs e.g. correctness vs. performance.  Suitable when finding an optimal solution is impractical or impossible.</a:t>
            </a:r>
            <a:endParaRPr>
              <a:solidFill>
                <a:srgbClr val="000000"/>
              </a:solidFill>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Machine Learning</a:t>
            </a:r>
            <a:endParaRPr/>
          </a:p>
        </p:txBody>
      </p:sp>
      <p:sp>
        <p:nvSpPr>
          <p:cNvPr id="155" name="Google Shape;155;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1936, Alan Turing invented a mathematical model of a universal machine, which later became known as a Turing Machine.</a:t>
            </a:r>
            <a:endParaRPr/>
          </a:p>
          <a:p>
            <a:pPr indent="0" lvl="0" marL="0" rtl="0" algn="l">
              <a:spcBef>
                <a:spcPts val="1600"/>
              </a:spcBef>
              <a:spcAft>
                <a:spcPts val="1600"/>
              </a:spcAft>
              <a:buNone/>
            </a:pPr>
            <a:r>
              <a:rPr lang="en-GB"/>
              <a:t>This is often considered the foundation for the development of Computer Science and Machine Learning.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Turing Machine</a:t>
            </a:r>
            <a:endParaRPr/>
          </a:p>
        </p:txBody>
      </p:sp>
      <p:sp>
        <p:nvSpPr>
          <p:cNvPr id="161" name="Google Shape;161;p30"/>
          <p:cNvSpPr txBox="1"/>
          <p:nvPr>
            <p:ph idx="1" type="body"/>
          </p:nvPr>
        </p:nvSpPr>
        <p:spPr>
          <a:xfrm>
            <a:off x="729450" y="2078875"/>
            <a:ext cx="58368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machine came about when Alan Turing, a mathematician was studying the limits of maths and what could be computed using maths.  He defined a device - a Turing Machine.  Anything that is possible to mathematically compute could be programmed on a Turing Machine.</a:t>
            </a:r>
            <a:endParaRPr/>
          </a:p>
          <a:p>
            <a:pPr indent="0" lvl="0" marL="0" rtl="0" algn="l">
              <a:spcBef>
                <a:spcPts val="1600"/>
              </a:spcBef>
              <a:spcAft>
                <a:spcPts val="1600"/>
              </a:spcAft>
              <a:buNone/>
            </a:pPr>
            <a:r>
              <a:rPr lang="en-GB"/>
              <a:t>The </a:t>
            </a:r>
            <a:r>
              <a:rPr lang="en-GB" u="sng">
                <a:solidFill>
                  <a:schemeClr val="hlink"/>
                </a:solidFill>
                <a:hlinkClick r:id="rId3"/>
              </a:rPr>
              <a:t>operation </a:t>
            </a:r>
            <a:r>
              <a:rPr lang="en-GB"/>
              <a:t>is a simple concept but can be constructed to solve any given computer algorithm.</a:t>
            </a:r>
            <a:endParaRPr/>
          </a:p>
        </p:txBody>
      </p:sp>
      <p:pic>
        <p:nvPicPr>
          <p:cNvPr id="162" name="Google Shape;162;p30"/>
          <p:cNvPicPr preferRelativeResize="0"/>
          <p:nvPr/>
        </p:nvPicPr>
        <p:blipFill>
          <a:blip r:embed="rId4">
            <a:alphaModFix/>
          </a:blip>
          <a:stretch>
            <a:fillRect/>
          </a:stretch>
        </p:blipFill>
        <p:spPr>
          <a:xfrm>
            <a:off x="6773388" y="2078875"/>
            <a:ext cx="1724025" cy="2133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9" name="Google Shape;169;p31"/>
          <p:cNvPicPr preferRelativeResize="0"/>
          <p:nvPr/>
        </p:nvPicPr>
        <p:blipFill>
          <a:blip r:embed="rId3">
            <a:alphaModFix/>
          </a:blip>
          <a:stretch>
            <a:fillRect/>
          </a:stretch>
        </p:blipFill>
        <p:spPr>
          <a:xfrm>
            <a:off x="2098950" y="1318650"/>
            <a:ext cx="4705350" cy="3486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Turing Machine</a:t>
            </a:r>
            <a:endParaRPr/>
          </a:p>
        </p:txBody>
      </p:sp>
      <p:sp>
        <p:nvSpPr>
          <p:cNvPr id="175" name="Google Shape;175;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Modern computers work differently than Turing’s machine, but are mathematically equivalent</a:t>
            </a:r>
            <a:endParaRPr/>
          </a:p>
          <a:p>
            <a:pPr indent="0" lvl="0" marL="0" rtl="0" algn="l">
              <a:spcBef>
                <a:spcPts val="1600"/>
              </a:spcBef>
              <a:spcAft>
                <a:spcPts val="0"/>
              </a:spcAft>
              <a:buNone/>
            </a:pPr>
            <a:r>
              <a:rPr lang="en-GB"/>
              <a:t>All computers, from the ones in your microwave to your PC have the same basic abilities.  It is possible to run any program on any computer, but it might mean you have to do a lot of programming to make it work.  It does not mean that we can solve all problems on any computer.</a:t>
            </a:r>
            <a:endParaRPr/>
          </a:p>
          <a:p>
            <a:pPr indent="0" lvl="0" marL="0" rtl="0" algn="l">
              <a:spcBef>
                <a:spcPts val="1600"/>
              </a:spcBef>
              <a:spcAft>
                <a:spcPts val="1600"/>
              </a:spcAft>
              <a:buNone/>
            </a:pPr>
            <a:r>
              <a:rPr lang="en-GB"/>
              <a:t>One of the important things that Turing proved is that some problems can’t be solved by computers at all.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Turing Machine</a:t>
            </a:r>
            <a:endParaRPr/>
          </a:p>
        </p:txBody>
      </p:sp>
      <p:sp>
        <p:nvSpPr>
          <p:cNvPr id="181" name="Google Shape;181;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Turing Machine didn’t actually know anything about numbers even though it was a device that could do mathematical computation..  It could simply make marks on a piece of paper tape, and then count those marks to be able to do mathematics.</a:t>
            </a:r>
            <a:endParaRPr/>
          </a:p>
          <a:p>
            <a:pPr indent="0" lvl="0" marL="0" rtl="0" algn="l">
              <a:spcBef>
                <a:spcPts val="1600"/>
              </a:spcBef>
              <a:spcAft>
                <a:spcPts val="0"/>
              </a:spcAft>
              <a:buNone/>
            </a:pPr>
            <a:r>
              <a:rPr lang="en-GB"/>
              <a:t>Electronic computers aren’t much better with numbers - they count using patterns of voltages (on/off).  But instead of users having to deal with these patterns, the operations are already programmed into the computer.</a:t>
            </a:r>
            <a:endParaRPr/>
          </a:p>
          <a:p>
            <a:pPr indent="0" lvl="0" marL="0" rtl="0" algn="l">
              <a:spcBef>
                <a:spcPts val="1600"/>
              </a:spcBef>
              <a:spcAft>
                <a:spcPts val="0"/>
              </a:spcAft>
              <a:buNone/>
            </a:pPr>
            <a:r>
              <a:rPr lang="en-GB"/>
              <a:t>When you work with a computer, you have a range of abilities already built in by others.  The computer already knows how to deal with numbers, operation and other things.  </a:t>
            </a:r>
            <a:endParaRPr/>
          </a:p>
          <a:p>
            <a:pPr indent="0" lvl="0" marL="0" rtl="0" algn="l">
              <a:spcBef>
                <a:spcPts val="1600"/>
              </a:spcBef>
              <a:spcAft>
                <a:spcPts val="1600"/>
              </a:spcAft>
              <a:buNone/>
            </a:pPr>
            <a:r>
              <a:rPr lang="en-GB"/>
              <a:t>At the basic level though, even the most powerful supercomputer cannot solve problems better than a Turing Machine!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u="sng">
                <a:solidFill>
                  <a:schemeClr val="hlink"/>
                </a:solidFill>
                <a:hlinkClick r:id="rId3"/>
              </a:rPr>
              <a:t>https://youtu.be/2cBLSPfhUXE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Turing Machines</a:t>
            </a:r>
            <a:endParaRPr/>
          </a:p>
        </p:txBody>
      </p:sp>
      <p:sp>
        <p:nvSpPr>
          <p:cNvPr id="193" name="Google Shape;193;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This diagram is of an elevator represented as a finite state machine.</a:t>
            </a:r>
            <a:endParaRPr/>
          </a:p>
        </p:txBody>
      </p:sp>
      <p:pic>
        <p:nvPicPr>
          <p:cNvPr id="194" name="Google Shape;194;p35"/>
          <p:cNvPicPr preferRelativeResize="0"/>
          <p:nvPr/>
        </p:nvPicPr>
        <p:blipFill>
          <a:blip r:embed="rId3">
            <a:alphaModFix/>
          </a:blip>
          <a:stretch>
            <a:fillRect/>
          </a:stretch>
        </p:blipFill>
        <p:spPr>
          <a:xfrm>
            <a:off x="319163" y="2451263"/>
            <a:ext cx="4829175" cy="2105025"/>
          </a:xfrm>
          <a:prstGeom prst="rect">
            <a:avLst/>
          </a:prstGeom>
          <a:noFill/>
          <a:ln>
            <a:noFill/>
          </a:ln>
        </p:spPr>
      </p:pic>
      <p:sp>
        <p:nvSpPr>
          <p:cNvPr id="195" name="Google Shape;195;p35"/>
          <p:cNvSpPr txBox="1"/>
          <p:nvPr/>
        </p:nvSpPr>
        <p:spPr>
          <a:xfrm>
            <a:off x="5425300" y="2502675"/>
            <a:ext cx="3252000" cy="2154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Lato"/>
              <a:buChar char="●"/>
            </a:pPr>
            <a:r>
              <a:rPr lang="en-GB">
                <a:latin typeface="Lato"/>
                <a:ea typeface="Lato"/>
                <a:cs typeface="Lato"/>
                <a:sym typeface="Lato"/>
              </a:rPr>
              <a:t>The circles represent states (floors)</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Arrow represent transitions between states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The labels on each transition represent the button press event</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Turing Machines	</a:t>
            </a:r>
            <a:endParaRPr/>
          </a:p>
        </p:txBody>
      </p:sp>
      <p:sp>
        <p:nvSpPr>
          <p:cNvPr id="201" name="Google Shape;201;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Turing Machines consist of three components as follows:</a:t>
            </a:r>
            <a:endParaRPr/>
          </a:p>
          <a:p>
            <a:pPr indent="-311150" lvl="0" marL="457200" rtl="0" algn="l">
              <a:spcBef>
                <a:spcPts val="1600"/>
              </a:spcBef>
              <a:spcAft>
                <a:spcPts val="0"/>
              </a:spcAft>
              <a:buSzPts val="1300"/>
              <a:buAutoNum type="arabicPeriod"/>
            </a:pPr>
            <a:r>
              <a:rPr lang="en-GB"/>
              <a:t>An infinitely long tape made up of individual cells. Each cell can contain a single  character - typically 1, 0 or B (blank)</a:t>
            </a:r>
            <a:endParaRPr/>
          </a:p>
          <a:p>
            <a:pPr indent="-311150" lvl="0" marL="457200" rtl="0" algn="l">
              <a:spcBef>
                <a:spcPts val="0"/>
              </a:spcBef>
              <a:spcAft>
                <a:spcPts val="0"/>
              </a:spcAft>
              <a:buSzPts val="1300"/>
              <a:buAutoNum type="arabicPeriod"/>
            </a:pPr>
            <a:r>
              <a:rPr lang="en-GB"/>
              <a:t>A read/write head pointed at an individual cell</a:t>
            </a:r>
            <a:endParaRPr/>
          </a:p>
          <a:p>
            <a:pPr indent="-311150" lvl="0" marL="457200" rtl="0" algn="l">
              <a:spcBef>
                <a:spcPts val="0"/>
              </a:spcBef>
              <a:spcAft>
                <a:spcPts val="0"/>
              </a:spcAft>
              <a:buSzPts val="1300"/>
              <a:buAutoNum type="arabicPeriod"/>
            </a:pPr>
            <a:r>
              <a:rPr lang="en-GB"/>
              <a:t>A controller (finite state machine) which instructs the read/write head what to do.</a:t>
            </a:r>
            <a:endParaRPr/>
          </a:p>
        </p:txBody>
      </p:sp>
      <p:pic>
        <p:nvPicPr>
          <p:cNvPr id="202" name="Google Shape;202;p36"/>
          <p:cNvPicPr preferRelativeResize="0"/>
          <p:nvPr/>
        </p:nvPicPr>
        <p:blipFill>
          <a:blip r:embed="rId3">
            <a:alphaModFix/>
          </a:blip>
          <a:stretch>
            <a:fillRect/>
          </a:stretch>
        </p:blipFill>
        <p:spPr>
          <a:xfrm>
            <a:off x="1736225" y="3594600"/>
            <a:ext cx="4280375" cy="1458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9" name="Google Shape;209;p37"/>
          <p:cNvPicPr preferRelativeResize="0"/>
          <p:nvPr/>
        </p:nvPicPr>
        <p:blipFill>
          <a:blip r:embed="rId3">
            <a:alphaModFix/>
          </a:blip>
          <a:stretch>
            <a:fillRect/>
          </a:stretch>
        </p:blipFill>
        <p:spPr>
          <a:xfrm>
            <a:off x="678563" y="605100"/>
            <a:ext cx="7790475" cy="4339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16" name="Google Shape;216;p38"/>
          <p:cNvPicPr preferRelativeResize="0"/>
          <p:nvPr/>
        </p:nvPicPr>
        <p:blipFill>
          <a:blip r:embed="rId3">
            <a:alphaModFix/>
          </a:blip>
          <a:stretch>
            <a:fillRect/>
          </a:stretch>
        </p:blipFill>
        <p:spPr>
          <a:xfrm>
            <a:off x="140381" y="536181"/>
            <a:ext cx="8819000" cy="4500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23" name="Google Shape;223;p39"/>
          <p:cNvPicPr preferRelativeResize="0"/>
          <p:nvPr/>
        </p:nvPicPr>
        <p:blipFill>
          <a:blip r:embed="rId3">
            <a:alphaModFix/>
          </a:blip>
          <a:stretch>
            <a:fillRect/>
          </a:stretch>
        </p:blipFill>
        <p:spPr>
          <a:xfrm>
            <a:off x="136250" y="539050"/>
            <a:ext cx="8240246" cy="4604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30" name="Google Shape;230;p40"/>
          <p:cNvPicPr preferRelativeResize="0"/>
          <p:nvPr/>
        </p:nvPicPr>
        <p:blipFill>
          <a:blip r:embed="rId3">
            <a:alphaModFix/>
          </a:blip>
          <a:stretch>
            <a:fillRect/>
          </a:stretch>
        </p:blipFill>
        <p:spPr>
          <a:xfrm>
            <a:off x="0" y="528100"/>
            <a:ext cx="8418150" cy="4606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37" name="Google Shape;237;p41"/>
          <p:cNvPicPr preferRelativeResize="0"/>
          <p:nvPr/>
        </p:nvPicPr>
        <p:blipFill>
          <a:blip r:embed="rId3">
            <a:alphaModFix/>
          </a:blip>
          <a:stretch>
            <a:fillRect/>
          </a:stretch>
        </p:blipFill>
        <p:spPr>
          <a:xfrm>
            <a:off x="152600" y="587300"/>
            <a:ext cx="8640110" cy="4556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44" name="Google Shape;244;p42"/>
          <p:cNvPicPr preferRelativeResize="0"/>
          <p:nvPr/>
        </p:nvPicPr>
        <p:blipFill>
          <a:blip r:embed="rId3">
            <a:alphaModFix/>
          </a:blip>
          <a:stretch>
            <a:fillRect/>
          </a:stretch>
        </p:blipFill>
        <p:spPr>
          <a:xfrm>
            <a:off x="0" y="579475"/>
            <a:ext cx="8860425" cy="3887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51" name="Google Shape;251;p43"/>
          <p:cNvPicPr preferRelativeResize="0"/>
          <p:nvPr/>
        </p:nvPicPr>
        <p:blipFill>
          <a:blip r:embed="rId3">
            <a:alphaModFix/>
          </a:blip>
          <a:stretch>
            <a:fillRect/>
          </a:stretch>
        </p:blipFill>
        <p:spPr>
          <a:xfrm>
            <a:off x="7" y="519632"/>
            <a:ext cx="9144000" cy="43109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58" name="Google Shape;258;p44"/>
          <p:cNvPicPr preferRelativeResize="0"/>
          <p:nvPr/>
        </p:nvPicPr>
        <p:blipFill>
          <a:blip r:embed="rId3">
            <a:alphaModFix/>
          </a:blip>
          <a:stretch>
            <a:fillRect/>
          </a:stretch>
        </p:blipFill>
        <p:spPr>
          <a:xfrm>
            <a:off x="6" y="601375"/>
            <a:ext cx="8890350" cy="4182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65" name="Google Shape;265;p45"/>
          <p:cNvPicPr preferRelativeResize="0"/>
          <p:nvPr/>
        </p:nvPicPr>
        <p:blipFill>
          <a:blip r:embed="rId3">
            <a:alphaModFix/>
          </a:blip>
          <a:stretch>
            <a:fillRect/>
          </a:stretch>
        </p:blipFill>
        <p:spPr>
          <a:xfrm>
            <a:off x="119875" y="627450"/>
            <a:ext cx="8641824" cy="4516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72" name="Google Shape;272;p46"/>
          <p:cNvPicPr preferRelativeResize="0"/>
          <p:nvPr/>
        </p:nvPicPr>
        <p:blipFill>
          <a:blip r:embed="rId3">
            <a:alphaModFix/>
          </a:blip>
          <a:stretch>
            <a:fillRect/>
          </a:stretch>
        </p:blipFill>
        <p:spPr>
          <a:xfrm>
            <a:off x="-93969" y="584425"/>
            <a:ext cx="8995850" cy="434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79" name="Google Shape;279;p47"/>
          <p:cNvPicPr preferRelativeResize="0"/>
          <p:nvPr/>
        </p:nvPicPr>
        <p:blipFill>
          <a:blip r:embed="rId3">
            <a:alphaModFix/>
          </a:blip>
          <a:stretch>
            <a:fillRect/>
          </a:stretch>
        </p:blipFill>
        <p:spPr>
          <a:xfrm>
            <a:off x="185300" y="660175"/>
            <a:ext cx="8417726" cy="4397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86" name="Google Shape;286;p48"/>
          <p:cNvPicPr preferRelativeResize="0"/>
          <p:nvPr/>
        </p:nvPicPr>
        <p:blipFill>
          <a:blip r:embed="rId3">
            <a:alphaModFix/>
          </a:blip>
          <a:stretch>
            <a:fillRect/>
          </a:stretch>
        </p:blipFill>
        <p:spPr>
          <a:xfrm>
            <a:off x="0" y="494100"/>
            <a:ext cx="8418150" cy="471845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Significance of Turing Machines</a:t>
            </a:r>
            <a:endParaRPr/>
          </a:p>
        </p:txBody>
      </p:sp>
      <p:sp>
        <p:nvSpPr>
          <p:cNvPr id="292" name="Google Shape;292;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0000"/>
                </a:solidFill>
              </a:rPr>
              <a:t>Turing Machines can define computability - It is a model of computation.</a:t>
            </a:r>
            <a:endParaRPr>
              <a:solidFill>
                <a:srgbClr val="000000"/>
              </a:solidFill>
            </a:endParaRPr>
          </a:p>
          <a:p>
            <a:pPr indent="0" lvl="0" marL="0" rtl="0" algn="l">
              <a:spcBef>
                <a:spcPts val="1600"/>
              </a:spcBef>
              <a:spcAft>
                <a:spcPts val="0"/>
              </a:spcAft>
              <a:buNone/>
            </a:pPr>
            <a:r>
              <a:rPr b="1" lang="en-GB">
                <a:solidFill>
                  <a:srgbClr val="000000"/>
                </a:solidFill>
              </a:rPr>
              <a:t>A task is computable if it can be carried out by a Turing Machines</a:t>
            </a:r>
            <a:endParaRPr b="1">
              <a:solidFill>
                <a:srgbClr val="000000"/>
              </a:solidFill>
            </a:endParaRPr>
          </a:p>
          <a:p>
            <a:pPr indent="0" lvl="0" marL="0" rtl="0" algn="l">
              <a:spcBef>
                <a:spcPts val="1600"/>
              </a:spcBef>
              <a:spcAft>
                <a:spcPts val="1600"/>
              </a:spcAft>
              <a:buNone/>
            </a:pPr>
            <a:r>
              <a:rPr lang="en-GB">
                <a:solidFill>
                  <a:srgbClr val="000000"/>
                </a:solidFill>
              </a:rPr>
              <a:t>A Turing machine can compute anything that is possible to be computed.</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Demonstration - addition of two numbers</a:t>
            </a:r>
            <a:endParaRPr/>
          </a:p>
        </p:txBody>
      </p:sp>
      <p:sp>
        <p:nvSpPr>
          <p:cNvPr id="298" name="Google Shape;298;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Turing Machine shown on the next slide consists of tape comprising of a number of cells.  A read/write head points to a particular cell at any given time.</a:t>
            </a:r>
            <a:endParaRPr/>
          </a:p>
          <a:p>
            <a:pPr indent="0" lvl="0" marL="0" rtl="0" algn="l">
              <a:spcBef>
                <a:spcPts val="1600"/>
              </a:spcBef>
              <a:spcAft>
                <a:spcPts val="0"/>
              </a:spcAft>
              <a:buNone/>
            </a:pPr>
            <a:r>
              <a:rPr lang="en-GB"/>
              <a:t>There are only 3 operations that can be performed on the tape:</a:t>
            </a:r>
            <a:endParaRPr/>
          </a:p>
          <a:p>
            <a:pPr indent="-311150" lvl="0" marL="457200" rtl="0" algn="l">
              <a:spcBef>
                <a:spcPts val="1600"/>
              </a:spcBef>
              <a:spcAft>
                <a:spcPts val="0"/>
              </a:spcAft>
              <a:buSzPts val="1300"/>
              <a:buAutoNum type="arabicPeriod"/>
            </a:pPr>
            <a:r>
              <a:rPr lang="en-GB"/>
              <a:t>Read the value</a:t>
            </a:r>
            <a:endParaRPr/>
          </a:p>
          <a:p>
            <a:pPr indent="-311150" lvl="0" marL="457200" rtl="0" algn="l">
              <a:spcBef>
                <a:spcPts val="0"/>
              </a:spcBef>
              <a:spcAft>
                <a:spcPts val="0"/>
              </a:spcAft>
              <a:buSzPts val="1300"/>
              <a:buAutoNum type="arabicPeriod"/>
            </a:pPr>
            <a:r>
              <a:rPr lang="en-GB"/>
              <a:t>Write a new value (0,1, BLANK)</a:t>
            </a:r>
            <a:endParaRPr/>
          </a:p>
          <a:p>
            <a:pPr indent="-311150" lvl="0" marL="457200" rtl="0" algn="l">
              <a:spcBef>
                <a:spcPts val="0"/>
              </a:spcBef>
              <a:spcAft>
                <a:spcPts val="0"/>
              </a:spcAft>
              <a:buSzPts val="1300"/>
              <a:buAutoNum type="arabicPeriod"/>
            </a:pPr>
            <a:r>
              <a:rPr lang="en-GB"/>
              <a:t>Move the read/write head to the next cell.</a:t>
            </a:r>
            <a:endParaRPr/>
          </a:p>
          <a:p>
            <a:pPr indent="0" lvl="0" marL="0" rtl="0" algn="l">
              <a:spcBef>
                <a:spcPts val="1600"/>
              </a:spcBef>
              <a:spcAft>
                <a:spcPts val="0"/>
              </a:spcAft>
              <a:buNone/>
            </a:pPr>
            <a:r>
              <a:rPr lang="en-GB"/>
              <a:t>The # symbol will be interpreted in this case as ADD.  The machine itself is oblivious to the symbol, as the algorithm is deciding that # means addition.</a:t>
            </a:r>
            <a:endParaRPr/>
          </a:p>
          <a:p>
            <a:pPr indent="0" lvl="0" marL="0" rtl="0" algn="l">
              <a:spcBef>
                <a:spcPts val="1600"/>
              </a:spcBef>
              <a:spcAft>
                <a:spcPts val="0"/>
              </a:spcAft>
              <a:buNone/>
            </a:pPr>
            <a:r>
              <a:rPr lang="en-GB"/>
              <a:t>We want our execution of the algorithm to add 2 + 3 to end with five 1’s in a row, bookended by BLANKS.</a:t>
            </a:r>
            <a:endParaRPr/>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51"/>
          <p:cNvPicPr preferRelativeResize="0"/>
          <p:nvPr/>
        </p:nvPicPr>
        <p:blipFill>
          <a:blip r:embed="rId3">
            <a:alphaModFix/>
          </a:blip>
          <a:stretch>
            <a:fillRect/>
          </a:stretch>
        </p:blipFill>
        <p:spPr>
          <a:xfrm>
            <a:off x="2592825" y="491650"/>
            <a:ext cx="6362700" cy="1276350"/>
          </a:xfrm>
          <a:prstGeom prst="rect">
            <a:avLst/>
          </a:prstGeom>
          <a:noFill/>
          <a:ln>
            <a:noFill/>
          </a:ln>
        </p:spPr>
      </p:pic>
      <p:pic>
        <p:nvPicPr>
          <p:cNvPr id="304" name="Google Shape;304;p51"/>
          <p:cNvPicPr preferRelativeResize="0"/>
          <p:nvPr/>
        </p:nvPicPr>
        <p:blipFill>
          <a:blip r:embed="rId4">
            <a:alphaModFix/>
          </a:blip>
          <a:stretch>
            <a:fillRect/>
          </a:stretch>
        </p:blipFill>
        <p:spPr>
          <a:xfrm>
            <a:off x="2592825" y="1990725"/>
            <a:ext cx="5981700" cy="923925"/>
          </a:xfrm>
          <a:prstGeom prst="rect">
            <a:avLst/>
          </a:prstGeom>
          <a:noFill/>
          <a:ln>
            <a:noFill/>
          </a:ln>
        </p:spPr>
      </p:pic>
      <p:pic>
        <p:nvPicPr>
          <p:cNvPr id="305" name="Google Shape;305;p51"/>
          <p:cNvPicPr preferRelativeResize="0"/>
          <p:nvPr/>
        </p:nvPicPr>
        <p:blipFill>
          <a:blip r:embed="rId5">
            <a:alphaModFix/>
          </a:blip>
          <a:stretch>
            <a:fillRect/>
          </a:stretch>
        </p:blipFill>
        <p:spPr>
          <a:xfrm>
            <a:off x="97700" y="1990725"/>
            <a:ext cx="2276475" cy="1162050"/>
          </a:xfrm>
          <a:prstGeom prst="rect">
            <a:avLst/>
          </a:prstGeom>
          <a:noFill/>
          <a:ln>
            <a:noFill/>
          </a:ln>
        </p:spPr>
      </p:pic>
      <p:pic>
        <p:nvPicPr>
          <p:cNvPr id="306" name="Google Shape;306;p51"/>
          <p:cNvPicPr preferRelativeResize="0"/>
          <p:nvPr/>
        </p:nvPicPr>
        <p:blipFill>
          <a:blip r:embed="rId6">
            <a:alphaModFix/>
          </a:blip>
          <a:stretch>
            <a:fillRect/>
          </a:stretch>
        </p:blipFill>
        <p:spPr>
          <a:xfrm>
            <a:off x="152400" y="3305175"/>
            <a:ext cx="1971675" cy="533400"/>
          </a:xfrm>
          <a:prstGeom prst="rect">
            <a:avLst/>
          </a:prstGeom>
          <a:noFill/>
          <a:ln>
            <a:noFill/>
          </a:ln>
        </p:spPr>
      </p:pic>
      <p:pic>
        <p:nvPicPr>
          <p:cNvPr id="307" name="Google Shape;307;p51"/>
          <p:cNvPicPr preferRelativeResize="0"/>
          <p:nvPr/>
        </p:nvPicPr>
        <p:blipFill>
          <a:blip r:embed="rId7">
            <a:alphaModFix/>
          </a:blip>
          <a:stretch>
            <a:fillRect/>
          </a:stretch>
        </p:blipFill>
        <p:spPr>
          <a:xfrm>
            <a:off x="2526575" y="3067050"/>
            <a:ext cx="6181725" cy="1000125"/>
          </a:xfrm>
          <a:prstGeom prst="rect">
            <a:avLst/>
          </a:prstGeom>
          <a:noFill/>
          <a:ln>
            <a:noFill/>
          </a:ln>
        </p:spPr>
      </p:pic>
      <p:pic>
        <p:nvPicPr>
          <p:cNvPr id="308" name="Google Shape;308;p51"/>
          <p:cNvPicPr preferRelativeResize="0"/>
          <p:nvPr/>
        </p:nvPicPr>
        <p:blipFill>
          <a:blip r:embed="rId8">
            <a:alphaModFix/>
          </a:blip>
          <a:stretch>
            <a:fillRect/>
          </a:stretch>
        </p:blipFill>
        <p:spPr>
          <a:xfrm>
            <a:off x="152400" y="4219575"/>
            <a:ext cx="1800232" cy="1000125"/>
          </a:xfrm>
          <a:prstGeom prst="rect">
            <a:avLst/>
          </a:prstGeom>
          <a:noFill/>
          <a:ln>
            <a:noFill/>
          </a:ln>
        </p:spPr>
      </p:pic>
      <p:pic>
        <p:nvPicPr>
          <p:cNvPr id="309" name="Google Shape;309;p51"/>
          <p:cNvPicPr preferRelativeResize="0"/>
          <p:nvPr/>
        </p:nvPicPr>
        <p:blipFill>
          <a:blip r:embed="rId9">
            <a:alphaModFix/>
          </a:blip>
          <a:stretch>
            <a:fillRect/>
          </a:stretch>
        </p:blipFill>
        <p:spPr>
          <a:xfrm>
            <a:off x="2590950" y="4067173"/>
            <a:ext cx="6366436" cy="1147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2"/>
          <p:cNvSpPr txBox="1"/>
          <p:nvPr>
            <p:ph type="title"/>
          </p:nvPr>
        </p:nvSpPr>
        <p:spPr>
          <a:xfrm>
            <a:off x="729450" y="749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Adding on a Turing Machine</a:t>
            </a:r>
            <a:endParaRPr/>
          </a:p>
        </p:txBody>
      </p:sp>
      <p:sp>
        <p:nvSpPr>
          <p:cNvPr id="315" name="Google Shape;315;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The lecture by my student Vishnupriya guides you through the design of Turing machines to compute x+y, x-y, x*y" id="316" name="Google Shape;316;p52" title="Turing machine to computer x+y, x-y, x*y">
            <a:hlinkClick r:id="rId3"/>
          </p:cNvPr>
          <p:cNvPicPr preferRelativeResize="0"/>
          <p:nvPr/>
        </p:nvPicPr>
        <p:blipFill>
          <a:blip r:embed="rId4">
            <a:alphaModFix/>
          </a:blip>
          <a:stretch>
            <a:fillRect/>
          </a:stretch>
        </p:blipFill>
        <p:spPr>
          <a:xfrm>
            <a:off x="2384500" y="1372350"/>
            <a:ext cx="4572000" cy="3429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23" name="Google Shape;323;p53"/>
          <p:cNvPicPr preferRelativeResize="0"/>
          <p:nvPr/>
        </p:nvPicPr>
        <p:blipFill>
          <a:blip r:embed="rId3">
            <a:alphaModFix/>
          </a:blip>
          <a:stretch>
            <a:fillRect/>
          </a:stretch>
        </p:blipFill>
        <p:spPr>
          <a:xfrm>
            <a:off x="1140500" y="900125"/>
            <a:ext cx="6148100" cy="4048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