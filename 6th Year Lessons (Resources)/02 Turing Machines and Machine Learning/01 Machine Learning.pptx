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Raleway" panose="020F0502020204030204"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452066759d_0_1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452066759d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452066759d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452066759d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452066759d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452066759d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452066759d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452066759d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452066759d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452066759d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85e3de7bc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85e3de7bc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85e3de7bc9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85e3de7bc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7f76768a8d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7f76768a8d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7f76768a8d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7f76768a8d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452066759d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452066759d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452066759d_0_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452066759d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452066759d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452066759d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452066759d_0_1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452066759d_0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87ccf956c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87ccf956c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87ccf956c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287ccf956c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87ccf956c7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87ccf956c7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87ccf956c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87ccf956c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7f76768a8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7f76768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54"/>
        <p:cNvGrpSpPr/>
        <p:nvPr/>
      </p:nvGrpSpPr>
      <p:grpSpPr>
        <a:xfrm>
          <a:off x="0" y="0"/>
          <a:ext cx="0" cy="0"/>
          <a:chOff x="0" y="0"/>
          <a:chExt cx="0" cy="0"/>
        </a:xfrm>
      </p:grpSpPr>
      <p:sp>
        <p:nvSpPr>
          <p:cNvPr id="55" name="Google Shape;55;p14"/>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14"/>
          <p:cNvGrpSpPr/>
          <p:nvPr/>
        </p:nvGrpSpPr>
        <p:grpSpPr>
          <a:xfrm>
            <a:off x="830392" y="1191256"/>
            <a:ext cx="745763" cy="45826"/>
            <a:chOff x="4580561" y="2589004"/>
            <a:chExt cx="1064464" cy="25200"/>
          </a:xfrm>
        </p:grpSpPr>
        <p:sp>
          <p:nvSpPr>
            <p:cNvPr id="57" name="Google Shape;57;p1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14"/>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4200"/>
              <a:buNone/>
              <a:defRPr sz="4200">
                <a:solidFill>
                  <a:schemeClr val="dk2"/>
                </a:solidFill>
              </a:defRPr>
            </a:lvl1pPr>
            <a:lvl2pPr lvl="1" rtl="0">
              <a:spcBef>
                <a:spcPts val="0"/>
              </a:spcBef>
              <a:spcAft>
                <a:spcPts val="0"/>
              </a:spcAft>
              <a:buClr>
                <a:schemeClr val="dk2"/>
              </a:buClr>
              <a:buSzPts val="4200"/>
              <a:buNone/>
              <a:defRPr sz="4200">
                <a:solidFill>
                  <a:schemeClr val="dk2"/>
                </a:solidFill>
              </a:defRPr>
            </a:lvl2pPr>
            <a:lvl3pPr lvl="2" rtl="0">
              <a:spcBef>
                <a:spcPts val="0"/>
              </a:spcBef>
              <a:spcAft>
                <a:spcPts val="0"/>
              </a:spcAft>
              <a:buClr>
                <a:schemeClr val="dk2"/>
              </a:buClr>
              <a:buSzPts val="4200"/>
              <a:buNone/>
              <a:defRPr sz="4200">
                <a:solidFill>
                  <a:schemeClr val="dk2"/>
                </a:solidFill>
              </a:defRPr>
            </a:lvl3pPr>
            <a:lvl4pPr lvl="3" rtl="0">
              <a:spcBef>
                <a:spcPts val="0"/>
              </a:spcBef>
              <a:spcAft>
                <a:spcPts val="0"/>
              </a:spcAft>
              <a:buClr>
                <a:schemeClr val="dk2"/>
              </a:buClr>
              <a:buSzPts val="4200"/>
              <a:buNone/>
              <a:defRPr sz="4200">
                <a:solidFill>
                  <a:schemeClr val="dk2"/>
                </a:solidFill>
              </a:defRPr>
            </a:lvl4pPr>
            <a:lvl5pPr lvl="4" rtl="0">
              <a:spcBef>
                <a:spcPts val="0"/>
              </a:spcBef>
              <a:spcAft>
                <a:spcPts val="0"/>
              </a:spcAft>
              <a:buClr>
                <a:schemeClr val="dk2"/>
              </a:buClr>
              <a:buSzPts val="4200"/>
              <a:buNone/>
              <a:defRPr sz="4200">
                <a:solidFill>
                  <a:schemeClr val="dk2"/>
                </a:solidFill>
              </a:defRPr>
            </a:lvl5pPr>
            <a:lvl6pPr lvl="5" rtl="0">
              <a:spcBef>
                <a:spcPts val="0"/>
              </a:spcBef>
              <a:spcAft>
                <a:spcPts val="0"/>
              </a:spcAft>
              <a:buClr>
                <a:schemeClr val="dk2"/>
              </a:buClr>
              <a:buSzPts val="4200"/>
              <a:buNone/>
              <a:defRPr sz="4200">
                <a:solidFill>
                  <a:schemeClr val="dk2"/>
                </a:solidFill>
              </a:defRPr>
            </a:lvl6pPr>
            <a:lvl7pPr lvl="6" rtl="0">
              <a:spcBef>
                <a:spcPts val="0"/>
              </a:spcBef>
              <a:spcAft>
                <a:spcPts val="0"/>
              </a:spcAft>
              <a:buClr>
                <a:schemeClr val="dk2"/>
              </a:buClr>
              <a:buSzPts val="4200"/>
              <a:buNone/>
              <a:defRPr sz="4200">
                <a:solidFill>
                  <a:schemeClr val="dk2"/>
                </a:solidFill>
              </a:defRPr>
            </a:lvl7pPr>
            <a:lvl8pPr lvl="7" rtl="0">
              <a:spcBef>
                <a:spcPts val="0"/>
              </a:spcBef>
              <a:spcAft>
                <a:spcPts val="0"/>
              </a:spcAft>
              <a:buClr>
                <a:schemeClr val="dk2"/>
              </a:buClr>
              <a:buSzPts val="4200"/>
              <a:buNone/>
              <a:defRPr sz="4200">
                <a:solidFill>
                  <a:schemeClr val="dk2"/>
                </a:solidFill>
              </a:defRPr>
            </a:lvl8pPr>
            <a:lvl9pPr lvl="8" rtl="0">
              <a:spcBef>
                <a:spcPts val="0"/>
              </a:spcBef>
              <a:spcAft>
                <a:spcPts val="0"/>
              </a:spcAft>
              <a:buClr>
                <a:schemeClr val="dk2"/>
              </a:buClr>
              <a:buSzPts val="4200"/>
              <a:buNone/>
              <a:defRPr sz="4200">
                <a:solidFill>
                  <a:schemeClr val="dk2"/>
                </a:solidFill>
              </a:defRPr>
            </a:lvl9pPr>
          </a:lstStyle>
          <a:p>
            <a:endParaRPr/>
          </a:p>
        </p:txBody>
      </p:sp>
      <p:sp>
        <p:nvSpPr>
          <p:cNvPr id="60" name="Google Shape;60;p14"/>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61" name="Google Shape;61;p1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2"/>
        <p:cNvGrpSpPr/>
        <p:nvPr/>
      </p:nvGrpSpPr>
      <p:grpSpPr>
        <a:xfrm>
          <a:off x="0" y="0"/>
          <a:ext cx="0" cy="0"/>
          <a:chOff x="0" y="0"/>
          <a:chExt cx="0" cy="0"/>
        </a:xfrm>
      </p:grpSpPr>
      <p:grpSp>
        <p:nvGrpSpPr>
          <p:cNvPr id="63" name="Google Shape;63;p15"/>
          <p:cNvGrpSpPr/>
          <p:nvPr/>
        </p:nvGrpSpPr>
        <p:grpSpPr>
          <a:xfrm>
            <a:off x="830392" y="1191256"/>
            <a:ext cx="745763" cy="45826"/>
            <a:chOff x="4580561" y="2589004"/>
            <a:chExt cx="1064464" cy="25200"/>
          </a:xfrm>
        </p:grpSpPr>
        <p:sp>
          <p:nvSpPr>
            <p:cNvPr id="64" name="Google Shape;64;p1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15"/>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67" name="Google Shape;67;p1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p1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16"/>
          <p:cNvGrpSpPr/>
          <p:nvPr/>
        </p:nvGrpSpPr>
        <p:grpSpPr>
          <a:xfrm>
            <a:off x="830392" y="1191256"/>
            <a:ext cx="745763" cy="45826"/>
            <a:chOff x="4580561" y="2589004"/>
            <a:chExt cx="1064464" cy="25200"/>
          </a:xfrm>
        </p:grpSpPr>
        <p:sp>
          <p:nvSpPr>
            <p:cNvPr id="71" name="Google Shape;71;p1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74" name="Google Shape;7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5" name="Google Shape;75;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6"/>
        <p:cNvGrpSpPr/>
        <p:nvPr/>
      </p:nvGrpSpPr>
      <p:grpSpPr>
        <a:xfrm>
          <a:off x="0" y="0"/>
          <a:ext cx="0" cy="0"/>
          <a:chOff x="0" y="0"/>
          <a:chExt cx="0" cy="0"/>
        </a:xfrm>
      </p:grpSpPr>
      <p:sp>
        <p:nvSpPr>
          <p:cNvPr id="77" name="Google Shape;77;p1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17"/>
          <p:cNvGrpSpPr/>
          <p:nvPr/>
        </p:nvGrpSpPr>
        <p:grpSpPr>
          <a:xfrm>
            <a:off x="830392" y="1191256"/>
            <a:ext cx="745763" cy="45826"/>
            <a:chOff x="4580561" y="2589004"/>
            <a:chExt cx="1064464" cy="25200"/>
          </a:xfrm>
        </p:grpSpPr>
        <p:sp>
          <p:nvSpPr>
            <p:cNvPr id="79" name="Google Shape;79;p1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17"/>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82" name="Google Shape;82;p17"/>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3" name="Google Shape;83;p17"/>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84" name="Google Shape;84;p1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5"/>
        <p:cNvGrpSpPr/>
        <p:nvPr/>
      </p:nvGrpSpPr>
      <p:grpSpPr>
        <a:xfrm>
          <a:off x="0" y="0"/>
          <a:ext cx="0" cy="0"/>
          <a:chOff x="0" y="0"/>
          <a:chExt cx="0" cy="0"/>
        </a:xfrm>
      </p:grpSpPr>
      <p:sp>
        <p:nvSpPr>
          <p:cNvPr id="86" name="Google Shape;86;p1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7" name="Google Shape;87;p18"/>
          <p:cNvGrpSpPr/>
          <p:nvPr/>
        </p:nvGrpSpPr>
        <p:grpSpPr>
          <a:xfrm>
            <a:off x="830392" y="1191256"/>
            <a:ext cx="745763" cy="45826"/>
            <a:chOff x="4580561" y="2589004"/>
            <a:chExt cx="1064464" cy="25200"/>
          </a:xfrm>
        </p:grpSpPr>
        <p:sp>
          <p:nvSpPr>
            <p:cNvPr id="88" name="Google Shape;88;p1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18"/>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91" name="Google Shape;91;p1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2"/>
        <p:cNvGrpSpPr/>
        <p:nvPr/>
      </p:nvGrpSpPr>
      <p:grpSpPr>
        <a:xfrm>
          <a:off x="0" y="0"/>
          <a:ext cx="0" cy="0"/>
          <a:chOff x="0" y="0"/>
          <a:chExt cx="0" cy="0"/>
        </a:xfrm>
      </p:grpSpPr>
      <p:sp>
        <p:nvSpPr>
          <p:cNvPr id="93" name="Google Shape;93;p1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94;p19"/>
          <p:cNvGrpSpPr/>
          <p:nvPr/>
        </p:nvGrpSpPr>
        <p:grpSpPr>
          <a:xfrm>
            <a:off x="830392" y="1191256"/>
            <a:ext cx="745763" cy="45826"/>
            <a:chOff x="4580561" y="2589004"/>
            <a:chExt cx="1064464" cy="25200"/>
          </a:xfrm>
        </p:grpSpPr>
        <p:sp>
          <p:nvSpPr>
            <p:cNvPr id="95" name="Google Shape;95;p1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 name="Google Shape;97;p19"/>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98" name="Google Shape;98;p19"/>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99" name="Google Shape;99;p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00"/>
        <p:cNvGrpSpPr/>
        <p:nvPr/>
      </p:nvGrpSpPr>
      <p:grpSpPr>
        <a:xfrm>
          <a:off x="0" y="0"/>
          <a:ext cx="0" cy="0"/>
          <a:chOff x="0" y="0"/>
          <a:chExt cx="0" cy="0"/>
        </a:xfrm>
      </p:grpSpPr>
      <p:grpSp>
        <p:nvGrpSpPr>
          <p:cNvPr id="101" name="Google Shape;101;p20"/>
          <p:cNvGrpSpPr/>
          <p:nvPr/>
        </p:nvGrpSpPr>
        <p:grpSpPr>
          <a:xfrm>
            <a:off x="830392" y="4169130"/>
            <a:ext cx="745763" cy="45826"/>
            <a:chOff x="4580561" y="2589004"/>
            <a:chExt cx="1064464" cy="25200"/>
          </a:xfrm>
        </p:grpSpPr>
        <p:sp>
          <p:nvSpPr>
            <p:cNvPr id="102" name="Google Shape;102;p2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20"/>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105" name="Google Shape;105;p2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6"/>
        <p:cNvGrpSpPr/>
        <p:nvPr/>
      </p:nvGrpSpPr>
      <p:grpSpPr>
        <a:xfrm>
          <a:off x="0" y="0"/>
          <a:ext cx="0" cy="0"/>
          <a:chOff x="0" y="0"/>
          <a:chExt cx="0" cy="0"/>
        </a:xfrm>
      </p:grpSpPr>
      <p:sp>
        <p:nvSpPr>
          <p:cNvPr id="107" name="Google Shape;107;p2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21"/>
          <p:cNvGrpSpPr/>
          <p:nvPr/>
        </p:nvGrpSpPr>
        <p:grpSpPr>
          <a:xfrm>
            <a:off x="830392" y="1191256"/>
            <a:ext cx="745763" cy="45826"/>
            <a:chOff x="4580561" y="2589004"/>
            <a:chExt cx="1064464" cy="25200"/>
          </a:xfrm>
        </p:grpSpPr>
        <p:sp>
          <p:nvSpPr>
            <p:cNvPr id="109" name="Google Shape;109;p2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1" name="Google Shape;111;p21"/>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2600"/>
              <a:buNone/>
              <a:defRPr sz="2600">
                <a:solidFill>
                  <a:schemeClr val="dk2"/>
                </a:solidFill>
              </a:defRPr>
            </a:lvl1pPr>
            <a:lvl2pPr lvl="1" rtl="0">
              <a:spcBef>
                <a:spcPts val="0"/>
              </a:spcBef>
              <a:spcAft>
                <a:spcPts val="0"/>
              </a:spcAft>
              <a:buClr>
                <a:schemeClr val="dk2"/>
              </a:buClr>
              <a:buSzPts val="2600"/>
              <a:buNone/>
              <a:defRPr sz="2600">
                <a:solidFill>
                  <a:schemeClr val="dk2"/>
                </a:solidFill>
              </a:defRPr>
            </a:lvl2pPr>
            <a:lvl3pPr lvl="2" rtl="0">
              <a:spcBef>
                <a:spcPts val="0"/>
              </a:spcBef>
              <a:spcAft>
                <a:spcPts val="0"/>
              </a:spcAft>
              <a:buClr>
                <a:schemeClr val="dk2"/>
              </a:buClr>
              <a:buSzPts val="2600"/>
              <a:buNone/>
              <a:defRPr sz="2600">
                <a:solidFill>
                  <a:schemeClr val="dk2"/>
                </a:solidFill>
              </a:defRPr>
            </a:lvl3pPr>
            <a:lvl4pPr lvl="3" rtl="0">
              <a:spcBef>
                <a:spcPts val="0"/>
              </a:spcBef>
              <a:spcAft>
                <a:spcPts val="0"/>
              </a:spcAft>
              <a:buClr>
                <a:schemeClr val="dk2"/>
              </a:buClr>
              <a:buSzPts val="2600"/>
              <a:buNone/>
              <a:defRPr sz="2600">
                <a:solidFill>
                  <a:schemeClr val="dk2"/>
                </a:solidFill>
              </a:defRPr>
            </a:lvl4pPr>
            <a:lvl5pPr lvl="4" rtl="0">
              <a:spcBef>
                <a:spcPts val="0"/>
              </a:spcBef>
              <a:spcAft>
                <a:spcPts val="0"/>
              </a:spcAft>
              <a:buClr>
                <a:schemeClr val="dk2"/>
              </a:buClr>
              <a:buSzPts val="2600"/>
              <a:buNone/>
              <a:defRPr sz="2600">
                <a:solidFill>
                  <a:schemeClr val="dk2"/>
                </a:solidFill>
              </a:defRPr>
            </a:lvl5pPr>
            <a:lvl6pPr lvl="5" rtl="0">
              <a:spcBef>
                <a:spcPts val="0"/>
              </a:spcBef>
              <a:spcAft>
                <a:spcPts val="0"/>
              </a:spcAft>
              <a:buClr>
                <a:schemeClr val="dk2"/>
              </a:buClr>
              <a:buSzPts val="2600"/>
              <a:buNone/>
              <a:defRPr sz="2600">
                <a:solidFill>
                  <a:schemeClr val="dk2"/>
                </a:solidFill>
              </a:defRPr>
            </a:lvl6pPr>
            <a:lvl7pPr lvl="6" rtl="0">
              <a:spcBef>
                <a:spcPts val="0"/>
              </a:spcBef>
              <a:spcAft>
                <a:spcPts val="0"/>
              </a:spcAft>
              <a:buClr>
                <a:schemeClr val="dk2"/>
              </a:buClr>
              <a:buSzPts val="2600"/>
              <a:buNone/>
              <a:defRPr sz="2600">
                <a:solidFill>
                  <a:schemeClr val="dk2"/>
                </a:solidFill>
              </a:defRPr>
            </a:lvl7pPr>
            <a:lvl8pPr lvl="7" rtl="0">
              <a:spcBef>
                <a:spcPts val="0"/>
              </a:spcBef>
              <a:spcAft>
                <a:spcPts val="0"/>
              </a:spcAft>
              <a:buClr>
                <a:schemeClr val="dk2"/>
              </a:buClr>
              <a:buSzPts val="2600"/>
              <a:buNone/>
              <a:defRPr sz="2600">
                <a:solidFill>
                  <a:schemeClr val="dk2"/>
                </a:solidFill>
              </a:defRPr>
            </a:lvl8pPr>
            <a:lvl9pPr lvl="8" rtl="0">
              <a:spcBef>
                <a:spcPts val="0"/>
              </a:spcBef>
              <a:spcAft>
                <a:spcPts val="0"/>
              </a:spcAft>
              <a:buClr>
                <a:schemeClr val="dk2"/>
              </a:buClr>
              <a:buSzPts val="2600"/>
              <a:buNone/>
              <a:defRPr sz="2600">
                <a:solidFill>
                  <a:schemeClr val="dk2"/>
                </a:solidFill>
              </a:defRPr>
            </a:lvl9pPr>
          </a:lstStyle>
          <a:p>
            <a:endParaRPr/>
          </a:p>
        </p:txBody>
      </p:sp>
      <p:sp>
        <p:nvSpPr>
          <p:cNvPr id="112" name="Google Shape;112;p21"/>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13" name="Google Shape;113;p21"/>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4" name="Google Shape;114;p2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5"/>
        <p:cNvGrpSpPr/>
        <p:nvPr/>
      </p:nvGrpSpPr>
      <p:grpSpPr>
        <a:xfrm>
          <a:off x="0" y="0"/>
          <a:ext cx="0" cy="0"/>
          <a:chOff x="0" y="0"/>
          <a:chExt cx="0" cy="0"/>
        </a:xfrm>
      </p:grpSpPr>
      <p:sp>
        <p:nvSpPr>
          <p:cNvPr id="116" name="Google Shape;116;p22"/>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300"/>
              <a:buNone/>
              <a:defRPr/>
            </a:lvl1pPr>
          </a:lstStyle>
          <a:p>
            <a:endParaRPr/>
          </a:p>
        </p:txBody>
      </p:sp>
      <p:sp>
        <p:nvSpPr>
          <p:cNvPr id="117" name="Google Shape;117;p2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18"/>
        <p:cNvGrpSpPr/>
        <p:nvPr/>
      </p:nvGrpSpPr>
      <p:grpSpPr>
        <a:xfrm>
          <a:off x="0" y="0"/>
          <a:ext cx="0" cy="0"/>
          <a:chOff x="0" y="0"/>
          <a:chExt cx="0" cy="0"/>
        </a:xfrm>
      </p:grpSpPr>
      <p:grpSp>
        <p:nvGrpSpPr>
          <p:cNvPr id="119" name="Google Shape;119;p23"/>
          <p:cNvGrpSpPr/>
          <p:nvPr/>
        </p:nvGrpSpPr>
        <p:grpSpPr>
          <a:xfrm>
            <a:off x="830392" y="4169130"/>
            <a:ext cx="745763" cy="45826"/>
            <a:chOff x="4580561" y="2589004"/>
            <a:chExt cx="1064464" cy="25200"/>
          </a:xfrm>
        </p:grpSpPr>
        <p:sp>
          <p:nvSpPr>
            <p:cNvPr id="120" name="Google Shape;120;p2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 name="Google Shape;122;p23"/>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23" name="Google Shape;123;p23"/>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lt1"/>
              </a:buClr>
              <a:buSzPts val="1300"/>
              <a:buChar char="●"/>
              <a:defRPr>
                <a:solidFill>
                  <a:schemeClr val="lt1"/>
                </a:solidFill>
              </a:defRPr>
            </a:lvl1pPr>
            <a:lvl2pPr marL="914400" lvl="1" indent="-298450" rtl="0">
              <a:spcBef>
                <a:spcPts val="1600"/>
              </a:spcBef>
              <a:spcAft>
                <a:spcPts val="0"/>
              </a:spcAft>
              <a:buClr>
                <a:schemeClr val="lt1"/>
              </a:buClr>
              <a:buSzPts val="1100"/>
              <a:buChar char="○"/>
              <a:defRPr>
                <a:solidFill>
                  <a:schemeClr val="lt1"/>
                </a:solidFill>
              </a:defRPr>
            </a:lvl2pPr>
            <a:lvl3pPr marL="1371600" lvl="2" indent="-298450" rtl="0">
              <a:spcBef>
                <a:spcPts val="1600"/>
              </a:spcBef>
              <a:spcAft>
                <a:spcPts val="0"/>
              </a:spcAft>
              <a:buClr>
                <a:schemeClr val="lt1"/>
              </a:buClr>
              <a:buSzPts val="1100"/>
              <a:buChar char="■"/>
              <a:defRPr>
                <a:solidFill>
                  <a:schemeClr val="lt1"/>
                </a:solidFill>
              </a:defRPr>
            </a:lvl3pPr>
            <a:lvl4pPr marL="1828800" lvl="3" indent="-298450" rtl="0">
              <a:spcBef>
                <a:spcPts val="1600"/>
              </a:spcBef>
              <a:spcAft>
                <a:spcPts val="0"/>
              </a:spcAft>
              <a:buClr>
                <a:schemeClr val="lt1"/>
              </a:buClr>
              <a:buSzPts val="1100"/>
              <a:buChar char="●"/>
              <a:defRPr>
                <a:solidFill>
                  <a:schemeClr val="lt1"/>
                </a:solidFill>
              </a:defRPr>
            </a:lvl4pPr>
            <a:lvl5pPr marL="2286000" lvl="4" indent="-298450" rtl="0">
              <a:spcBef>
                <a:spcPts val="1600"/>
              </a:spcBef>
              <a:spcAft>
                <a:spcPts val="0"/>
              </a:spcAft>
              <a:buClr>
                <a:schemeClr val="lt1"/>
              </a:buClr>
              <a:buSzPts val="1100"/>
              <a:buChar char="○"/>
              <a:defRPr>
                <a:solidFill>
                  <a:schemeClr val="lt1"/>
                </a:solidFill>
              </a:defRPr>
            </a:lvl5pPr>
            <a:lvl6pPr marL="2743200" lvl="5" indent="-298450" rtl="0">
              <a:spcBef>
                <a:spcPts val="1600"/>
              </a:spcBef>
              <a:spcAft>
                <a:spcPts val="0"/>
              </a:spcAft>
              <a:buClr>
                <a:schemeClr val="lt1"/>
              </a:buClr>
              <a:buSzPts val="1100"/>
              <a:buChar char="■"/>
              <a:defRPr>
                <a:solidFill>
                  <a:schemeClr val="lt1"/>
                </a:solidFill>
              </a:defRPr>
            </a:lvl6pPr>
            <a:lvl7pPr marL="3200400" lvl="6" indent="-298450" rtl="0">
              <a:spcBef>
                <a:spcPts val="1600"/>
              </a:spcBef>
              <a:spcAft>
                <a:spcPts val="0"/>
              </a:spcAft>
              <a:buClr>
                <a:schemeClr val="lt1"/>
              </a:buClr>
              <a:buSzPts val="1100"/>
              <a:buChar char="●"/>
              <a:defRPr>
                <a:solidFill>
                  <a:schemeClr val="lt1"/>
                </a:solidFill>
              </a:defRPr>
            </a:lvl7pPr>
            <a:lvl8pPr marL="3657600" lvl="7" indent="-298450" rtl="0">
              <a:spcBef>
                <a:spcPts val="1600"/>
              </a:spcBef>
              <a:spcAft>
                <a:spcPts val="0"/>
              </a:spcAft>
              <a:buClr>
                <a:schemeClr val="lt1"/>
              </a:buClr>
              <a:buSzPts val="1100"/>
              <a:buChar char="○"/>
              <a:defRPr>
                <a:solidFill>
                  <a:schemeClr val="lt1"/>
                </a:solidFill>
              </a:defRPr>
            </a:lvl8pPr>
            <a:lvl9pPr marL="4114800" lvl="8" indent="-298450" rtl="0">
              <a:spcBef>
                <a:spcPts val="1600"/>
              </a:spcBef>
              <a:spcAft>
                <a:spcPts val="1600"/>
              </a:spcAft>
              <a:buClr>
                <a:schemeClr val="lt1"/>
              </a:buClr>
              <a:buSzPts val="1100"/>
              <a:buChar char="■"/>
              <a:defRPr>
                <a:solidFill>
                  <a:schemeClr val="lt1"/>
                </a:solidFill>
              </a:defRPr>
            </a:lvl9pPr>
          </a:lstStyle>
          <a:p>
            <a:endParaRPr/>
          </a:p>
        </p:txBody>
      </p:sp>
      <p:sp>
        <p:nvSpPr>
          <p:cNvPr id="124" name="Google Shape;124;p2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5"/>
        <p:cNvGrpSpPr/>
        <p:nvPr/>
      </p:nvGrpSpPr>
      <p:grpSpPr>
        <a:xfrm>
          <a:off x="0" y="0"/>
          <a:ext cx="0" cy="0"/>
          <a:chOff x="0" y="0"/>
          <a:chExt cx="0" cy="0"/>
        </a:xfrm>
      </p:grpSpPr>
      <p:sp>
        <p:nvSpPr>
          <p:cNvPr id="126" name="Google Shape;126;p2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2800"/>
              <a:buFont typeface="Raleway"/>
              <a:buNone/>
              <a:defRPr sz="2800" b="1">
                <a:latin typeface="Raleway"/>
                <a:ea typeface="Raleway"/>
                <a:cs typeface="Raleway"/>
                <a:sym typeface="Raleway"/>
              </a:defRPr>
            </a:lvl1pPr>
            <a:lvl2pPr lvl="1" rtl="0">
              <a:spcBef>
                <a:spcPts val="0"/>
              </a:spcBef>
              <a:spcAft>
                <a:spcPts val="0"/>
              </a:spcAft>
              <a:buSzPts val="2800"/>
              <a:buFont typeface="Raleway"/>
              <a:buNone/>
              <a:defRPr sz="2800" b="1">
                <a:latin typeface="Raleway"/>
                <a:ea typeface="Raleway"/>
                <a:cs typeface="Raleway"/>
                <a:sym typeface="Raleway"/>
              </a:defRPr>
            </a:lvl2pPr>
            <a:lvl3pPr lvl="2" rtl="0">
              <a:spcBef>
                <a:spcPts val="0"/>
              </a:spcBef>
              <a:spcAft>
                <a:spcPts val="0"/>
              </a:spcAft>
              <a:buSzPts val="2800"/>
              <a:buFont typeface="Raleway"/>
              <a:buNone/>
              <a:defRPr sz="2800" b="1">
                <a:latin typeface="Raleway"/>
                <a:ea typeface="Raleway"/>
                <a:cs typeface="Raleway"/>
                <a:sym typeface="Raleway"/>
              </a:defRPr>
            </a:lvl3pPr>
            <a:lvl4pPr lvl="3" rtl="0">
              <a:spcBef>
                <a:spcPts val="0"/>
              </a:spcBef>
              <a:spcAft>
                <a:spcPts val="0"/>
              </a:spcAft>
              <a:buSzPts val="2800"/>
              <a:buFont typeface="Raleway"/>
              <a:buNone/>
              <a:defRPr sz="2800" b="1">
                <a:latin typeface="Raleway"/>
                <a:ea typeface="Raleway"/>
                <a:cs typeface="Raleway"/>
                <a:sym typeface="Raleway"/>
              </a:defRPr>
            </a:lvl4pPr>
            <a:lvl5pPr lvl="4" rtl="0">
              <a:spcBef>
                <a:spcPts val="0"/>
              </a:spcBef>
              <a:spcAft>
                <a:spcPts val="0"/>
              </a:spcAft>
              <a:buSzPts val="2800"/>
              <a:buFont typeface="Raleway"/>
              <a:buNone/>
              <a:defRPr sz="2800" b="1">
                <a:latin typeface="Raleway"/>
                <a:ea typeface="Raleway"/>
                <a:cs typeface="Raleway"/>
                <a:sym typeface="Raleway"/>
              </a:defRPr>
            </a:lvl5pPr>
            <a:lvl6pPr lvl="5" rtl="0">
              <a:spcBef>
                <a:spcPts val="0"/>
              </a:spcBef>
              <a:spcAft>
                <a:spcPts val="0"/>
              </a:spcAft>
              <a:buSzPts val="2800"/>
              <a:buFont typeface="Raleway"/>
              <a:buNone/>
              <a:defRPr sz="2800" b="1">
                <a:latin typeface="Raleway"/>
                <a:ea typeface="Raleway"/>
                <a:cs typeface="Raleway"/>
                <a:sym typeface="Raleway"/>
              </a:defRPr>
            </a:lvl6pPr>
            <a:lvl7pPr lvl="6" rtl="0">
              <a:spcBef>
                <a:spcPts val="0"/>
              </a:spcBef>
              <a:spcAft>
                <a:spcPts val="0"/>
              </a:spcAft>
              <a:buSzPts val="2800"/>
              <a:buFont typeface="Raleway"/>
              <a:buNone/>
              <a:defRPr sz="2800" b="1">
                <a:latin typeface="Raleway"/>
                <a:ea typeface="Raleway"/>
                <a:cs typeface="Raleway"/>
                <a:sym typeface="Raleway"/>
              </a:defRPr>
            </a:lvl7pPr>
            <a:lvl8pPr lvl="7" rtl="0">
              <a:spcBef>
                <a:spcPts val="0"/>
              </a:spcBef>
              <a:spcAft>
                <a:spcPts val="0"/>
              </a:spcAft>
              <a:buSzPts val="2800"/>
              <a:buFont typeface="Raleway"/>
              <a:buNone/>
              <a:defRPr sz="2800" b="1">
                <a:latin typeface="Raleway"/>
                <a:ea typeface="Raleway"/>
                <a:cs typeface="Raleway"/>
                <a:sym typeface="Raleway"/>
              </a:defRPr>
            </a:lvl8pPr>
            <a:lvl9pPr lvl="8" rtl="0">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rtl="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rtl="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53" name="Google Shape;53;p1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accent1"/>
                </a:solidFill>
                <a:latin typeface="Lato"/>
                <a:ea typeface="Lato"/>
                <a:cs typeface="Lato"/>
                <a:sym typeface="Lato"/>
              </a:defRPr>
            </a:lvl1pPr>
            <a:lvl2pPr lvl="1" algn="r" rtl="0">
              <a:buNone/>
              <a:defRPr sz="1000">
                <a:solidFill>
                  <a:schemeClr val="accent1"/>
                </a:solidFill>
                <a:latin typeface="Lato"/>
                <a:ea typeface="Lato"/>
                <a:cs typeface="Lato"/>
                <a:sym typeface="Lato"/>
              </a:defRPr>
            </a:lvl2pPr>
            <a:lvl3pPr lvl="2" algn="r" rtl="0">
              <a:buNone/>
              <a:defRPr sz="1000">
                <a:solidFill>
                  <a:schemeClr val="accent1"/>
                </a:solidFill>
                <a:latin typeface="Lato"/>
                <a:ea typeface="Lato"/>
                <a:cs typeface="Lato"/>
                <a:sym typeface="Lato"/>
              </a:defRPr>
            </a:lvl3pPr>
            <a:lvl4pPr lvl="3" algn="r" rtl="0">
              <a:buNone/>
              <a:defRPr sz="1000">
                <a:solidFill>
                  <a:schemeClr val="accent1"/>
                </a:solidFill>
                <a:latin typeface="Lato"/>
                <a:ea typeface="Lato"/>
                <a:cs typeface="Lato"/>
                <a:sym typeface="Lato"/>
              </a:defRPr>
            </a:lvl4pPr>
            <a:lvl5pPr lvl="4" algn="r" rtl="0">
              <a:buNone/>
              <a:defRPr sz="1000">
                <a:solidFill>
                  <a:schemeClr val="accent1"/>
                </a:solidFill>
                <a:latin typeface="Lato"/>
                <a:ea typeface="Lato"/>
                <a:cs typeface="Lato"/>
                <a:sym typeface="Lato"/>
              </a:defRPr>
            </a:lvl5pPr>
            <a:lvl6pPr lvl="5" algn="r" rtl="0">
              <a:buNone/>
              <a:defRPr sz="1000">
                <a:solidFill>
                  <a:schemeClr val="accent1"/>
                </a:solidFill>
                <a:latin typeface="Lato"/>
                <a:ea typeface="Lato"/>
                <a:cs typeface="Lato"/>
                <a:sym typeface="Lato"/>
              </a:defRPr>
            </a:lvl6pPr>
            <a:lvl7pPr lvl="6" algn="r" rtl="0">
              <a:buNone/>
              <a:defRPr sz="1000">
                <a:solidFill>
                  <a:schemeClr val="accent1"/>
                </a:solidFill>
                <a:latin typeface="Lato"/>
                <a:ea typeface="Lato"/>
                <a:cs typeface="Lato"/>
                <a:sym typeface="Lato"/>
              </a:defRPr>
            </a:lvl7pPr>
            <a:lvl8pPr lvl="7" algn="r" rtl="0">
              <a:buNone/>
              <a:defRPr sz="1000">
                <a:solidFill>
                  <a:schemeClr val="accent1"/>
                </a:solidFill>
                <a:latin typeface="Lato"/>
                <a:ea typeface="Lato"/>
                <a:cs typeface="Lato"/>
                <a:sym typeface="Lato"/>
              </a:defRPr>
            </a:lvl8pPr>
            <a:lvl9pPr lvl="8" algn="r" rtl="0">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hyperlink" Target="http://www.youtube.com/watch?v=ijwHj2HaOT0" TargetMode="External"/><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hyperlink" Target="http://www.youtube.com/watch?v=4RixMPF4xis" TargetMode="External"/><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hyperlink" Target="https://www.unite.ai/machine-learning-vs-deep-learning-key-difference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hyperlink" Target="http://www.youtube.com/watch?v=z-EtmaFJieY" TargetMode="External"/><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7.jp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hyperlink" Target="https://www.unite.ai/ten-best-machine-learning-algorithms/" TargetMode="External"/><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hyperlink" Target="https://www.unite.ai/ten-best-machine-learning-algorithms/"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hyperlink" Target="https://www.rte.ie/brainstorm/2023/0913/1404873-jobs-occupations-generative-ai/" TargetMode="External"/><Relationship Id="rId4" Type="http://schemas.openxmlformats.org/officeDocument/2006/relationships/hyperlink" Target="https://azure.microsoft.com/en-us/resources/cloud-computing-dictionary/artificial-intelligence-vs-machine-lear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ctrTitle"/>
          </p:nvPr>
        </p:nvSpPr>
        <p:spPr>
          <a:xfrm>
            <a:off x="235183" y="78152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a:t>Machine Learning</a:t>
            </a:r>
            <a:endParaRPr/>
          </a:p>
        </p:txBody>
      </p:sp>
      <p:sp>
        <p:nvSpPr>
          <p:cNvPr id="132" name="Google Shape;132;p2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Artificial Intelligence (AI)</a:t>
            </a:r>
            <a:endParaRPr/>
          </a:p>
        </p:txBody>
      </p:sp>
      <p:sp>
        <p:nvSpPr>
          <p:cNvPr id="138" name="Google Shape;138;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solidFill>
                  <a:srgbClr val="222222"/>
                </a:solidFill>
                <a:latin typeface="Arial"/>
                <a:ea typeface="Arial"/>
                <a:cs typeface="Arial"/>
                <a:sym typeface="Arial"/>
              </a:rPr>
              <a:t>The term Artificial Intelligence was only coined in 1955 by John McCarthy as “the science and engineering of making intelligent machines.</a:t>
            </a:r>
            <a:endParaRPr sz="1400">
              <a:solidFill>
                <a:srgbClr val="222222"/>
              </a:solidFill>
              <a:latin typeface="Arial"/>
              <a:ea typeface="Arial"/>
              <a:cs typeface="Arial"/>
              <a:sym typeface="Arial"/>
            </a:endParaRPr>
          </a:p>
          <a:p>
            <a:pPr marL="0" lvl="0" indent="0" algn="l" rtl="0">
              <a:spcBef>
                <a:spcPts val="1600"/>
              </a:spcBef>
              <a:spcAft>
                <a:spcPts val="0"/>
              </a:spcAft>
              <a:buNone/>
            </a:pPr>
            <a:r>
              <a:rPr lang="en-GB" sz="1400">
                <a:solidFill>
                  <a:srgbClr val="222222"/>
                </a:solidFill>
                <a:latin typeface="Arial"/>
                <a:ea typeface="Arial"/>
                <a:cs typeface="Arial"/>
                <a:sym typeface="Arial"/>
              </a:rPr>
              <a:t>The goal of AI is to teach computers to do things that humans do, only better.</a:t>
            </a:r>
            <a:endParaRPr sz="1400">
              <a:solidFill>
                <a:srgbClr val="222222"/>
              </a:solidFill>
              <a:latin typeface="Arial"/>
              <a:ea typeface="Arial"/>
              <a:cs typeface="Arial"/>
              <a:sym typeface="Arial"/>
            </a:endParaRPr>
          </a:p>
          <a:p>
            <a:pPr marL="0" lvl="0" indent="0" algn="l" rtl="0">
              <a:spcBef>
                <a:spcPts val="1600"/>
              </a:spcBef>
              <a:spcAft>
                <a:spcPts val="1600"/>
              </a:spcAft>
              <a:buNone/>
            </a:pPr>
            <a:endParaRPr sz="1400">
              <a:solidFill>
                <a:srgbClr val="22222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Turing </a:t>
            </a:r>
            <a:endParaRPr/>
          </a:p>
        </p:txBody>
      </p:sp>
      <p:sp>
        <p:nvSpPr>
          <p:cNvPr id="144" name="Google Shape;144;p2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400">
                <a:solidFill>
                  <a:srgbClr val="222222"/>
                </a:solidFill>
                <a:latin typeface="Arial"/>
                <a:ea typeface="Arial"/>
                <a:cs typeface="Arial"/>
                <a:sym typeface="Arial"/>
              </a:rPr>
              <a:t>Alan Turing was well known for the Turing Test which he developed in 1950.</a:t>
            </a:r>
            <a:endParaRPr sz="1400">
              <a:solidFill>
                <a:srgbClr val="222222"/>
              </a:solidFill>
              <a:latin typeface="Arial"/>
              <a:ea typeface="Arial"/>
              <a:cs typeface="Arial"/>
              <a:sym typeface="Arial"/>
            </a:endParaRPr>
          </a:p>
          <a:p>
            <a:pPr marL="0" lvl="0" indent="0" algn="l" rtl="0">
              <a:spcBef>
                <a:spcPts val="1600"/>
              </a:spcBef>
              <a:spcAft>
                <a:spcPts val="1600"/>
              </a:spcAft>
              <a:buNone/>
            </a:pPr>
            <a:r>
              <a:rPr lang="en-GB" sz="1400">
                <a:solidFill>
                  <a:srgbClr val="222222"/>
                </a:solidFill>
                <a:latin typeface="Arial"/>
                <a:ea typeface="Arial"/>
                <a:cs typeface="Arial"/>
                <a:sym typeface="Arial"/>
              </a:rPr>
              <a:t>It is a test of a machine’s ability to exhibit intelligent behaviour equivalent to that of a human.</a:t>
            </a:r>
            <a:endParaRPr sz="1400">
              <a:solidFill>
                <a:srgbClr val="22222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Turing Test</a:t>
            </a:r>
            <a:endParaRPr/>
          </a:p>
        </p:txBody>
      </p:sp>
      <p:sp>
        <p:nvSpPr>
          <p:cNvPr id="150" name="Google Shape;150;p28"/>
          <p:cNvSpPr txBox="1">
            <a:spLocks noGrp="1"/>
          </p:cNvSpPr>
          <p:nvPr>
            <p:ph type="body" idx="1"/>
          </p:nvPr>
        </p:nvSpPr>
        <p:spPr>
          <a:xfrm>
            <a:off x="4313475" y="2078875"/>
            <a:ext cx="41046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2"/>
                </a:solidFill>
                <a:latin typeface="Arial"/>
                <a:ea typeface="Arial"/>
                <a:cs typeface="Arial"/>
                <a:sym typeface="Arial"/>
              </a:rPr>
              <a:t>Interpretation of the Turing Test:</a:t>
            </a:r>
            <a:endParaRPr>
              <a:solidFill>
                <a:schemeClr val="dk2"/>
              </a:solidFill>
              <a:latin typeface="Arial"/>
              <a:ea typeface="Arial"/>
              <a:cs typeface="Arial"/>
              <a:sym typeface="Arial"/>
            </a:endParaRPr>
          </a:p>
          <a:p>
            <a:pPr marL="0" lvl="0" indent="0" algn="l" rtl="0">
              <a:spcBef>
                <a:spcPts val="1600"/>
              </a:spcBef>
              <a:spcAft>
                <a:spcPts val="0"/>
              </a:spcAft>
              <a:buNone/>
            </a:pPr>
            <a:r>
              <a:rPr lang="en-GB">
                <a:solidFill>
                  <a:schemeClr val="dk2"/>
                </a:solidFill>
                <a:latin typeface="Arial"/>
                <a:ea typeface="Arial"/>
                <a:cs typeface="Arial"/>
                <a:sym typeface="Arial"/>
              </a:rPr>
              <a:t>Player C, the interrogator, is given the task of determining which player - A or B - is a computer and which is human.</a:t>
            </a:r>
            <a:endParaRPr>
              <a:solidFill>
                <a:schemeClr val="dk2"/>
              </a:solidFill>
              <a:latin typeface="Arial"/>
              <a:ea typeface="Arial"/>
              <a:cs typeface="Arial"/>
              <a:sym typeface="Arial"/>
            </a:endParaRPr>
          </a:p>
          <a:p>
            <a:pPr marL="0" lvl="0" indent="0" algn="l" rtl="0">
              <a:spcBef>
                <a:spcPts val="1600"/>
              </a:spcBef>
              <a:spcAft>
                <a:spcPts val="1600"/>
              </a:spcAft>
              <a:buNone/>
            </a:pPr>
            <a:r>
              <a:rPr lang="en-GB">
                <a:solidFill>
                  <a:schemeClr val="dk2"/>
                </a:solidFill>
                <a:latin typeface="Arial"/>
                <a:ea typeface="Arial"/>
                <a:cs typeface="Arial"/>
                <a:sym typeface="Arial"/>
              </a:rPr>
              <a:t>The interrogator is limited to using the responses to written questions to make the determination.</a:t>
            </a:r>
            <a:endParaRPr>
              <a:solidFill>
                <a:schemeClr val="dk2"/>
              </a:solidFill>
              <a:latin typeface="Arial"/>
              <a:ea typeface="Arial"/>
              <a:cs typeface="Arial"/>
              <a:sym typeface="Arial"/>
            </a:endParaRPr>
          </a:p>
        </p:txBody>
      </p:sp>
      <p:pic>
        <p:nvPicPr>
          <p:cNvPr id="151" name="Google Shape;151;p28"/>
          <p:cNvPicPr preferRelativeResize="0"/>
          <p:nvPr/>
        </p:nvPicPr>
        <p:blipFill>
          <a:blip r:embed="rId3">
            <a:alphaModFix/>
          </a:blip>
          <a:stretch>
            <a:fillRect/>
          </a:stretch>
        </p:blipFill>
        <p:spPr>
          <a:xfrm>
            <a:off x="541863" y="1979963"/>
            <a:ext cx="3381375" cy="2581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2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58" name="Google Shape;158;p29" descr="An experimental technology called Duplex may change the way you talk to your Google Assistant. It sounds pretty ordinary, but it's anything but. Read more about  Duplex on CNET: https://cnet.co/2roXyH4&#10;&#10;Subscribe to CNET: www.youtube.com/user/cnettv&#10;Check out our playlists: www.youtube.com/user/CNETTV/playlists&#10;Download the new CNET app: https://cnet.app.link/GWuXq8ExzG&#10;Like us on Facebook: https://www.facebook.com/cnet&#10;Follow us on Twitter: https://www.twitter.com/cnet&#10;Follow us on Instagram: http://bit.ly/2icCYYm" title="Google’s Duplex Assistant phone call blew my mind!">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CAPTCHA</a:t>
            </a:r>
            <a:endParaRPr/>
          </a:p>
        </p:txBody>
      </p:sp>
      <p:sp>
        <p:nvSpPr>
          <p:cNvPr id="164" name="Google Shape;164;p30"/>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600" b="1">
                <a:solidFill>
                  <a:srgbClr val="222222"/>
                </a:solidFill>
                <a:highlight>
                  <a:srgbClr val="FFFFFF"/>
                </a:highlight>
                <a:latin typeface="Arial"/>
                <a:ea typeface="Arial"/>
                <a:cs typeface="Arial"/>
                <a:sym typeface="Arial"/>
              </a:rPr>
              <a:t>C</a:t>
            </a:r>
            <a:r>
              <a:rPr lang="en-GB" sz="1600">
                <a:solidFill>
                  <a:srgbClr val="222222"/>
                </a:solidFill>
                <a:highlight>
                  <a:srgbClr val="FFFFFF"/>
                </a:highlight>
                <a:latin typeface="Arial"/>
                <a:ea typeface="Arial"/>
                <a:cs typeface="Arial"/>
                <a:sym typeface="Arial"/>
              </a:rPr>
              <a:t>ompletely </a:t>
            </a:r>
            <a:r>
              <a:rPr lang="en-GB" sz="1600" b="1">
                <a:solidFill>
                  <a:srgbClr val="222222"/>
                </a:solidFill>
                <a:highlight>
                  <a:srgbClr val="FFFFFF"/>
                </a:highlight>
                <a:latin typeface="Arial"/>
                <a:ea typeface="Arial"/>
                <a:cs typeface="Arial"/>
                <a:sym typeface="Arial"/>
              </a:rPr>
              <a:t>A</a:t>
            </a:r>
            <a:r>
              <a:rPr lang="en-GB" sz="1600">
                <a:solidFill>
                  <a:srgbClr val="222222"/>
                </a:solidFill>
                <a:highlight>
                  <a:srgbClr val="FFFFFF"/>
                </a:highlight>
                <a:latin typeface="Arial"/>
                <a:ea typeface="Arial"/>
                <a:cs typeface="Arial"/>
                <a:sym typeface="Arial"/>
              </a:rPr>
              <a:t>utomated </a:t>
            </a:r>
            <a:r>
              <a:rPr lang="en-GB" sz="1600" b="1">
                <a:solidFill>
                  <a:srgbClr val="222222"/>
                </a:solidFill>
                <a:highlight>
                  <a:srgbClr val="FFFFFF"/>
                </a:highlight>
                <a:latin typeface="Arial"/>
                <a:ea typeface="Arial"/>
                <a:cs typeface="Arial"/>
                <a:sym typeface="Arial"/>
              </a:rPr>
              <a:t>P</a:t>
            </a:r>
            <a:r>
              <a:rPr lang="en-GB" sz="1600">
                <a:solidFill>
                  <a:srgbClr val="222222"/>
                </a:solidFill>
                <a:highlight>
                  <a:srgbClr val="FFFFFF"/>
                </a:highlight>
                <a:latin typeface="Arial"/>
                <a:ea typeface="Arial"/>
                <a:cs typeface="Arial"/>
                <a:sym typeface="Arial"/>
              </a:rPr>
              <a:t>ublic </a:t>
            </a:r>
            <a:r>
              <a:rPr lang="en-GB" sz="1600" b="1">
                <a:solidFill>
                  <a:srgbClr val="222222"/>
                </a:solidFill>
                <a:highlight>
                  <a:srgbClr val="FFFFFF"/>
                </a:highlight>
                <a:latin typeface="Arial"/>
                <a:ea typeface="Arial"/>
                <a:cs typeface="Arial"/>
                <a:sym typeface="Arial"/>
              </a:rPr>
              <a:t>T</a:t>
            </a:r>
            <a:r>
              <a:rPr lang="en-GB" sz="1600">
                <a:solidFill>
                  <a:srgbClr val="222222"/>
                </a:solidFill>
                <a:highlight>
                  <a:srgbClr val="FFFFFF"/>
                </a:highlight>
                <a:latin typeface="Arial"/>
                <a:ea typeface="Arial"/>
                <a:cs typeface="Arial"/>
                <a:sym typeface="Arial"/>
              </a:rPr>
              <a:t>uring Test to tell </a:t>
            </a:r>
            <a:r>
              <a:rPr lang="en-GB" sz="1600" b="1">
                <a:solidFill>
                  <a:srgbClr val="222222"/>
                </a:solidFill>
                <a:highlight>
                  <a:srgbClr val="FFFFFF"/>
                </a:highlight>
                <a:latin typeface="Arial"/>
                <a:ea typeface="Arial"/>
                <a:cs typeface="Arial"/>
                <a:sym typeface="Arial"/>
              </a:rPr>
              <a:t>C</a:t>
            </a:r>
            <a:r>
              <a:rPr lang="en-GB" sz="1600">
                <a:solidFill>
                  <a:srgbClr val="222222"/>
                </a:solidFill>
                <a:highlight>
                  <a:srgbClr val="FFFFFF"/>
                </a:highlight>
                <a:latin typeface="Arial"/>
                <a:ea typeface="Arial"/>
                <a:cs typeface="Arial"/>
                <a:sym typeface="Arial"/>
              </a:rPr>
              <a:t>omputers and </a:t>
            </a:r>
            <a:r>
              <a:rPr lang="en-GB" sz="1600" b="1">
                <a:solidFill>
                  <a:srgbClr val="222222"/>
                </a:solidFill>
                <a:highlight>
                  <a:srgbClr val="FFFFFF"/>
                </a:highlight>
                <a:latin typeface="Arial"/>
                <a:ea typeface="Arial"/>
                <a:cs typeface="Arial"/>
                <a:sym typeface="Arial"/>
              </a:rPr>
              <a:t>H</a:t>
            </a:r>
            <a:r>
              <a:rPr lang="en-GB" sz="1600">
                <a:solidFill>
                  <a:srgbClr val="222222"/>
                </a:solidFill>
                <a:highlight>
                  <a:srgbClr val="FFFFFF"/>
                </a:highlight>
                <a:latin typeface="Arial"/>
                <a:ea typeface="Arial"/>
                <a:cs typeface="Arial"/>
                <a:sym typeface="Arial"/>
              </a:rPr>
              <a:t>umans </a:t>
            </a:r>
            <a:r>
              <a:rPr lang="en-GB" sz="1600" b="1">
                <a:solidFill>
                  <a:srgbClr val="222222"/>
                </a:solidFill>
                <a:highlight>
                  <a:srgbClr val="FFFFFF"/>
                </a:highlight>
                <a:latin typeface="Arial"/>
                <a:ea typeface="Arial"/>
                <a:cs typeface="Arial"/>
                <a:sym typeface="Arial"/>
              </a:rPr>
              <a:t>A</a:t>
            </a:r>
            <a:r>
              <a:rPr lang="en-GB" sz="1600">
                <a:solidFill>
                  <a:srgbClr val="222222"/>
                </a:solidFill>
                <a:highlight>
                  <a:srgbClr val="FFFFFF"/>
                </a:highlight>
                <a:latin typeface="Arial"/>
                <a:ea typeface="Arial"/>
                <a:cs typeface="Arial"/>
                <a:sym typeface="Arial"/>
              </a:rPr>
              <a:t>part</a:t>
            </a:r>
            <a:endParaRPr sz="1600">
              <a:solidFill>
                <a:srgbClr val="222222"/>
              </a:solidFill>
              <a:highlight>
                <a:srgbClr val="FFFFFF"/>
              </a:highlight>
              <a:latin typeface="Arial"/>
              <a:ea typeface="Arial"/>
              <a:cs typeface="Arial"/>
              <a:sym typeface="Arial"/>
            </a:endParaRPr>
          </a:p>
          <a:p>
            <a:pPr marL="0" lvl="0" indent="0" algn="l" rtl="0">
              <a:spcBef>
                <a:spcPts val="1600"/>
              </a:spcBef>
              <a:spcAft>
                <a:spcPts val="1600"/>
              </a:spcAft>
              <a:buNone/>
            </a:pPr>
            <a:endParaRPr/>
          </a:p>
        </p:txBody>
      </p:sp>
      <p:pic>
        <p:nvPicPr>
          <p:cNvPr id="165" name="Google Shape;165;p30"/>
          <p:cNvPicPr preferRelativeResize="0"/>
          <p:nvPr/>
        </p:nvPicPr>
        <p:blipFill>
          <a:blip r:embed="rId3">
            <a:alphaModFix/>
          </a:blip>
          <a:stretch>
            <a:fillRect/>
          </a:stretch>
        </p:blipFill>
        <p:spPr>
          <a:xfrm>
            <a:off x="808975" y="2702500"/>
            <a:ext cx="3016204" cy="1013850"/>
          </a:xfrm>
          <a:prstGeom prst="rect">
            <a:avLst/>
          </a:prstGeom>
          <a:noFill/>
          <a:ln>
            <a:noFill/>
          </a:ln>
        </p:spPr>
      </p:pic>
      <p:pic>
        <p:nvPicPr>
          <p:cNvPr id="166" name="Google Shape;166;p30"/>
          <p:cNvPicPr preferRelativeResize="0"/>
          <p:nvPr/>
        </p:nvPicPr>
        <p:blipFill>
          <a:blip r:embed="rId4">
            <a:alphaModFix/>
          </a:blip>
          <a:stretch>
            <a:fillRect/>
          </a:stretch>
        </p:blipFill>
        <p:spPr>
          <a:xfrm>
            <a:off x="5078425" y="2798300"/>
            <a:ext cx="3200400" cy="1352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3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500" i="1">
              <a:solidFill>
                <a:srgbClr val="222222"/>
              </a:solidFill>
              <a:latin typeface="Arial"/>
              <a:ea typeface="Arial"/>
              <a:cs typeface="Arial"/>
              <a:sym typeface="Arial"/>
            </a:endParaRPr>
          </a:p>
          <a:p>
            <a:pPr marL="0" lvl="0" indent="0" algn="l" rtl="0">
              <a:spcBef>
                <a:spcPts val="1600"/>
              </a:spcBef>
              <a:spcAft>
                <a:spcPts val="0"/>
              </a:spcAft>
              <a:buNone/>
            </a:pPr>
            <a:r>
              <a:rPr lang="en-GB" sz="1500">
                <a:solidFill>
                  <a:srgbClr val="222222"/>
                </a:solidFill>
                <a:latin typeface="Arial"/>
                <a:ea typeface="Arial"/>
                <a:cs typeface="Arial"/>
                <a:sym typeface="Arial"/>
              </a:rPr>
              <a:t>“I believe that at the end of the century the use of words and general educated opinion will have altered so much that one will be able to speak of machines thinking without expecting to be contradicted”								</a:t>
            </a:r>
            <a:endParaRPr sz="1500">
              <a:solidFill>
                <a:srgbClr val="222222"/>
              </a:solidFill>
              <a:latin typeface="Arial"/>
              <a:ea typeface="Arial"/>
              <a:cs typeface="Arial"/>
              <a:sym typeface="Arial"/>
            </a:endParaRPr>
          </a:p>
          <a:p>
            <a:pPr marL="5486400" lvl="0" indent="457200" algn="l" rtl="0">
              <a:spcBef>
                <a:spcPts val="1600"/>
              </a:spcBef>
              <a:spcAft>
                <a:spcPts val="1600"/>
              </a:spcAft>
              <a:buNone/>
            </a:pPr>
            <a:r>
              <a:rPr lang="en-GB" sz="1500" i="1">
                <a:solidFill>
                  <a:srgbClr val="222222"/>
                </a:solidFill>
                <a:latin typeface="Arial"/>
                <a:ea typeface="Arial"/>
                <a:cs typeface="Arial"/>
                <a:sym typeface="Arial"/>
              </a:rPr>
              <a:t>Alan Turing 1950</a:t>
            </a:r>
            <a:endParaRPr sz="1700">
              <a:solidFill>
                <a:srgbClr val="22222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Machine Learning</a:t>
            </a:r>
            <a:endParaRPr/>
          </a:p>
        </p:txBody>
      </p:sp>
      <p:sp>
        <p:nvSpPr>
          <p:cNvPr id="178" name="Google Shape;178;p3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a:solidFill>
                  <a:srgbClr val="222222"/>
                </a:solidFill>
                <a:latin typeface="Arial"/>
                <a:ea typeface="Arial"/>
                <a:cs typeface="Arial"/>
                <a:sym typeface="Arial"/>
              </a:rPr>
              <a:t>Arthur Samuel coined the term machine learning in 1959 explaining that the computer could be programmed to outplay its programmer</a:t>
            </a:r>
            <a:endParaRPr>
              <a:solidFill>
                <a:srgbClr val="222222"/>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3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85" name="Google Shape;185;p33" descr="Learn more about WatsonX: https://ibm.biz/BdPuCV&#10;&#10;Learn about a data and AI platform that’s built for business → https://ibm.biz/BdPuVh&#10;What is Artificial Intelligence (AI)? → https://ibm.biz/defining-ai&#10;What is Machine Learning? →  https://ibm.biz/defining-ML&#10;&#10;What is really the difference between Artificial intelligence (AI) and machine learning (ML)? Are they actually the same thing? In this video, Jeff Crume explains the differences and relationship between AI &amp; ML, as well as how related topics like Deep Learning (DL) and other types and properties of each.&#10;&#10;Get started for free on IBM Cloud → https://ibm.biz/sign-up-now&#10;Subscribe to see more videos like this in the future → http://ibm.biz/subscribe-now&#10;&#10;#ai #ml #dl #artificialintelligence #machinelearning #deeplearning #watsonx" title="AI vs Machine Learning">
            <a:hlinkClick r:id="rId3"/>
          </p:cNvPr>
          <p:cNvPicPr preferRelativeResize="0"/>
          <p:nvPr/>
        </p:nvPicPr>
        <p:blipFill>
          <a:blip r:embed="rId4">
            <a:alphaModFix/>
          </a:blip>
          <a:stretch>
            <a:fillRect/>
          </a:stretch>
        </p:blipFill>
        <p:spPr>
          <a:xfrm>
            <a:off x="162375" y="147075"/>
            <a:ext cx="8882581" cy="49964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5"/>
                                        </p:tgtEl>
                                        <p:attrNameLst>
                                          <p:attrName>style.visibility</p:attrName>
                                        </p:attrNameLst>
                                      </p:cBhvr>
                                      <p:to>
                                        <p:strVal val="visible"/>
                                      </p:to>
                                    </p:set>
                                    <p:animEffect transition="in" filter="fade">
                                      <p:cBhvr>
                                        <p:cTn id="7" dur="10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3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92" name="Google Shape;192;p34"/>
          <p:cNvPicPr preferRelativeResize="0"/>
          <p:nvPr/>
        </p:nvPicPr>
        <p:blipFill>
          <a:blip r:embed="rId3">
            <a:alphaModFix/>
          </a:blip>
          <a:stretch>
            <a:fillRect/>
          </a:stretch>
        </p:blipFill>
        <p:spPr>
          <a:xfrm>
            <a:off x="442923" y="28575"/>
            <a:ext cx="7229701" cy="4452901"/>
          </a:xfrm>
          <a:prstGeom prst="rect">
            <a:avLst/>
          </a:prstGeom>
          <a:noFill/>
          <a:ln>
            <a:noFill/>
          </a:ln>
        </p:spPr>
      </p:pic>
      <p:sp>
        <p:nvSpPr>
          <p:cNvPr id="193" name="Google Shape;193;p34"/>
          <p:cNvSpPr txBox="1"/>
          <p:nvPr/>
        </p:nvSpPr>
        <p:spPr>
          <a:xfrm>
            <a:off x="0" y="4481475"/>
            <a:ext cx="84183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u="sng">
                <a:solidFill>
                  <a:schemeClr val="hlink"/>
                </a:solidFill>
                <a:hlinkClick r:id="rId4"/>
              </a:rPr>
              <a:t>https://www.unite.ai/machine-learning-vs-deep-learning-key-differences/</a:t>
            </a:r>
            <a:endParaRPr/>
          </a:p>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Machine Learning (ML) Algorithms</a:t>
            </a:r>
            <a:endParaRPr/>
          </a:p>
        </p:txBody>
      </p:sp>
      <p:sp>
        <p:nvSpPr>
          <p:cNvPr id="199" name="Google Shape;199;p3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000">
                <a:solidFill>
                  <a:schemeClr val="dk2"/>
                </a:solidFill>
              </a:rPr>
              <a:t>There are two main categories of ML:</a:t>
            </a:r>
            <a:endParaRPr sz="2000">
              <a:solidFill>
                <a:schemeClr val="dk2"/>
              </a:solidFill>
            </a:endParaRPr>
          </a:p>
          <a:p>
            <a:pPr marL="457200" lvl="0" indent="-355600" algn="l" rtl="0">
              <a:spcBef>
                <a:spcPts val="1600"/>
              </a:spcBef>
              <a:spcAft>
                <a:spcPts val="0"/>
              </a:spcAft>
              <a:buClr>
                <a:schemeClr val="dk2"/>
              </a:buClr>
              <a:buSzPts val="2000"/>
              <a:buChar char="●"/>
            </a:pPr>
            <a:r>
              <a:rPr lang="en-GB" sz="2000">
                <a:solidFill>
                  <a:schemeClr val="dk2"/>
                </a:solidFill>
              </a:rPr>
              <a:t>Supervised</a:t>
            </a:r>
            <a:endParaRPr sz="1800">
              <a:solidFill>
                <a:schemeClr val="dk2"/>
              </a:solidFill>
            </a:endParaRPr>
          </a:p>
          <a:p>
            <a:pPr marL="457200" lvl="0" indent="-355600" algn="l" rtl="0">
              <a:spcBef>
                <a:spcPts val="0"/>
              </a:spcBef>
              <a:spcAft>
                <a:spcPts val="0"/>
              </a:spcAft>
              <a:buClr>
                <a:schemeClr val="dk2"/>
              </a:buClr>
              <a:buSzPts val="2000"/>
              <a:buChar char="●"/>
            </a:pPr>
            <a:r>
              <a:rPr lang="en-GB" sz="2000">
                <a:solidFill>
                  <a:schemeClr val="dk2"/>
                </a:solidFill>
              </a:rPr>
              <a:t>Unsupervised</a:t>
            </a:r>
            <a:endParaRPr sz="2000">
              <a:solidFill>
                <a:schemeClr val="dk2"/>
              </a:solidFill>
            </a:endParaRPr>
          </a:p>
          <a:p>
            <a:pPr marL="0" lvl="0" indent="0" algn="l" rtl="0">
              <a:spcBef>
                <a:spcPts val="1600"/>
              </a:spcBef>
              <a:spcAft>
                <a:spcPts val="0"/>
              </a:spcAft>
              <a:buNone/>
            </a:pPr>
            <a:endParaRPr sz="1800">
              <a:solidFill>
                <a:schemeClr val="dk2"/>
              </a:solidFill>
            </a:endParaRPr>
          </a:p>
          <a:p>
            <a:pPr marL="0" lvl="0" indent="0" algn="l" rtl="0">
              <a:spcBef>
                <a:spcPts val="1600"/>
              </a:spcBef>
              <a:spcAft>
                <a:spcPts val="16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729450" y="6756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Supervised Learning</a:t>
            </a:r>
            <a:endParaRPr/>
          </a:p>
        </p:txBody>
      </p:sp>
      <p:sp>
        <p:nvSpPr>
          <p:cNvPr id="205" name="Google Shape;205;p36"/>
          <p:cNvSpPr txBox="1">
            <a:spLocks noGrp="1"/>
          </p:cNvSpPr>
          <p:nvPr>
            <p:ph type="body" idx="1"/>
          </p:nvPr>
        </p:nvSpPr>
        <p:spPr>
          <a:xfrm>
            <a:off x="729450" y="1441200"/>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700">
                <a:solidFill>
                  <a:srgbClr val="222222"/>
                </a:solidFill>
              </a:rPr>
              <a:t>An artificial intelligence uses labeled data to train a model to make predictions or classify data.</a:t>
            </a:r>
            <a:endParaRPr sz="1700">
              <a:solidFill>
                <a:srgbClr val="222222"/>
              </a:solidFill>
            </a:endParaRPr>
          </a:p>
          <a:p>
            <a:pPr marL="0" lvl="0" indent="0" algn="l" rtl="0">
              <a:spcBef>
                <a:spcPts val="1600"/>
              </a:spcBef>
              <a:spcAft>
                <a:spcPts val="0"/>
              </a:spcAft>
              <a:buNone/>
            </a:pPr>
            <a:r>
              <a:rPr lang="en-GB" sz="1700">
                <a:solidFill>
                  <a:srgbClr val="222222"/>
                </a:solidFill>
              </a:rPr>
              <a:t>Uses training  (input) data and if certain outputs are incorrect, the algorithm is notified not to output this in future.  It relies on good data and some feedback.</a:t>
            </a:r>
            <a:endParaRPr sz="1700">
              <a:solidFill>
                <a:srgbClr val="222222"/>
              </a:solidFill>
            </a:endParaRPr>
          </a:p>
          <a:p>
            <a:pPr marL="0" lvl="0" indent="0" algn="l" rtl="0">
              <a:spcBef>
                <a:spcPts val="1600"/>
              </a:spcBef>
              <a:spcAft>
                <a:spcPts val="0"/>
              </a:spcAft>
              <a:buNone/>
            </a:pPr>
            <a:r>
              <a:rPr lang="en-GB" sz="1700">
                <a:solidFill>
                  <a:srgbClr val="222222"/>
                </a:solidFill>
              </a:rPr>
              <a:t>Examples:</a:t>
            </a:r>
            <a:endParaRPr sz="1700">
              <a:solidFill>
                <a:srgbClr val="222222"/>
              </a:solidFill>
            </a:endParaRPr>
          </a:p>
          <a:p>
            <a:pPr marL="457200" lvl="0" indent="-336550" algn="l" rtl="0">
              <a:spcBef>
                <a:spcPts val="0"/>
              </a:spcBef>
              <a:spcAft>
                <a:spcPts val="0"/>
              </a:spcAft>
              <a:buClr>
                <a:srgbClr val="222222"/>
              </a:buClr>
              <a:buSzPts val="1700"/>
              <a:buChar char="●"/>
            </a:pPr>
            <a:r>
              <a:rPr lang="en-GB" sz="1700">
                <a:solidFill>
                  <a:srgbClr val="222222"/>
                </a:solidFill>
              </a:rPr>
              <a:t>Visual Recognition</a:t>
            </a:r>
            <a:endParaRPr sz="1700">
              <a:solidFill>
                <a:srgbClr val="222222"/>
              </a:solidFill>
            </a:endParaRPr>
          </a:p>
          <a:p>
            <a:pPr marL="457200" lvl="0" indent="-336550" algn="l" rtl="0">
              <a:spcBef>
                <a:spcPts val="0"/>
              </a:spcBef>
              <a:spcAft>
                <a:spcPts val="0"/>
              </a:spcAft>
              <a:buClr>
                <a:srgbClr val="222222"/>
              </a:buClr>
              <a:buSzPts val="1700"/>
              <a:buChar char="●"/>
            </a:pPr>
            <a:r>
              <a:rPr lang="en-GB" sz="1700">
                <a:solidFill>
                  <a:srgbClr val="222222"/>
                </a:solidFill>
              </a:rPr>
              <a:t>Decision Support - email spam filter, credit risk</a:t>
            </a:r>
            <a:endParaRPr sz="1700">
              <a:solidFill>
                <a:srgbClr val="222222"/>
              </a:solidFill>
            </a:endParaRPr>
          </a:p>
          <a:p>
            <a:pPr marL="457200" lvl="0" indent="-336550" algn="l" rtl="0">
              <a:spcBef>
                <a:spcPts val="0"/>
              </a:spcBef>
              <a:spcAft>
                <a:spcPts val="0"/>
              </a:spcAft>
              <a:buClr>
                <a:srgbClr val="222222"/>
              </a:buClr>
              <a:buSzPts val="1700"/>
              <a:buChar char="●"/>
            </a:pPr>
            <a:r>
              <a:rPr lang="en-GB" sz="1700">
                <a:solidFill>
                  <a:srgbClr val="222222"/>
                </a:solidFill>
              </a:rPr>
              <a:t>Medical Diagnosis</a:t>
            </a:r>
            <a:endParaRPr sz="1700">
              <a:solidFill>
                <a:srgbClr val="222222"/>
              </a:solidFill>
            </a:endParaRPr>
          </a:p>
          <a:p>
            <a:pPr marL="457200" lvl="0" indent="-336550" algn="l" rtl="0">
              <a:spcBef>
                <a:spcPts val="0"/>
              </a:spcBef>
              <a:spcAft>
                <a:spcPts val="0"/>
              </a:spcAft>
              <a:buClr>
                <a:srgbClr val="222222"/>
              </a:buClr>
              <a:buSzPts val="1700"/>
              <a:buChar char="●"/>
            </a:pPr>
            <a:r>
              <a:rPr lang="en-GB" sz="1700">
                <a:solidFill>
                  <a:srgbClr val="222222"/>
                </a:solidFill>
              </a:rPr>
              <a:t>Sentiment Analysis</a:t>
            </a:r>
            <a:endParaRPr sz="1700">
              <a:solidFill>
                <a:srgbClr val="22222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7"/>
          <p:cNvSpPr txBox="1">
            <a:spLocks noGrp="1"/>
          </p:cNvSpPr>
          <p:nvPr>
            <p:ph type="title"/>
          </p:nvPr>
        </p:nvSpPr>
        <p:spPr>
          <a:xfrm>
            <a:off x="729450" y="6073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Unsupervised Learning</a:t>
            </a:r>
            <a:endParaRPr/>
          </a:p>
        </p:txBody>
      </p:sp>
      <p:sp>
        <p:nvSpPr>
          <p:cNvPr id="211" name="Google Shape;211;p37"/>
          <p:cNvSpPr txBox="1">
            <a:spLocks noGrp="1"/>
          </p:cNvSpPr>
          <p:nvPr>
            <p:ph type="body" idx="1"/>
          </p:nvPr>
        </p:nvSpPr>
        <p:spPr>
          <a:xfrm>
            <a:off x="729450" y="1367550"/>
            <a:ext cx="7688700" cy="347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700">
                <a:solidFill>
                  <a:schemeClr val="dk2"/>
                </a:solidFill>
              </a:rPr>
              <a:t>Allows the algorithm to spot patterns and decide itself which outputs are most useful.  Does not rely on feedback.</a:t>
            </a:r>
            <a:endParaRPr sz="1700">
              <a:solidFill>
                <a:schemeClr val="dk2"/>
              </a:solidFill>
            </a:endParaRPr>
          </a:p>
          <a:p>
            <a:pPr marL="0" lvl="0" indent="0" algn="l" rtl="0">
              <a:spcBef>
                <a:spcPts val="1600"/>
              </a:spcBef>
              <a:spcAft>
                <a:spcPts val="0"/>
              </a:spcAft>
              <a:buNone/>
            </a:pPr>
            <a:r>
              <a:rPr lang="en-GB" sz="1700">
                <a:solidFill>
                  <a:schemeClr val="dk2"/>
                </a:solidFill>
              </a:rPr>
              <a:t>Examples:</a:t>
            </a:r>
            <a:endParaRPr sz="1700">
              <a:solidFill>
                <a:schemeClr val="dk2"/>
              </a:solidFill>
            </a:endParaRPr>
          </a:p>
          <a:p>
            <a:pPr marL="457200" lvl="0" indent="-336550" algn="l" rtl="0">
              <a:spcBef>
                <a:spcPts val="0"/>
              </a:spcBef>
              <a:spcAft>
                <a:spcPts val="0"/>
              </a:spcAft>
              <a:buClr>
                <a:schemeClr val="dk2"/>
              </a:buClr>
              <a:buSzPts val="1700"/>
              <a:buChar char="●"/>
            </a:pPr>
            <a:r>
              <a:rPr lang="en-GB" sz="1700">
                <a:solidFill>
                  <a:schemeClr val="dk2"/>
                </a:solidFill>
              </a:rPr>
              <a:t>Human Behaviour - identifying customer buying patterns (associating items frequently bought together)</a:t>
            </a:r>
            <a:endParaRPr sz="1700">
              <a:solidFill>
                <a:schemeClr val="dk2"/>
              </a:solidFill>
            </a:endParaRPr>
          </a:p>
          <a:p>
            <a:pPr marL="457200" lvl="0" indent="-336550" algn="l" rtl="0">
              <a:spcBef>
                <a:spcPts val="0"/>
              </a:spcBef>
              <a:spcAft>
                <a:spcPts val="0"/>
              </a:spcAft>
              <a:buClr>
                <a:schemeClr val="dk2"/>
              </a:buClr>
              <a:buSzPts val="1700"/>
              <a:buChar char="●"/>
            </a:pPr>
            <a:r>
              <a:rPr lang="en-GB" sz="1700">
                <a:solidFill>
                  <a:schemeClr val="dk2"/>
                </a:solidFill>
              </a:rPr>
              <a:t>Robotics - Reinforcement learning, Object tracking</a:t>
            </a:r>
            <a:endParaRPr sz="1700">
              <a:solidFill>
                <a:schemeClr val="dk2"/>
              </a:solidFill>
            </a:endParaRPr>
          </a:p>
          <a:p>
            <a:pPr marL="457200" lvl="0" indent="-336550" algn="l" rtl="0">
              <a:spcBef>
                <a:spcPts val="0"/>
              </a:spcBef>
              <a:spcAft>
                <a:spcPts val="0"/>
              </a:spcAft>
              <a:buClr>
                <a:schemeClr val="dk2"/>
              </a:buClr>
              <a:buSzPts val="1700"/>
              <a:buChar char="●"/>
            </a:pPr>
            <a:r>
              <a:rPr lang="en-GB" sz="1700">
                <a:solidFill>
                  <a:schemeClr val="dk2"/>
                </a:solidFill>
              </a:rPr>
              <a:t>Anomaly Detection - Credit Card fraud (detecting transactions different to usual spending activity) </a:t>
            </a:r>
            <a:endParaRPr sz="1700">
              <a:solidFill>
                <a:schemeClr val="dk2"/>
              </a:solidFill>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3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18" name="Google Shape;218;p38" descr="So we've talked a lot in this series about how computers fetch and display data, but how do they make decisions on this data? From spam filters and self-driving cars, to cutting edge medical diagnosis and real-time language translation, there has been an increasing need for our computers to learn from data and apply that knowledge to make predictions and decisions. This is the heart of machine learning which sits inside the more ambitious goal of artificial intelligence. We may be a long way from self-aware computers that think just like us, but with advancements in deep learning and artificial neural networks our computers are becoming more powerful than ever. &#10;&#10;Produced in collaboration with PBS Digital Studios: http://youtube.com/pbsdigitalstudios &#10;&#10;Want to know more about Carrie Anne?&#10;https://about.me/carrieannephilbin&#10;&#10;The Latest from PBS Digital Studios: https://www.youtube.com/playlist?list=PL1mtdjDVOoOqJzeaJAV15Tq0tZ1vKj7ZV&#10;&#10;Want to find Crash Course elsewhere on the internet?&#10;Facebook - https://www.facebook.com/YouTubeCrash...&#10;Twitter - http://www.twitter.com/TheCrashCourse&#10;Tumblr - http://thecrashcourse.tumblr.com &#10;Support Crash Course on Patreon: http://patreon.com/crashcourse&#10;CC Kids: http://www.youtube.com/crashcoursekids" title="Machine Learning &amp; Artificial Intelligence: Crash Course Computer Science #34">
            <a:hlinkClick r:id="rId3"/>
          </p:cNvPr>
          <p:cNvPicPr preferRelativeResize="0"/>
          <p:nvPr/>
        </p:nvPicPr>
        <p:blipFill>
          <a:blip r:embed="rId4">
            <a:alphaModFix/>
          </a:blip>
          <a:stretch>
            <a:fillRect/>
          </a:stretch>
        </p:blipFill>
        <p:spPr>
          <a:xfrm>
            <a:off x="729450" y="156288"/>
            <a:ext cx="6441226" cy="48309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9"/>
          <p:cNvSpPr txBox="1">
            <a:spLocks noGrp="1"/>
          </p:cNvSpPr>
          <p:nvPr>
            <p:ph type="title"/>
          </p:nvPr>
        </p:nvSpPr>
        <p:spPr>
          <a:xfrm>
            <a:off x="659825" y="5923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Modelling and Simulation</a:t>
            </a:r>
            <a:endParaRPr/>
          </a:p>
        </p:txBody>
      </p:sp>
      <p:sp>
        <p:nvSpPr>
          <p:cNvPr id="224" name="Google Shape;224;p39"/>
          <p:cNvSpPr txBox="1">
            <a:spLocks noGrp="1"/>
          </p:cNvSpPr>
          <p:nvPr>
            <p:ph type="body" idx="1"/>
          </p:nvPr>
        </p:nvSpPr>
        <p:spPr>
          <a:xfrm>
            <a:off x="729450" y="1313825"/>
            <a:ext cx="7688700" cy="302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2"/>
                </a:solidFill>
                <a:latin typeface="Arial"/>
                <a:ea typeface="Arial"/>
                <a:cs typeface="Arial"/>
                <a:sym typeface="Arial"/>
              </a:rPr>
              <a:t>Computer modelling, simulations and data analytics are core activities of of computer science.</a:t>
            </a:r>
            <a:endParaRPr>
              <a:solidFill>
                <a:schemeClr val="dk2"/>
              </a:solidFill>
              <a:latin typeface="Arial"/>
              <a:ea typeface="Arial"/>
              <a:cs typeface="Arial"/>
              <a:sym typeface="Arial"/>
            </a:endParaRPr>
          </a:p>
          <a:p>
            <a:pPr marL="0" lvl="0" indent="0" algn="l" rtl="0">
              <a:spcBef>
                <a:spcPts val="1600"/>
              </a:spcBef>
              <a:spcAft>
                <a:spcPts val="0"/>
              </a:spcAft>
              <a:buNone/>
            </a:pPr>
            <a:r>
              <a:rPr lang="en-GB">
                <a:solidFill>
                  <a:schemeClr val="dk2"/>
                </a:solidFill>
                <a:latin typeface="Arial"/>
                <a:ea typeface="Arial"/>
                <a:cs typeface="Arial"/>
                <a:sym typeface="Arial"/>
              </a:rPr>
              <a:t>Models enable us to abstract key characteristics of real world systems to that they might be more easily understood or explored.</a:t>
            </a:r>
            <a:endParaRPr>
              <a:solidFill>
                <a:schemeClr val="dk2"/>
              </a:solidFill>
              <a:latin typeface="Arial"/>
              <a:ea typeface="Arial"/>
              <a:cs typeface="Arial"/>
              <a:sym typeface="Arial"/>
            </a:endParaRPr>
          </a:p>
          <a:p>
            <a:pPr marL="0" lvl="0" indent="0" algn="l" rtl="0">
              <a:spcBef>
                <a:spcPts val="1600"/>
              </a:spcBef>
              <a:spcAft>
                <a:spcPts val="0"/>
              </a:spcAft>
              <a:buNone/>
            </a:pPr>
            <a:r>
              <a:rPr lang="en-GB">
                <a:solidFill>
                  <a:schemeClr val="dk2"/>
                </a:solidFill>
                <a:latin typeface="Arial"/>
                <a:ea typeface="Arial"/>
                <a:cs typeface="Arial"/>
                <a:sym typeface="Arial"/>
              </a:rPr>
              <a:t>A simulations shows what happens when a model is applied in a certain situation using a specific set of data as inputs.</a:t>
            </a:r>
            <a:endParaRPr>
              <a:solidFill>
                <a:schemeClr val="dk2"/>
              </a:solidFill>
              <a:latin typeface="Arial"/>
              <a:ea typeface="Arial"/>
              <a:cs typeface="Arial"/>
              <a:sym typeface="Arial"/>
            </a:endParaRPr>
          </a:p>
          <a:p>
            <a:pPr marL="0" lvl="0" indent="0" algn="l" rtl="0">
              <a:spcBef>
                <a:spcPts val="1600"/>
              </a:spcBef>
              <a:spcAft>
                <a:spcPts val="0"/>
              </a:spcAft>
              <a:buNone/>
            </a:pPr>
            <a:r>
              <a:rPr lang="en-GB">
                <a:solidFill>
                  <a:schemeClr val="dk2"/>
                </a:solidFill>
                <a:latin typeface="Arial"/>
                <a:ea typeface="Arial"/>
                <a:cs typeface="Arial"/>
                <a:sym typeface="Arial"/>
              </a:rPr>
              <a:t>Analytics is about examining datasets to test hypotheses, discover patterns, examining evidence and reaching conclusions.</a:t>
            </a:r>
            <a:endParaRPr>
              <a:solidFill>
                <a:schemeClr val="dk2"/>
              </a:solidFill>
              <a:latin typeface="Arial"/>
              <a:ea typeface="Arial"/>
              <a:cs typeface="Arial"/>
              <a:sym typeface="Arial"/>
            </a:endParaRPr>
          </a:p>
          <a:p>
            <a:pPr marL="0" lvl="0" indent="0" algn="l" rtl="0">
              <a:spcBef>
                <a:spcPts val="1600"/>
              </a:spcBef>
              <a:spcAft>
                <a:spcPts val="1600"/>
              </a:spcAft>
              <a:buNone/>
            </a:pPr>
            <a:r>
              <a:rPr lang="en-GB">
                <a:solidFill>
                  <a:schemeClr val="dk2"/>
                </a:solidFill>
                <a:latin typeface="Arial"/>
                <a:ea typeface="Arial"/>
                <a:cs typeface="Arial"/>
                <a:sym typeface="Arial"/>
              </a:rPr>
              <a:t>Modelling and simulation can be used to predict future behaviour as well as confirm what we already know about a system.</a:t>
            </a:r>
            <a:endParaRPr>
              <a:solidFill>
                <a:schemeClr val="dk2"/>
              </a:solidFill>
              <a:latin typeface="Arial"/>
              <a:ea typeface="Arial"/>
              <a:cs typeface="Arial"/>
              <a:sym typeface="Arial"/>
            </a:endParaRPr>
          </a:p>
        </p:txBody>
      </p:sp>
      <p:pic>
        <p:nvPicPr>
          <p:cNvPr id="225" name="Google Shape;225;p39"/>
          <p:cNvPicPr preferRelativeResize="0"/>
          <p:nvPr/>
        </p:nvPicPr>
        <p:blipFill>
          <a:blip r:embed="rId3">
            <a:alphaModFix/>
          </a:blip>
          <a:stretch>
            <a:fillRect/>
          </a:stretch>
        </p:blipFill>
        <p:spPr>
          <a:xfrm>
            <a:off x="2962275" y="4324350"/>
            <a:ext cx="6181725" cy="819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0"/>
          <p:cNvSpPr txBox="1">
            <a:spLocks noGrp="1"/>
          </p:cNvSpPr>
          <p:nvPr>
            <p:ph type="title"/>
          </p:nvPr>
        </p:nvSpPr>
        <p:spPr>
          <a:xfrm>
            <a:off x="789150" y="6222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Modelling and Simulation</a:t>
            </a:r>
            <a:endParaRPr/>
          </a:p>
        </p:txBody>
      </p:sp>
      <p:sp>
        <p:nvSpPr>
          <p:cNvPr id="231" name="Google Shape;231;p40"/>
          <p:cNvSpPr txBox="1">
            <a:spLocks noGrp="1"/>
          </p:cNvSpPr>
          <p:nvPr>
            <p:ph type="body" idx="1"/>
          </p:nvPr>
        </p:nvSpPr>
        <p:spPr>
          <a:xfrm>
            <a:off x="4116400" y="1318650"/>
            <a:ext cx="4301700" cy="34275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Arial"/>
              <a:buAutoNum type="arabicPeriod"/>
            </a:pPr>
            <a:r>
              <a:rPr lang="en-GB" sz="1500">
                <a:solidFill>
                  <a:schemeClr val="dk2"/>
                </a:solidFill>
                <a:latin typeface="Arial"/>
                <a:ea typeface="Arial"/>
                <a:cs typeface="Arial"/>
                <a:sym typeface="Arial"/>
              </a:rPr>
              <a:t>System is a real world system that exists</a:t>
            </a:r>
            <a:endParaRPr sz="1500">
              <a:solidFill>
                <a:schemeClr val="dk2"/>
              </a:solidFill>
              <a:latin typeface="Arial"/>
              <a:ea typeface="Arial"/>
              <a:cs typeface="Arial"/>
              <a:sym typeface="Arial"/>
            </a:endParaRPr>
          </a:p>
          <a:p>
            <a:pPr marL="457200" lvl="0" indent="-323850" algn="l" rtl="0">
              <a:spcBef>
                <a:spcPts val="0"/>
              </a:spcBef>
              <a:spcAft>
                <a:spcPts val="0"/>
              </a:spcAft>
              <a:buClr>
                <a:schemeClr val="dk2"/>
              </a:buClr>
              <a:buSzPts val="1500"/>
              <a:buFont typeface="Arial"/>
              <a:buAutoNum type="arabicPeriod"/>
            </a:pPr>
            <a:r>
              <a:rPr lang="en-GB" sz="1500">
                <a:solidFill>
                  <a:schemeClr val="dk2"/>
                </a:solidFill>
                <a:latin typeface="Arial"/>
                <a:ea typeface="Arial"/>
                <a:cs typeface="Arial"/>
                <a:sym typeface="Arial"/>
              </a:rPr>
              <a:t>Abstract the real world system to a computer model</a:t>
            </a:r>
            <a:endParaRPr sz="1500">
              <a:solidFill>
                <a:schemeClr val="dk2"/>
              </a:solidFill>
              <a:latin typeface="Arial"/>
              <a:ea typeface="Arial"/>
              <a:cs typeface="Arial"/>
              <a:sym typeface="Arial"/>
            </a:endParaRPr>
          </a:p>
          <a:p>
            <a:pPr marL="457200" lvl="0" indent="-323850" algn="l" rtl="0">
              <a:spcBef>
                <a:spcPts val="0"/>
              </a:spcBef>
              <a:spcAft>
                <a:spcPts val="0"/>
              </a:spcAft>
              <a:buClr>
                <a:schemeClr val="dk2"/>
              </a:buClr>
              <a:buSzPts val="1500"/>
              <a:buFont typeface="Arial"/>
              <a:buAutoNum type="arabicPeriod"/>
            </a:pPr>
            <a:r>
              <a:rPr lang="en-GB" sz="1500" b="1">
                <a:solidFill>
                  <a:schemeClr val="dk2"/>
                </a:solidFill>
                <a:latin typeface="Arial"/>
                <a:ea typeface="Arial"/>
                <a:cs typeface="Arial"/>
                <a:sym typeface="Arial"/>
              </a:rPr>
              <a:t>Use the model to make predictions by running simulations and carrying out analysis.</a:t>
            </a:r>
            <a:endParaRPr sz="1500" b="1">
              <a:solidFill>
                <a:schemeClr val="dk2"/>
              </a:solidFill>
              <a:latin typeface="Arial"/>
              <a:ea typeface="Arial"/>
              <a:cs typeface="Arial"/>
              <a:sym typeface="Arial"/>
            </a:endParaRPr>
          </a:p>
          <a:p>
            <a:pPr marL="457200" lvl="0" indent="-323850" algn="l" rtl="0">
              <a:spcBef>
                <a:spcPts val="0"/>
              </a:spcBef>
              <a:spcAft>
                <a:spcPts val="0"/>
              </a:spcAft>
              <a:buClr>
                <a:schemeClr val="dk2"/>
              </a:buClr>
              <a:buSzPts val="1500"/>
              <a:buFont typeface="Arial"/>
              <a:buAutoNum type="arabicPeriod"/>
            </a:pPr>
            <a:r>
              <a:rPr lang="en-GB" sz="1500">
                <a:solidFill>
                  <a:schemeClr val="dk2"/>
                </a:solidFill>
                <a:latin typeface="Arial"/>
                <a:ea typeface="Arial"/>
                <a:cs typeface="Arial"/>
                <a:sym typeface="Arial"/>
              </a:rPr>
              <a:t>Any information can be stored as data. Validation can be used to compare simulated results to actual results.</a:t>
            </a:r>
            <a:endParaRPr sz="1500">
              <a:solidFill>
                <a:schemeClr val="dk2"/>
              </a:solidFill>
              <a:latin typeface="Arial"/>
              <a:ea typeface="Arial"/>
              <a:cs typeface="Arial"/>
              <a:sym typeface="Arial"/>
            </a:endParaRPr>
          </a:p>
        </p:txBody>
      </p:sp>
      <p:pic>
        <p:nvPicPr>
          <p:cNvPr id="232" name="Google Shape;232;p40"/>
          <p:cNvPicPr preferRelativeResize="0"/>
          <p:nvPr/>
        </p:nvPicPr>
        <p:blipFill>
          <a:blip r:embed="rId3">
            <a:alphaModFix/>
          </a:blip>
          <a:stretch>
            <a:fillRect/>
          </a:stretch>
        </p:blipFill>
        <p:spPr>
          <a:xfrm>
            <a:off x="45738" y="1318638"/>
            <a:ext cx="3819525" cy="3552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Benefits of Modelling</a:t>
            </a:r>
            <a:endParaRPr/>
          </a:p>
        </p:txBody>
      </p:sp>
      <p:sp>
        <p:nvSpPr>
          <p:cNvPr id="238" name="Google Shape;238;p4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39" name="Google Shape;239;p41"/>
          <p:cNvPicPr preferRelativeResize="0"/>
          <p:nvPr/>
        </p:nvPicPr>
        <p:blipFill>
          <a:blip r:embed="rId3">
            <a:alphaModFix/>
          </a:blip>
          <a:stretch>
            <a:fillRect/>
          </a:stretch>
        </p:blipFill>
        <p:spPr>
          <a:xfrm>
            <a:off x="729438" y="2078875"/>
            <a:ext cx="4657725" cy="24003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Interesting…</a:t>
            </a:r>
            <a:endParaRPr/>
          </a:p>
        </p:txBody>
      </p:sp>
      <p:sp>
        <p:nvSpPr>
          <p:cNvPr id="245" name="Google Shape;245;p4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GB" u="sng">
                <a:solidFill>
                  <a:schemeClr val="hlink"/>
                </a:solidFill>
                <a:hlinkClick r:id="rId3"/>
              </a:rPr>
              <a:t>https://www.unite.ai/ten-best-machine-learning-algorithms/</a:t>
            </a:r>
            <a:endParaRPr sz="14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49"/>
        <p:cNvGrpSpPr/>
        <p:nvPr/>
      </p:nvGrpSpPr>
      <p:grpSpPr>
        <a:xfrm>
          <a:off x="0" y="0"/>
          <a:ext cx="0" cy="0"/>
          <a:chOff x="0" y="0"/>
          <a:chExt cx="0" cy="0"/>
        </a:xfrm>
      </p:grpSpPr>
      <p:sp>
        <p:nvSpPr>
          <p:cNvPr id="250" name="Google Shape;250;p4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43"/>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https://www.unite.ai/ten-best-machine-learning-algorithms/</a:t>
            </a:r>
            <a:endParaRPr/>
          </a:p>
          <a:p>
            <a:pPr marL="0" lvl="0" indent="0" algn="l" rtl="0">
              <a:spcBef>
                <a:spcPts val="1600"/>
              </a:spcBef>
              <a:spcAft>
                <a:spcPts val="0"/>
              </a:spcAft>
              <a:buNone/>
            </a:pPr>
            <a:r>
              <a:rPr lang="en-GB" u="sng">
                <a:solidFill>
                  <a:schemeClr val="hlink"/>
                </a:solidFill>
                <a:hlinkClick r:id="rId4"/>
              </a:rPr>
              <a:t>https://azure.microsoft.com/en-us/resources/cloud-computing-dictionary/artificial-intelligence-vs-machine-learning</a:t>
            </a:r>
            <a:endParaRPr/>
          </a:p>
          <a:p>
            <a:pPr marL="0" lvl="0" indent="0" algn="l" rtl="0">
              <a:spcBef>
                <a:spcPts val="1600"/>
              </a:spcBef>
              <a:spcAft>
                <a:spcPts val="0"/>
              </a:spcAft>
              <a:buNone/>
            </a:pPr>
            <a:endParaRPr/>
          </a:p>
          <a:p>
            <a:pPr marL="0" lvl="0" indent="0" algn="l" rtl="0">
              <a:spcBef>
                <a:spcPts val="1600"/>
              </a:spcBef>
              <a:spcAft>
                <a:spcPts val="0"/>
              </a:spcAft>
              <a:buNone/>
            </a:pPr>
            <a:r>
              <a:rPr lang="en-GB" u="sng">
                <a:solidFill>
                  <a:schemeClr val="hlink"/>
                </a:solidFill>
                <a:hlinkClick r:id="rId5"/>
              </a:rPr>
              <a:t>https://www.rte.ie/brainstorm/2023/0913/1404873-jobs-occupations-generative-ai/</a:t>
            </a: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583</Words>
  <Application>Microsoft Office PowerPoint</Application>
  <PresentationFormat>On-screen Show (16:9)</PresentationFormat>
  <Paragraphs>56</Paragraphs>
  <Slides>19</Slides>
  <Notes>19</Notes>
  <HiddenSlides>2</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Raleway</vt:lpstr>
      <vt:lpstr>Arial</vt:lpstr>
      <vt:lpstr>Lato</vt:lpstr>
      <vt:lpstr>Simple Light</vt:lpstr>
      <vt:lpstr>Streamline</vt:lpstr>
      <vt:lpstr>Machine Learning</vt:lpstr>
      <vt:lpstr>Artificial Intelligence (AI)</vt:lpstr>
      <vt:lpstr>Turing </vt:lpstr>
      <vt:lpstr>Turing Test</vt:lpstr>
      <vt:lpstr>PowerPoint Presentation</vt:lpstr>
      <vt:lpstr>CAPTCHA</vt:lpstr>
      <vt:lpstr>PowerPoint Presentation</vt:lpstr>
      <vt:lpstr>Machine Learning</vt:lpstr>
      <vt:lpstr>PowerPoint Presentation</vt:lpstr>
      <vt:lpstr>PowerPoint Presentation</vt:lpstr>
      <vt:lpstr>Machine Learning (ML) Algorithms</vt:lpstr>
      <vt:lpstr>Supervised Learning</vt:lpstr>
      <vt:lpstr>Unsupervised Learning</vt:lpstr>
      <vt:lpstr>PowerPoint Presentation</vt:lpstr>
      <vt:lpstr>Modelling and Simulation</vt:lpstr>
      <vt:lpstr>Modelling and Simulation</vt:lpstr>
      <vt:lpstr>Benefits of Modelling</vt:lpstr>
      <vt:lpstr>Interesting…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Jim Finn (Adamstown CC)</cp:lastModifiedBy>
  <cp:revision>1</cp:revision>
  <dcterms:modified xsi:type="dcterms:W3CDTF">2025-09-30T08:17:19Z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b170d26-a298-4fcb-93e8-f72c55c78d0a_Enabled">
    <vt:lpwstr>true</vt:lpwstr>
  </property>
  <property fmtid="{D5CDD505-2E9C-101B-9397-08002B2CF9AE}" pid="3" name="MSIP_Label_bb170d26-a298-4fcb-93e8-f72c55c78d0a_SetDate">
    <vt:lpwstr>2025-09-30T08:17:18Z</vt:lpwstr>
  </property>
  <property fmtid="{D5CDD505-2E9C-101B-9397-08002B2CF9AE}" pid="4" name="MSIP_Label_bb170d26-a298-4fcb-93e8-f72c55c78d0a_Method">
    <vt:lpwstr>Standard</vt:lpwstr>
  </property>
  <property fmtid="{D5CDD505-2E9C-101B-9397-08002B2CF9AE}" pid="5" name="MSIP_Label_bb170d26-a298-4fcb-93e8-f72c55c78d0a_Name">
    <vt:lpwstr>defa4170-0d19-0005-0004-bc88714345d2</vt:lpwstr>
  </property>
  <property fmtid="{D5CDD505-2E9C-101B-9397-08002B2CF9AE}" pid="6" name="MSIP_Label_bb170d26-a298-4fcb-93e8-f72c55c78d0a_SiteId">
    <vt:lpwstr>3ed6c8f5-4c16-44ad-9eed-60f851834a84</vt:lpwstr>
  </property>
  <property fmtid="{D5CDD505-2E9C-101B-9397-08002B2CF9AE}" pid="7" name="MSIP_Label_bb170d26-a298-4fcb-93e8-f72c55c78d0a_ActionId">
    <vt:lpwstr>66cc4e02-c81d-48c3-9e01-bc846555b5b4</vt:lpwstr>
  </property>
  <property fmtid="{D5CDD505-2E9C-101B-9397-08002B2CF9AE}" pid="8" name="MSIP_Label_bb170d26-a298-4fcb-93e8-f72c55c78d0a_ContentBits">
    <vt:lpwstr>0</vt:lpwstr>
  </property>
  <property fmtid="{D5CDD505-2E9C-101B-9397-08002B2CF9AE}" pid="9" name="MSIP_Label_bb170d26-a298-4fcb-93e8-f72c55c78d0a_Tag">
    <vt:lpwstr>10, 3, 0, 1</vt:lpwstr>
  </property>
</Properties>
</file>